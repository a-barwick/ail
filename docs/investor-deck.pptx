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AIL is not another coding agent. It is the control layer beneath coding agents: an executable language plus a compiler interface that makes consequences, authority, validation, and publication mechanically inspectable. Today bounded mechanisms execute as specified. We have no official comparative evidence that they reduce total agent change cost; the funded program is intended to test that claim on representative workloads.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models change the supply curve for plausible code. That does not make software change cheap: the costly work shifts to finding the right context, understanding consequences, repairing failures, and proving that a change is safe. AIL is built around that shifted cost structure. This chart is conceptual, not measured market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Modern compilers, language servers, refactors, search, and tests already expose substantial semantics. Even with those normal strong tools, the agent often still assembles a file-oriented view and reasons across parts of it probabilistically. That reconstruction repeats after diagnostics and again during review. AIL must demonstrate a further reduction in total work against that baseline, not against raw text editing.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choice is that the language creates semantics the compiler can expose completely. Canonical text remains the durable, human-auditable source. The semantic model is the operational interface for agents: exact impact, explicit authority, deterministic validation, and atomic publication. This is more than an IDE wrapper because the guarantees originate in the language contract.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before-and-after is the investor demo’s central visual. AIL does not claim the agent stops using judgment. It moves complete, deterministic work out of model inference: identifying affected semantic roles, checking authority and architecture policy, validating the whole candidate, and publishing atomically. The economic hypothesis is that this shortens the loop and makes more changes safely autonomous.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mock interface. The Rust compiler parses and checks canonical AIL, executes the reference service, stores immutable revisions, computes exact impact, validates whole-workspace schema evolution, and enforces architecture policy atomically. The counts here are repository facts, not performance claims: 37 public behavior fixtures, 12 relationship kinds in the impact graph, 23 architecture scenarios, and four equivalent baseline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should show this as a visual work list, not raw JSON. For the locked priority-evolution fixture, the compiler derives exactly 12 must-change locations, two review sites with reasons, and one known external boundary whose source is unavailable. The successful transaction uses five ordered whole-path edits. It also proves capabilities, effects, and ordering are unchanged. These counts are fixture-specific proof, not a claim about all programs.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bounded transaction proof. All three frozen semantic candidates carry accepted six-of-six behavior evidence supplied at the transaction boundary. The compiler evaluates their validated semantic graphs against locked policy. The domain-owned version publishes. The centralized version is rolled back for dispatch growth and transport authority, state, and dependency violations. A superficial helper split is also rolled back because aggregate responsibility remains in transport. This is not yet a complete source-to-agent product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AIL’s revision protocol matters commercially because evidence cannot drift away from the code it describes. A whole candidate is canonicalized and checked before publication. A successful change publishes one child revision with bound completion evidence. A denied or incomplete change publishes nothing and leaves the base intact.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AIL is intentionally not a prompt language or a model-specific encoding. Better models should improve the agent layer, while AIL’s accumulated semantic contracts, compiler implementation, fixtures, and project policy remain reusable. This creates a durable control surface across model cycles and lets teams choose models based on cost, privacy, or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investment case is not fewer source tokens. It is lower total work to reach a correct, reviewable change. We will measure model tokens, elapsed work, repair cycles, regressions, and reviewer effort under equal correctness gates. We do not yet have a defensible speedup or ROI number, and the deck should say that plainly.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buyer hypothesis is an engineering organization using agents as primary implementers for greenfield backend services and workers. The funded entry point is a bounded validation pilot, not production deployment. AIL belongs in a language only where foundational guarantees—canonical semantics, explicit authority, determinism, and complete supported impact—cannot be reliably retrofitted through compatibility-bound tooling. Defensibility is a strategy: the compiler, contracts, graph, and fixtures exist; held-out workloads, design-partner policy, integrations, production runtime, and adoption remain to build.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repository currently has no active successor milestone. M27 retained one non-official usability observation. This slide proposes a funded evidence program: freeze fresh representative tasks, build only the bounded AIL capabilities needed to create a fair comparator, compare against mainstream languages with their normal strong tools, and make an explicit go, revise, or stop decision. Broader production and ecosystem investment follows only when the result or a concrete deployment requirement justifies it. Native lowering, LLVM integration, broader syntax, and self-hosting are not automatic phases or proof of agent efficiency.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boundary is deliberate. We have real compiler machinery and can demonstrate exact semantic impact and atomic architecture enforcement. We have not yet proved lower cost than Rust, Go, Python, or TypeScript with their normal tools. We also do not yet have native lowering, production I/O, general concurrency, or broad ecosystem support. The raise is for converting technical feasibility into comparative and production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funded plan has three gates. First, use UC-003 and CancelJob only to calibrate the pipeline, then freeze fresh held-out design-partner tasks before adapting AIL to them. Build equivalent strong mainstream workspaces and pre-register a fixed maximum number of attempts, outcomes, exclusions, and reviewer rubric. Second, establish baseline distributions, lock AIL success targets before comparative AIL trials, and treat completion rate and terminal failures as primary outcomes. Third, run randomized assessor-independent review and make a go, revise, or stop decision. The exact financing amount, runway, and team plan require founder input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M27 retained one complete non-official run. The operator received the seeded centralized candidate and its compact rejection; the evidence does not show the operator independently creating that bad candidate. The operator used structured contributors, moved authority to the domain handler, reran validation, and published the valid child. Present this as one recorded usability observation, not a comparative or statistical result. A formal experiment must give baseline languages their normal compilers, language servers, refactors, search, formatters, and tests.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uses the exact same task contract and correctness oracle. Baselines receive strong normal tooling. The same model and agent policy should be used where possible, with all version and permission differences recorded. Pre-register a fixed maximum number of attempts per cell. Completion and terminal-failure distributions are primary outcomes; token, time, and repair comparisons among successful runs are explicitly conditional secondary estimands. Reviewer effort uses randomized assessor-independent packages; reviewers are blinded to hypothesis and provenance where feasible, but not falsely described as treatment-blind when the language is visible.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THESIS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01</a:t>
            </a:r>
          </a:p>
        </p:txBody>
      </p:sp>
      <p:sp>
        <p:nvSpPr>
          <p:cNvPr id="4" name="Rounded Rectangle 3"/>
          <p:cNvSpPr/>
          <p:nvPr/>
        </p:nvSpPr>
        <p:spPr>
          <a:xfrm>
            <a:off x="585216" y="749808"/>
            <a:ext cx="1417320" cy="310896"/>
          </a:xfrm>
          <a:prstGeom prst="roundRect">
            <a:avLst>
              <a:gd name="adj" fmla="val 45000"/>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758952"/>
            <a:ext cx="1417320" cy="256032"/>
          </a:xfrm>
          <a:prstGeom prst="rect">
            <a:avLst/>
          </a:prstGeom>
          <a:noFill/>
        </p:spPr>
        <p:txBody>
          <a:bodyPr wrap="square" lIns="18288" rIns="18288" tIns="18288" bIns="18288" anchor="ctr">
            <a:spAutoFit/>
          </a:bodyPr>
          <a:lstStyle/>
          <a:p>
            <a:pPr algn="ctr"/>
            <a:r>
              <a:rPr sz="900" b="1">
                <a:solidFill>
                  <a:srgbClr val="09111F"/>
                </a:solidFill>
                <a:latin typeface="Aptos"/>
              </a:rPr>
              <a:t>INVESTOR BRIEF</a:t>
            </a:r>
          </a:p>
        </p:txBody>
      </p:sp>
      <p:sp>
        <p:nvSpPr>
          <p:cNvPr id="6" name="TextBox 5"/>
          <p:cNvSpPr txBox="1"/>
          <p:nvPr/>
        </p:nvSpPr>
        <p:spPr>
          <a:xfrm>
            <a:off x="585216" y="1389888"/>
            <a:ext cx="8686800" cy="1371600"/>
          </a:xfrm>
          <a:prstGeom prst="rect">
            <a:avLst/>
          </a:prstGeom>
          <a:noFill/>
        </p:spPr>
        <p:txBody>
          <a:bodyPr wrap="square" lIns="18288" rIns="18288" tIns="18288" bIns="18288" anchor="t">
            <a:spAutoFit/>
          </a:bodyPr>
          <a:lstStyle/>
          <a:p>
            <a:pPr algn="l"/>
            <a:r>
              <a:rPr sz="3900" b="1">
                <a:solidFill>
                  <a:srgbClr val="F5F7FA"/>
                </a:solidFill>
                <a:latin typeface="Aptos"/>
              </a:rPr>
              <a:t>The control layer for
software built by agents</a:t>
            </a:r>
          </a:p>
        </p:txBody>
      </p:sp>
      <p:sp>
        <p:nvSpPr>
          <p:cNvPr id="7" name="TextBox 6"/>
          <p:cNvSpPr txBox="1"/>
          <p:nvPr/>
        </p:nvSpPr>
        <p:spPr>
          <a:xfrm>
            <a:off x="621792" y="3154680"/>
            <a:ext cx="7589520" cy="594360"/>
          </a:xfrm>
          <a:prstGeom prst="rect">
            <a:avLst/>
          </a:prstGeom>
          <a:noFill/>
        </p:spPr>
        <p:txBody>
          <a:bodyPr wrap="square" lIns="18288" rIns="18288" tIns="18288" bIns="18288" anchor="t">
            <a:spAutoFit/>
          </a:bodyPr>
          <a:lstStyle/>
          <a:p>
            <a:pPr algn="l"/>
            <a:r>
              <a:rPr sz="1800" b="0">
                <a:solidFill>
                  <a:srgbClr val="AAB8CC"/>
                </a:solidFill>
                <a:latin typeface="Aptos"/>
              </a:rPr>
              <a:t>AIL is an executable language and semantic compiler designed to reduce the work between generated code and a trusted change.</a:t>
            </a:r>
          </a:p>
        </p:txBody>
      </p:sp>
      <p:sp>
        <p:nvSpPr>
          <p:cNvPr id="8" name="Rounded Rectangle 7"/>
          <p:cNvSpPr/>
          <p:nvPr/>
        </p:nvSpPr>
        <p:spPr>
          <a:xfrm>
            <a:off x="658368" y="4617720"/>
            <a:ext cx="2423160" cy="10515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800600"/>
            <a:ext cx="2423160" cy="621792"/>
          </a:xfrm>
          <a:prstGeom prst="rect">
            <a:avLst/>
          </a:prstGeom>
          <a:noFill/>
        </p:spPr>
        <p:txBody>
          <a:bodyPr wrap="square" lIns="18288" rIns="18288" tIns="18288" bIns="18288" anchor="t">
            <a:spAutoFit/>
          </a:bodyPr>
          <a:lstStyle/>
          <a:p>
            <a:pPr algn="ctr"/>
            <a:r>
              <a:rPr sz="1500" b="1">
                <a:solidFill>
                  <a:srgbClr val="5E8BFF"/>
                </a:solidFill>
                <a:latin typeface="Aptos"/>
              </a:rPr>
              <a:t>MODEL +
AGENT</a:t>
            </a:r>
          </a:p>
        </p:txBody>
      </p:sp>
      <p:sp>
        <p:nvSpPr>
          <p:cNvPr id="10" name="Rounded Rectangle 9"/>
          <p:cNvSpPr/>
          <p:nvPr/>
        </p:nvSpPr>
        <p:spPr>
          <a:xfrm>
            <a:off x="4041648" y="4617720"/>
            <a:ext cx="2423160" cy="105156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1648" y="4800600"/>
            <a:ext cx="2423160" cy="621792"/>
          </a:xfrm>
          <a:prstGeom prst="rect">
            <a:avLst/>
          </a:prstGeom>
          <a:noFill/>
        </p:spPr>
        <p:txBody>
          <a:bodyPr wrap="square" lIns="18288" rIns="18288" tIns="18288" bIns="18288" anchor="t">
            <a:spAutoFit/>
          </a:bodyPr>
          <a:lstStyle/>
          <a:p>
            <a:pPr algn="ctr"/>
            <a:r>
              <a:rPr sz="1500" b="1">
                <a:solidFill>
                  <a:srgbClr val="4DD9E7"/>
                </a:solidFill>
                <a:latin typeface="Aptos"/>
              </a:rPr>
              <a:t>AIL
COMPILER</a:t>
            </a:r>
          </a:p>
        </p:txBody>
      </p:sp>
      <p:sp>
        <p:nvSpPr>
          <p:cNvPr id="12" name="Rounded Rectangle 11"/>
          <p:cNvSpPr/>
          <p:nvPr/>
        </p:nvSpPr>
        <p:spPr>
          <a:xfrm>
            <a:off x="7424927" y="4617720"/>
            <a:ext cx="2423160" cy="105156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4927" y="4800600"/>
            <a:ext cx="2423160" cy="621792"/>
          </a:xfrm>
          <a:prstGeom prst="rect">
            <a:avLst/>
          </a:prstGeom>
          <a:noFill/>
        </p:spPr>
        <p:txBody>
          <a:bodyPr wrap="square" lIns="18288" rIns="18288" tIns="18288" bIns="18288" anchor="t">
            <a:spAutoFit/>
          </a:bodyPr>
          <a:lstStyle/>
          <a:p>
            <a:pPr algn="ctr"/>
            <a:r>
              <a:rPr sz="1500" b="1">
                <a:solidFill>
                  <a:srgbClr val="61D095"/>
                </a:solidFill>
                <a:latin typeface="Aptos"/>
              </a:rPr>
              <a:t>VALIDATED
CANDIDATE</a:t>
            </a:r>
          </a:p>
        </p:txBody>
      </p:sp>
      <p:cxnSp>
        <p:nvCxnSpPr>
          <p:cNvPr id="14" name="Connector 13"/>
          <p:cNvCxnSpPr/>
          <p:nvPr/>
        </p:nvCxnSpPr>
        <p:spPr>
          <a:xfrm>
            <a:off x="3127248" y="5148072"/>
            <a:ext cx="758952" cy="0"/>
          </a:xfrm>
          <a:prstGeom prst="line">
            <a:avLst/>
          </a:prstGeom>
          <a:ln w="31750">
            <a:solidFill>
              <a:srgbClr val="5E8BF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10528" y="5148072"/>
            <a:ext cx="758952" cy="0"/>
          </a:xfrm>
          <a:prstGeom prst="line">
            <a:avLst/>
          </a:prstGeom>
          <a:ln w="31750">
            <a:solidFill>
              <a:srgbClr val="4DD9E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12680" y="4690872"/>
            <a:ext cx="1417320" cy="868680"/>
          </a:xfrm>
          <a:prstGeom prst="rect">
            <a:avLst/>
          </a:prstGeom>
          <a:noFill/>
        </p:spPr>
        <p:txBody>
          <a:bodyPr wrap="square" lIns="18288" rIns="18288" tIns="18288" bIns="18288" anchor="t">
            <a:spAutoFit/>
          </a:bodyPr>
          <a:lstStyle/>
          <a:p>
            <a:pPr algn="ctr"/>
            <a:r>
              <a:rPr sz="1200" b="1">
                <a:solidFill>
                  <a:srgbClr val="61D095"/>
                </a:solidFill>
                <a:latin typeface="Aptos"/>
              </a:rPr>
              <a:t>Bounded
mechanisms run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MARKET SHIFT</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02</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Code generation is becoming abundant</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The scarce resource moves from producing code to trusting change.</a:t>
            </a:r>
          </a:p>
        </p:txBody>
      </p:sp>
      <p:sp>
        <p:nvSpPr>
          <p:cNvPr id="6" name="TextBox 5"/>
          <p:cNvSpPr txBox="1"/>
          <p:nvPr/>
        </p:nvSpPr>
        <p:spPr>
          <a:xfrm>
            <a:off x="713232" y="1965960"/>
            <a:ext cx="2286000" cy="274320"/>
          </a:xfrm>
          <a:prstGeom prst="rect">
            <a:avLst/>
          </a:prstGeom>
          <a:noFill/>
        </p:spPr>
        <p:txBody>
          <a:bodyPr wrap="square" lIns="18288" rIns="18288" tIns="18288" bIns="18288" anchor="t">
            <a:spAutoFit/>
          </a:bodyPr>
          <a:lstStyle/>
          <a:p>
            <a:pPr algn="l"/>
            <a:r>
              <a:rPr sz="900" b="1">
                <a:solidFill>
                  <a:srgbClr val="AAB8CC"/>
                </a:solidFill>
                <a:latin typeface="Aptos"/>
              </a:rPr>
              <a:t>RELATIVE WORK</a:t>
            </a:r>
          </a:p>
        </p:txBody>
      </p:sp>
      <p:cxnSp>
        <p:nvCxnSpPr>
          <p:cNvPr id="7" name="Connector 6"/>
          <p:cNvCxnSpPr/>
          <p:nvPr/>
        </p:nvCxnSpPr>
        <p:spPr>
          <a:xfrm>
            <a:off x="932688" y="5440680"/>
            <a:ext cx="9994392" cy="0"/>
          </a:xfrm>
          <a:prstGeom prst="line">
            <a:avLst/>
          </a:prstGeom>
          <a:ln w="12700">
            <a:solidFill>
              <a:srgbClr val="AAB8C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32688" y="2267712"/>
            <a:ext cx="0" cy="3172968"/>
          </a:xfrm>
          <a:prstGeom prst="line">
            <a:avLst/>
          </a:prstGeom>
          <a:ln w="12700">
            <a:solidFill>
              <a:srgbClr val="AAB8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1560" y="2788920"/>
            <a:ext cx="9464040" cy="2103120"/>
          </a:xfrm>
          <a:prstGeom prst="line">
            <a:avLst/>
          </a:prstGeom>
          <a:ln w="63500">
            <a:solidFill>
              <a:srgbClr val="5E8BF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051560" y="2514600"/>
            <a:ext cx="9464040" cy="2377440"/>
          </a:xfrm>
          <a:prstGeom prst="line">
            <a:avLst/>
          </a:prstGeom>
          <a:ln w="63500">
            <a:solidFill>
              <a:srgbClr val="4DD9E7"/>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56448" y="2103120"/>
            <a:ext cx="2240280" cy="310896"/>
          </a:xfrm>
          <a:prstGeom prst="roundRect">
            <a:avLst>
              <a:gd name="adj" fmla="val 45000"/>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2112263"/>
            <a:ext cx="2240280" cy="256032"/>
          </a:xfrm>
          <a:prstGeom prst="rect">
            <a:avLst/>
          </a:prstGeom>
          <a:noFill/>
        </p:spPr>
        <p:txBody>
          <a:bodyPr wrap="square" lIns="18288" rIns="18288" tIns="18288" bIns="18288" anchor="ctr">
            <a:spAutoFit/>
          </a:bodyPr>
          <a:lstStyle/>
          <a:p>
            <a:pPr algn="ctr"/>
            <a:r>
              <a:rPr sz="900" b="1">
                <a:solidFill>
                  <a:srgbClr val="09111F"/>
                </a:solidFill>
                <a:latin typeface="Aptos"/>
              </a:rPr>
              <a:t>TRUST + VERIFICATION</a:t>
            </a:r>
          </a:p>
        </p:txBody>
      </p:sp>
      <p:sp>
        <p:nvSpPr>
          <p:cNvPr id="13" name="Rounded Rectangle 12"/>
          <p:cNvSpPr/>
          <p:nvPr/>
        </p:nvSpPr>
        <p:spPr>
          <a:xfrm>
            <a:off x="8156448" y="4736592"/>
            <a:ext cx="2240280" cy="310896"/>
          </a:xfrm>
          <a:prstGeom prst="roundRect">
            <a:avLst>
              <a:gd name="adj" fmla="val 45000"/>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4745736"/>
            <a:ext cx="2240280" cy="256032"/>
          </a:xfrm>
          <a:prstGeom prst="rect">
            <a:avLst/>
          </a:prstGeom>
          <a:noFill/>
        </p:spPr>
        <p:txBody>
          <a:bodyPr wrap="square" lIns="18288" rIns="18288" tIns="18288" bIns="18288" anchor="ctr">
            <a:spAutoFit/>
          </a:bodyPr>
          <a:lstStyle/>
          <a:p>
            <a:pPr algn="ctr"/>
            <a:r>
              <a:rPr sz="900" b="1">
                <a:solidFill>
                  <a:srgbClr val="F5F7FA"/>
                </a:solidFill>
                <a:latin typeface="Aptos"/>
              </a:rPr>
              <a:t>FIRST-PASS GENERATION</a:t>
            </a:r>
          </a:p>
        </p:txBody>
      </p:sp>
      <p:sp>
        <p:nvSpPr>
          <p:cNvPr id="15" name="TextBox 14"/>
          <p:cNvSpPr txBox="1"/>
          <p:nvPr/>
        </p:nvSpPr>
        <p:spPr>
          <a:xfrm>
            <a:off x="822960" y="5641848"/>
            <a:ext cx="2926080" cy="256032"/>
          </a:xfrm>
          <a:prstGeom prst="rect">
            <a:avLst/>
          </a:prstGeom>
          <a:noFill/>
        </p:spPr>
        <p:txBody>
          <a:bodyPr wrap="square" lIns="18288" rIns="18288" tIns="18288" bIns="18288" anchor="t">
            <a:spAutoFit/>
          </a:bodyPr>
          <a:lstStyle/>
          <a:p>
            <a:pPr algn="l"/>
            <a:r>
              <a:rPr sz="900" b="1">
                <a:solidFill>
                  <a:srgbClr val="AAB8CC"/>
                </a:solidFill>
                <a:latin typeface="Aptos"/>
              </a:rPr>
              <a:t>PAST: HUMAN-SCARCE OUTPUT</a:t>
            </a:r>
          </a:p>
        </p:txBody>
      </p:sp>
      <p:sp>
        <p:nvSpPr>
          <p:cNvPr id="16" name="TextBox 15"/>
          <p:cNvSpPr txBox="1"/>
          <p:nvPr/>
        </p:nvSpPr>
        <p:spPr>
          <a:xfrm>
            <a:off x="8412480" y="5641848"/>
            <a:ext cx="2560320" cy="256032"/>
          </a:xfrm>
          <a:prstGeom prst="rect">
            <a:avLst/>
          </a:prstGeom>
          <a:noFill/>
        </p:spPr>
        <p:txBody>
          <a:bodyPr wrap="square" lIns="18288" rIns="18288" tIns="18288" bIns="18288" anchor="t">
            <a:spAutoFit/>
          </a:bodyPr>
          <a:lstStyle/>
          <a:p>
            <a:pPr algn="r"/>
            <a:r>
              <a:rPr sz="900" b="1">
                <a:solidFill>
                  <a:srgbClr val="AAB8CC"/>
                </a:solidFill>
                <a:latin typeface="Aptos"/>
              </a:rPr>
              <a:t>AGENT-SCALE OUTPUT</a:t>
            </a:r>
          </a:p>
        </p:txBody>
      </p:sp>
      <p:sp>
        <p:nvSpPr>
          <p:cNvPr id="17" name="Rounded Rectangle 16"/>
          <p:cNvSpPr/>
          <p:nvPr/>
        </p:nvSpPr>
        <p:spPr>
          <a:xfrm>
            <a:off x="8412480" y="3182112"/>
            <a:ext cx="2468880" cy="109728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0" y="3182112"/>
            <a:ext cx="64008" cy="1097280"/>
          </a:xfrm>
          <a:prstGeom prst="rect">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13648" y="3364992"/>
            <a:ext cx="2121408" cy="310896"/>
          </a:xfrm>
          <a:prstGeom prst="rect">
            <a:avLst/>
          </a:prstGeom>
          <a:noFill/>
        </p:spPr>
        <p:txBody>
          <a:bodyPr wrap="square" lIns="18288" rIns="18288" tIns="18288" bIns="18288" anchor="t">
            <a:spAutoFit/>
          </a:bodyPr>
          <a:lstStyle/>
          <a:p>
            <a:pPr algn="l"/>
            <a:r>
              <a:rPr sz="1600" b="1">
                <a:solidFill>
                  <a:srgbClr val="F5F7FA"/>
                </a:solidFill>
                <a:latin typeface="Aptos"/>
              </a:rPr>
              <a:t>New bottleneck</a:t>
            </a:r>
          </a:p>
        </p:txBody>
      </p:sp>
      <p:sp>
        <p:nvSpPr>
          <p:cNvPr id="20" name="TextBox 19"/>
          <p:cNvSpPr txBox="1"/>
          <p:nvPr/>
        </p:nvSpPr>
        <p:spPr>
          <a:xfrm>
            <a:off x="8613648" y="3822191"/>
            <a:ext cx="2121408" cy="347472"/>
          </a:xfrm>
          <a:prstGeom prst="rect">
            <a:avLst/>
          </a:prstGeom>
          <a:noFill/>
        </p:spPr>
        <p:txBody>
          <a:bodyPr wrap="square" lIns="18288" rIns="18288" tIns="18288" bIns="18288" anchor="t">
            <a:spAutoFit/>
          </a:bodyPr>
          <a:lstStyle/>
          <a:p>
            <a:pPr algn="l"/>
            <a:r>
              <a:rPr sz="1100" b="0">
                <a:solidFill>
                  <a:srgbClr val="AAB8CC"/>
                </a:solidFill>
                <a:latin typeface="Aptos"/>
              </a:rPr>
              <a:t>Context • consequence • repair • regression control</a:t>
            </a:r>
          </a:p>
        </p:txBody>
      </p:sp>
      <p:sp>
        <p:nvSpPr>
          <p:cNvPr id="21" name="TextBox 20"/>
          <p:cNvSpPr txBox="1"/>
          <p:nvPr/>
        </p:nvSpPr>
        <p:spPr>
          <a:xfrm>
            <a:off x="1078992" y="2313432"/>
            <a:ext cx="5029200" cy="237744"/>
          </a:xfrm>
          <a:prstGeom prst="rect">
            <a:avLst/>
          </a:prstGeom>
          <a:noFill/>
        </p:spPr>
        <p:txBody>
          <a:bodyPr wrap="square" lIns="18288" rIns="18288" tIns="18288" bIns="18288" anchor="t">
            <a:spAutoFit/>
          </a:bodyPr>
          <a:lstStyle/>
          <a:p>
            <a:pPr algn="l"/>
            <a:r>
              <a:rPr sz="850" b="1">
                <a:solidFill>
                  <a:srgbClr val="F5B942"/>
                </a:solidFill>
                <a:latin typeface="Aptos"/>
              </a:rPr>
              <a:t>CONCEPTUAL — NO MEASURED MARKET OR WORKLOAD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PROBLEM</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03</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Today’s agents repeatedly reconstruct the program</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Strong tools expose substantial semantics; agents still reconstruct parts of the change surface.</a:t>
            </a:r>
          </a:p>
        </p:txBody>
      </p:sp>
      <p:sp>
        <p:nvSpPr>
          <p:cNvPr id="6" name="Rounded Rectangle 5"/>
          <p:cNvSpPr/>
          <p:nvPr/>
        </p:nvSpPr>
        <p:spPr>
          <a:xfrm>
            <a:off x="621792"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4944"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Search files</a:t>
            </a:r>
          </a:p>
        </p:txBody>
      </p:sp>
      <p:cxnSp>
        <p:nvCxnSpPr>
          <p:cNvPr id="8" name="Connector 7"/>
          <p:cNvCxnSpPr/>
          <p:nvPr/>
        </p:nvCxnSpPr>
        <p:spPr>
          <a:xfrm>
            <a:off x="1993392"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423160"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96312"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Read context</a:t>
            </a:r>
          </a:p>
        </p:txBody>
      </p:sp>
      <p:cxnSp>
        <p:nvCxnSpPr>
          <p:cNvPr id="11" name="Connector 10"/>
          <p:cNvCxnSpPr/>
          <p:nvPr/>
        </p:nvCxnSpPr>
        <p:spPr>
          <a:xfrm>
            <a:off x="3794760"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24528"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Infer effects</a:t>
            </a:r>
          </a:p>
        </p:txBody>
      </p:sp>
      <p:cxnSp>
        <p:nvCxnSpPr>
          <p:cNvPr id="14" name="Connector 13"/>
          <p:cNvCxnSpPr/>
          <p:nvPr/>
        </p:nvCxnSpPr>
        <p:spPr>
          <a:xfrm>
            <a:off x="5596128"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025896"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9048"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Edit</a:t>
            </a:r>
          </a:p>
        </p:txBody>
      </p:sp>
      <p:cxnSp>
        <p:nvCxnSpPr>
          <p:cNvPr id="17" name="Connector 16"/>
          <p:cNvCxnSpPr/>
          <p:nvPr/>
        </p:nvCxnSpPr>
        <p:spPr>
          <a:xfrm>
            <a:off x="7397496"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827264"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6"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Compile / test</a:t>
            </a:r>
          </a:p>
        </p:txBody>
      </p:sp>
      <p:cxnSp>
        <p:nvCxnSpPr>
          <p:cNvPr id="20" name="Connector 19"/>
          <p:cNvCxnSpPr/>
          <p:nvPr/>
        </p:nvCxnSpPr>
        <p:spPr>
          <a:xfrm>
            <a:off x="9198864"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28632" y="2057400"/>
            <a:ext cx="1353312" cy="749808"/>
          </a:xfrm>
          <a:prstGeom prst="roundRect">
            <a:avLst>
              <a:gd name="adj" fmla="val 8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1784"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Repair</a:t>
            </a:r>
          </a:p>
        </p:txBody>
      </p:sp>
      <p:cxnSp>
        <p:nvCxnSpPr>
          <p:cNvPr id="23" name="Connector 22"/>
          <p:cNvCxnSpPr/>
          <p:nvPr/>
        </p:nvCxnSpPr>
        <p:spPr>
          <a:xfrm>
            <a:off x="10305288" y="2880360"/>
            <a:ext cx="0" cy="548640"/>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325880" y="3429000"/>
            <a:ext cx="8979408" cy="0"/>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325880" y="2898648"/>
            <a:ext cx="0" cy="530352"/>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005072" y="3566160"/>
            <a:ext cx="4297680" cy="347472"/>
          </a:xfrm>
          <a:prstGeom prst="rect">
            <a:avLst/>
          </a:prstGeom>
          <a:noFill/>
        </p:spPr>
        <p:txBody>
          <a:bodyPr wrap="square" lIns="18288" rIns="18288" tIns="18288" bIns="18288" anchor="t">
            <a:spAutoFit/>
          </a:bodyPr>
          <a:lstStyle/>
          <a:p>
            <a:pPr algn="ctr"/>
            <a:r>
              <a:rPr sz="1100" b="1">
                <a:solidFill>
                  <a:srgbClr val="F07178"/>
                </a:solidFill>
                <a:latin typeface="Aptos"/>
              </a:rPr>
              <a:t>RECONSTRUCTION LOOP</a:t>
            </a:r>
          </a:p>
        </p:txBody>
      </p:sp>
      <p:sp>
        <p:nvSpPr>
          <p:cNvPr id="27" name="Rounded Rectangle 26"/>
          <p:cNvSpPr/>
          <p:nvPr/>
        </p:nvSpPr>
        <p:spPr>
          <a:xfrm>
            <a:off x="713232" y="4224528"/>
            <a:ext cx="2971800" cy="146304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 y="4224528"/>
            <a:ext cx="64008" cy="1463040"/>
          </a:xfrm>
          <a:prstGeom prst="rect">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407408"/>
            <a:ext cx="2624328" cy="310896"/>
          </a:xfrm>
          <a:prstGeom prst="rect">
            <a:avLst/>
          </a:prstGeom>
          <a:noFill/>
        </p:spPr>
        <p:txBody>
          <a:bodyPr wrap="square" lIns="18288" rIns="18288" tIns="18288" bIns="18288" anchor="t">
            <a:spAutoFit/>
          </a:bodyPr>
          <a:lstStyle/>
          <a:p>
            <a:pPr algn="l"/>
            <a:r>
              <a:rPr sz="1600" b="1">
                <a:solidFill>
                  <a:srgbClr val="F5F7FA"/>
                </a:solidFill>
                <a:latin typeface="Aptos"/>
              </a:rPr>
              <a:t>Hidden consequence</a:t>
            </a:r>
          </a:p>
        </p:txBody>
      </p:sp>
      <p:sp>
        <p:nvSpPr>
          <p:cNvPr id="30" name="TextBox 29"/>
          <p:cNvSpPr txBox="1"/>
          <p:nvPr/>
        </p:nvSpPr>
        <p:spPr>
          <a:xfrm>
            <a:off x="914400" y="4864608"/>
            <a:ext cx="2624328" cy="713232"/>
          </a:xfrm>
          <a:prstGeom prst="rect">
            <a:avLst/>
          </a:prstGeom>
          <a:noFill/>
        </p:spPr>
        <p:txBody>
          <a:bodyPr wrap="square" lIns="18288" rIns="18288" tIns="18288" bIns="18288" anchor="t">
            <a:spAutoFit/>
          </a:bodyPr>
          <a:lstStyle/>
          <a:p>
            <a:pPr algn="l"/>
            <a:r>
              <a:rPr sz="1100" b="0">
                <a:solidFill>
                  <a:srgbClr val="AAB8CC"/>
                </a:solidFill>
                <a:latin typeface="Aptos"/>
              </a:rPr>
              <a:t>A schema edit can touch producers, storage, projections, tests, and evidence.</a:t>
            </a:r>
          </a:p>
        </p:txBody>
      </p:sp>
      <p:sp>
        <p:nvSpPr>
          <p:cNvPr id="31" name="Rounded Rectangle 30"/>
          <p:cNvSpPr/>
          <p:nvPr/>
        </p:nvSpPr>
        <p:spPr>
          <a:xfrm>
            <a:off x="4069080" y="4224528"/>
            <a:ext cx="2971800" cy="146304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69080" y="4224528"/>
            <a:ext cx="64008" cy="1463040"/>
          </a:xfrm>
          <a:prstGeom prst="rect">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70248" y="4407408"/>
            <a:ext cx="2624328" cy="310896"/>
          </a:xfrm>
          <a:prstGeom prst="rect">
            <a:avLst/>
          </a:prstGeom>
          <a:noFill/>
        </p:spPr>
        <p:txBody>
          <a:bodyPr wrap="square" lIns="18288" rIns="18288" tIns="18288" bIns="18288" anchor="t">
            <a:spAutoFit/>
          </a:bodyPr>
          <a:lstStyle/>
          <a:p>
            <a:pPr algn="l"/>
            <a:r>
              <a:rPr sz="1600" b="1">
                <a:solidFill>
                  <a:srgbClr val="F5F7FA"/>
                </a:solidFill>
                <a:latin typeface="Aptos"/>
              </a:rPr>
              <a:t>Hidden authority</a:t>
            </a:r>
          </a:p>
        </p:txBody>
      </p:sp>
      <p:sp>
        <p:nvSpPr>
          <p:cNvPr id="34" name="TextBox 33"/>
          <p:cNvSpPr txBox="1"/>
          <p:nvPr/>
        </p:nvSpPr>
        <p:spPr>
          <a:xfrm>
            <a:off x="4270248" y="4864608"/>
            <a:ext cx="2624328" cy="713232"/>
          </a:xfrm>
          <a:prstGeom prst="rect">
            <a:avLst/>
          </a:prstGeom>
          <a:noFill/>
        </p:spPr>
        <p:txBody>
          <a:bodyPr wrap="square" lIns="18288" rIns="18288" tIns="18288" bIns="18288" anchor="t">
            <a:spAutoFit/>
          </a:bodyPr>
          <a:lstStyle/>
          <a:p>
            <a:pPr algn="l"/>
            <a:r>
              <a:rPr sz="1100" b="0">
                <a:solidFill>
                  <a:srgbClr val="AAB8CC"/>
                </a:solidFill>
                <a:latin typeface="Aptos"/>
              </a:rPr>
              <a:t>Passing tests can still move database access into the wrong layer.</a:t>
            </a:r>
          </a:p>
        </p:txBody>
      </p:sp>
      <p:sp>
        <p:nvSpPr>
          <p:cNvPr id="35" name="Rounded Rectangle 34"/>
          <p:cNvSpPr/>
          <p:nvPr/>
        </p:nvSpPr>
        <p:spPr>
          <a:xfrm>
            <a:off x="7424927" y="4224528"/>
            <a:ext cx="2971800" cy="146304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24927" y="4224528"/>
            <a:ext cx="64008" cy="1463040"/>
          </a:xfrm>
          <a:prstGeom prst="rect">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4407408"/>
            <a:ext cx="2624328" cy="310896"/>
          </a:xfrm>
          <a:prstGeom prst="rect">
            <a:avLst/>
          </a:prstGeom>
          <a:noFill/>
        </p:spPr>
        <p:txBody>
          <a:bodyPr wrap="square" lIns="18288" rIns="18288" tIns="18288" bIns="18288" anchor="t">
            <a:spAutoFit/>
          </a:bodyPr>
          <a:lstStyle/>
          <a:p>
            <a:pPr algn="l"/>
            <a:r>
              <a:rPr sz="1600" b="1">
                <a:solidFill>
                  <a:srgbClr val="F5F7FA"/>
                </a:solidFill>
                <a:latin typeface="Aptos"/>
              </a:rPr>
              <a:t>Unbounded review</a:t>
            </a:r>
          </a:p>
        </p:txBody>
      </p:sp>
      <p:sp>
        <p:nvSpPr>
          <p:cNvPr id="38" name="TextBox 37"/>
          <p:cNvSpPr txBox="1"/>
          <p:nvPr/>
        </p:nvSpPr>
        <p:spPr>
          <a:xfrm>
            <a:off x="7626096" y="4864608"/>
            <a:ext cx="2624328" cy="713232"/>
          </a:xfrm>
          <a:prstGeom prst="rect">
            <a:avLst/>
          </a:prstGeom>
          <a:noFill/>
        </p:spPr>
        <p:txBody>
          <a:bodyPr wrap="square" lIns="18288" rIns="18288" tIns="18288" bIns="18288" anchor="t">
            <a:spAutoFit/>
          </a:bodyPr>
          <a:lstStyle/>
          <a:p>
            <a:pPr algn="l"/>
            <a:r>
              <a:rPr sz="1100" b="0">
                <a:solidFill>
                  <a:srgbClr val="AAB8CC"/>
                </a:solidFill>
                <a:latin typeface="Aptos"/>
              </a:rPr>
              <a:t>Humans reconstruct what changed and what the agent may have missed.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PRODUCT THESIS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04</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AIL turns language guarantees into an agent control plane</a:t>
            </a:r>
          </a:p>
        </p:txBody>
      </p:sp>
      <p:sp>
        <p:nvSpPr>
          <p:cNvPr id="5" name="Rounded Rectangle 4"/>
          <p:cNvSpPr/>
          <p:nvPr/>
        </p:nvSpPr>
        <p:spPr>
          <a:xfrm>
            <a:off x="621792" y="1828800"/>
            <a:ext cx="10972800" cy="3977639"/>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315968" y="2487168"/>
            <a:ext cx="3566160" cy="2651760"/>
          </a:xfrm>
          <a:prstGeom prst="roundRect">
            <a:avLst>
              <a:gd name="adj" fmla="val 8000"/>
            </a:avLst>
          </a:prstGeom>
          <a:solidFill>
            <a:srgbClr val="17263C"/>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2788920"/>
            <a:ext cx="2880360" cy="457200"/>
          </a:xfrm>
          <a:prstGeom prst="rect">
            <a:avLst/>
          </a:prstGeom>
          <a:noFill/>
        </p:spPr>
        <p:txBody>
          <a:bodyPr wrap="square" lIns="18288" rIns="18288" tIns="18288" bIns="18288" anchor="t">
            <a:spAutoFit/>
          </a:bodyPr>
          <a:lstStyle/>
          <a:p>
            <a:pPr algn="ctr"/>
            <a:r>
              <a:rPr sz="2100" b="1">
                <a:solidFill>
                  <a:srgbClr val="4DD9E7"/>
                </a:solidFill>
                <a:latin typeface="Aptos"/>
              </a:rPr>
              <a:t>SEMANTIC COMPILER</a:t>
            </a:r>
          </a:p>
        </p:txBody>
      </p:sp>
      <p:sp>
        <p:nvSpPr>
          <p:cNvPr id="8" name="TextBox 7"/>
          <p:cNvSpPr txBox="1"/>
          <p:nvPr/>
        </p:nvSpPr>
        <p:spPr>
          <a:xfrm>
            <a:off x="4736592" y="3456432"/>
            <a:ext cx="2743200" cy="1051560"/>
          </a:xfrm>
          <a:prstGeom prst="rect">
            <a:avLst/>
          </a:prstGeom>
          <a:noFill/>
        </p:spPr>
        <p:txBody>
          <a:bodyPr wrap="square" lIns="18288" rIns="18288" tIns="18288" bIns="18288" anchor="t">
            <a:spAutoFit/>
          </a:bodyPr>
          <a:lstStyle/>
          <a:p>
            <a:pPr algn="ctr"/>
            <a:r>
              <a:rPr sz="1300" b="0">
                <a:solidFill>
                  <a:srgbClr val="F5F7FA"/>
                </a:solidFill>
                <a:latin typeface="Aptos"/>
              </a:rPr>
              <a:t>canonical source
+ typed semantic model
+ immutable revisions</a:t>
            </a:r>
          </a:p>
        </p:txBody>
      </p:sp>
      <p:sp>
        <p:nvSpPr>
          <p:cNvPr id="9" name="Rounded Rectangle 8"/>
          <p:cNvSpPr/>
          <p:nvPr/>
        </p:nvSpPr>
        <p:spPr>
          <a:xfrm>
            <a:off x="914400" y="224028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37744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INSPECTION</a:t>
            </a:r>
          </a:p>
        </p:txBody>
      </p:sp>
      <p:sp>
        <p:nvSpPr>
          <p:cNvPr id="11" name="TextBox 10"/>
          <p:cNvSpPr txBox="1"/>
          <p:nvPr/>
        </p:nvSpPr>
        <p:spPr>
          <a:xfrm>
            <a:off x="1078992" y="271576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revision-scoped semantic facts</a:t>
            </a:r>
          </a:p>
        </p:txBody>
      </p:sp>
      <p:cxnSp>
        <p:nvCxnSpPr>
          <p:cNvPr id="12" name="Connector 11"/>
          <p:cNvCxnSpPr/>
          <p:nvPr/>
        </p:nvCxnSpPr>
        <p:spPr>
          <a:xfrm>
            <a:off x="3364992" y="2715768"/>
            <a:ext cx="795528" cy="1106423"/>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16052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29768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BOUNDED IMPACT</a:t>
            </a:r>
          </a:p>
        </p:txBody>
      </p:sp>
      <p:sp>
        <p:nvSpPr>
          <p:cNvPr id="15" name="TextBox 14"/>
          <p:cNvSpPr txBox="1"/>
          <p:nvPr/>
        </p:nvSpPr>
        <p:spPr>
          <a:xfrm>
            <a:off x="1078992" y="463600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must change / review / unchecked</a:t>
            </a:r>
          </a:p>
        </p:txBody>
      </p:sp>
      <p:cxnSp>
        <p:nvCxnSpPr>
          <p:cNvPr id="16" name="Connector 15"/>
          <p:cNvCxnSpPr/>
          <p:nvPr/>
        </p:nvCxnSpPr>
        <p:spPr>
          <a:xfrm flipV="1">
            <a:off x="3364992" y="3822191"/>
            <a:ext cx="795528" cy="813817"/>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412480" y="224028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77072" y="237744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AUTHORITY</a:t>
            </a:r>
          </a:p>
        </p:txBody>
      </p:sp>
      <p:sp>
        <p:nvSpPr>
          <p:cNvPr id="19" name="TextBox 18"/>
          <p:cNvSpPr txBox="1"/>
          <p:nvPr/>
        </p:nvSpPr>
        <p:spPr>
          <a:xfrm>
            <a:off x="8577072" y="271576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effects + capabilities</a:t>
            </a:r>
          </a:p>
        </p:txBody>
      </p:sp>
      <p:cxnSp>
        <p:nvCxnSpPr>
          <p:cNvPr id="20" name="Connector 19"/>
          <p:cNvCxnSpPr/>
          <p:nvPr/>
        </p:nvCxnSpPr>
        <p:spPr>
          <a:xfrm flipV="1">
            <a:off x="8028431" y="2715768"/>
            <a:ext cx="274321" cy="1106423"/>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12480" y="416052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7072" y="429768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PUBLICATION</a:t>
            </a:r>
          </a:p>
        </p:txBody>
      </p:sp>
      <p:sp>
        <p:nvSpPr>
          <p:cNvPr id="23" name="TextBox 22"/>
          <p:cNvSpPr txBox="1"/>
          <p:nvPr/>
        </p:nvSpPr>
        <p:spPr>
          <a:xfrm>
            <a:off x="8577072" y="463600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validate + commit or roll back</a:t>
            </a:r>
          </a:p>
        </p:txBody>
      </p:sp>
      <p:cxnSp>
        <p:nvCxnSpPr>
          <p:cNvPr id="24" name="Connector 23"/>
          <p:cNvCxnSpPr/>
          <p:nvPr/>
        </p:nvCxnSpPr>
        <p:spPr>
          <a:xfrm>
            <a:off x="8028431" y="3822191"/>
            <a:ext cx="274321" cy="813817"/>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WORKFLOW</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05</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From reconstruct-and-repair to query-change-prove</a:t>
            </a:r>
          </a:p>
        </p:txBody>
      </p:sp>
      <p:sp>
        <p:nvSpPr>
          <p:cNvPr id="5" name="Rounded Rectangle 4"/>
          <p:cNvSpPr/>
          <p:nvPr/>
        </p:nvSpPr>
        <p:spPr>
          <a:xfrm>
            <a:off x="676656" y="1664208"/>
            <a:ext cx="1097280" cy="310896"/>
          </a:xfrm>
          <a:prstGeom prst="roundRect">
            <a:avLst>
              <a:gd name="adj" fmla="val 45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1673352"/>
            <a:ext cx="1097280" cy="256032"/>
          </a:xfrm>
          <a:prstGeom prst="rect">
            <a:avLst/>
          </a:prstGeom>
          <a:noFill/>
        </p:spPr>
        <p:txBody>
          <a:bodyPr wrap="square" lIns="18288" rIns="18288" tIns="18288" bIns="18288" anchor="ctr">
            <a:spAutoFit/>
          </a:bodyPr>
          <a:lstStyle/>
          <a:p>
            <a:pPr algn="ctr"/>
            <a:r>
              <a:rPr sz="900" b="1">
                <a:solidFill>
                  <a:srgbClr val="F5F7FA"/>
                </a:solidFill>
                <a:latin typeface="Aptos"/>
              </a:rPr>
              <a:t>BEFORE</a:t>
            </a:r>
          </a:p>
        </p:txBody>
      </p:sp>
      <p:sp>
        <p:nvSpPr>
          <p:cNvPr id="7" name="Rounded Rectangle 6"/>
          <p:cNvSpPr/>
          <p:nvPr/>
        </p:nvSpPr>
        <p:spPr>
          <a:xfrm>
            <a:off x="6172200" y="1664208"/>
            <a:ext cx="1097280"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72200" y="1673352"/>
            <a:ext cx="1097280" cy="256032"/>
          </a:xfrm>
          <a:prstGeom prst="rect">
            <a:avLst/>
          </a:prstGeom>
          <a:noFill/>
        </p:spPr>
        <p:txBody>
          <a:bodyPr wrap="square" lIns="18288" rIns="18288" tIns="18288" bIns="18288" anchor="ctr">
            <a:spAutoFit/>
          </a:bodyPr>
          <a:lstStyle/>
          <a:p>
            <a:pPr algn="ctr"/>
            <a:r>
              <a:rPr sz="900" b="1">
                <a:solidFill>
                  <a:srgbClr val="09111F"/>
                </a:solidFill>
                <a:latin typeface="Aptos"/>
              </a:rPr>
              <a:t>WITH AIL</a:t>
            </a:r>
          </a:p>
        </p:txBody>
      </p:sp>
      <p:sp>
        <p:nvSpPr>
          <p:cNvPr id="9" name="Oval 8"/>
          <p:cNvSpPr/>
          <p:nvPr/>
        </p:nvSpPr>
        <p:spPr>
          <a:xfrm>
            <a:off x="722376" y="2450592"/>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67712"/>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Search repository</a:t>
            </a:r>
          </a:p>
        </p:txBody>
      </p:sp>
      <p:cxnSp>
        <p:nvCxnSpPr>
          <p:cNvPr id="11" name="Connector 10"/>
          <p:cNvCxnSpPr/>
          <p:nvPr/>
        </p:nvCxnSpPr>
        <p:spPr>
          <a:xfrm>
            <a:off x="781812" y="2596896"/>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22376" y="3145536"/>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62656"/>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Infer dependencies</a:t>
            </a:r>
          </a:p>
        </p:txBody>
      </p:sp>
      <p:cxnSp>
        <p:nvCxnSpPr>
          <p:cNvPr id="14" name="Connector 13"/>
          <p:cNvCxnSpPr/>
          <p:nvPr/>
        </p:nvCxnSpPr>
        <p:spPr>
          <a:xfrm>
            <a:off x="781812" y="3291840"/>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22376" y="3840480"/>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657600"/>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Coordinate text edits</a:t>
            </a:r>
          </a:p>
        </p:txBody>
      </p:sp>
      <p:cxnSp>
        <p:nvCxnSpPr>
          <p:cNvPr id="17" name="Connector 16"/>
          <p:cNvCxnSpPr/>
          <p:nvPr/>
        </p:nvCxnSpPr>
        <p:spPr>
          <a:xfrm>
            <a:off x="781812" y="3986784"/>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722376" y="4535424"/>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352544"/>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Run broad checks</a:t>
            </a:r>
          </a:p>
        </p:txBody>
      </p:sp>
      <p:cxnSp>
        <p:nvCxnSpPr>
          <p:cNvPr id="20" name="Connector 19"/>
          <p:cNvCxnSpPr/>
          <p:nvPr/>
        </p:nvCxnSpPr>
        <p:spPr>
          <a:xfrm>
            <a:off x="781812" y="4681728"/>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722376" y="5230368"/>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047488"/>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Repair surprises</a:t>
            </a:r>
          </a:p>
        </p:txBody>
      </p:sp>
      <p:sp>
        <p:nvSpPr>
          <p:cNvPr id="23" name="Oval 22"/>
          <p:cNvSpPr/>
          <p:nvPr/>
        </p:nvSpPr>
        <p:spPr>
          <a:xfrm>
            <a:off x="6217920" y="2450592"/>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1384" y="2267712"/>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Query supported impact</a:t>
            </a:r>
          </a:p>
        </p:txBody>
      </p:sp>
      <p:cxnSp>
        <p:nvCxnSpPr>
          <p:cNvPr id="25" name="Connector 24"/>
          <p:cNvCxnSpPr/>
          <p:nvPr/>
        </p:nvCxnSpPr>
        <p:spPr>
          <a:xfrm>
            <a:off x="6277356" y="2596896"/>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6217920" y="3145536"/>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1384" y="2962656"/>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Inspect authority + policy</a:t>
            </a:r>
          </a:p>
        </p:txBody>
      </p:sp>
      <p:cxnSp>
        <p:nvCxnSpPr>
          <p:cNvPr id="28" name="Connector 27"/>
          <p:cNvCxnSpPr/>
          <p:nvPr/>
        </p:nvCxnSpPr>
        <p:spPr>
          <a:xfrm>
            <a:off x="6277356" y="3291840"/>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217920" y="3840480"/>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3657600"/>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Submit whole candidate</a:t>
            </a:r>
          </a:p>
        </p:txBody>
      </p:sp>
      <p:cxnSp>
        <p:nvCxnSpPr>
          <p:cNvPr id="31" name="Connector 30"/>
          <p:cNvCxnSpPr/>
          <p:nvPr/>
        </p:nvCxnSpPr>
        <p:spPr>
          <a:xfrm>
            <a:off x="6277356" y="3986784"/>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217920" y="4535424"/>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01384" y="4352544"/>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Compiler validates evidence</a:t>
            </a:r>
          </a:p>
        </p:txBody>
      </p:sp>
      <p:cxnSp>
        <p:nvCxnSpPr>
          <p:cNvPr id="34" name="Connector 33"/>
          <p:cNvCxnSpPr/>
          <p:nvPr/>
        </p:nvCxnSpPr>
        <p:spPr>
          <a:xfrm>
            <a:off x="6277356" y="4681728"/>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6217920" y="5230368"/>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01384" y="5047488"/>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Publish or roll back</a:t>
            </a:r>
          </a:p>
        </p:txBody>
      </p:sp>
      <p:cxnSp>
        <p:nvCxnSpPr>
          <p:cNvPr id="37" name="Connector 36"/>
          <p:cNvCxnSpPr/>
          <p:nvPr/>
        </p:nvCxnSpPr>
        <p:spPr>
          <a:xfrm>
            <a:off x="5696712" y="1755648"/>
            <a:ext cx="0" cy="4032504"/>
          </a:xfrm>
          <a:prstGeom prst="line">
            <a:avLst/>
          </a:prstGeom>
          <a:ln w="25400">
            <a:solidFill>
              <a:srgbClr val="17263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562856" y="5916168"/>
            <a:ext cx="2286000" cy="292608"/>
          </a:xfrm>
          <a:prstGeom prst="rect">
            <a:avLst/>
          </a:prstGeom>
          <a:noFill/>
        </p:spPr>
        <p:txBody>
          <a:bodyPr wrap="square" lIns="18288" rIns="18288" tIns="18288" bIns="18288" anchor="t">
            <a:spAutoFit/>
          </a:bodyPr>
          <a:lstStyle/>
          <a:p>
            <a:pPr algn="ctr"/>
            <a:r>
              <a:rPr sz="1000" b="1">
                <a:solidFill>
                  <a:srgbClr val="4DD9E7"/>
                </a:solidFill>
                <a:latin typeface="Aptos"/>
              </a:rPr>
              <a:t>LESS RECONSTRUCTION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PROOF TODAY</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06</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A real compiler already closes bounded change loops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Authoritative Rust implementation; checked-in contracts and deterministic fixtures.</a:t>
            </a:r>
          </a:p>
        </p:txBody>
      </p:sp>
      <p:sp>
        <p:nvSpPr>
          <p:cNvPr id="6" name="Rounded Rectangle 5"/>
          <p:cNvSpPr/>
          <p:nvPr/>
        </p:nvSpPr>
        <p:spPr>
          <a:xfrm>
            <a:off x="530352" y="1965960"/>
            <a:ext cx="1920240" cy="141732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167128"/>
            <a:ext cx="1645920" cy="256032"/>
          </a:xfrm>
          <a:prstGeom prst="rect">
            <a:avLst/>
          </a:prstGeom>
          <a:noFill/>
        </p:spPr>
        <p:txBody>
          <a:bodyPr wrap="square" lIns="18288" rIns="18288" tIns="18288" bIns="18288" anchor="t">
            <a:spAutoFit/>
          </a:bodyPr>
          <a:lstStyle/>
          <a:p>
            <a:pPr algn="ctr"/>
            <a:r>
              <a:rPr sz="1200" b="1">
                <a:solidFill>
                  <a:srgbClr val="5E8BFF"/>
                </a:solidFill>
                <a:latin typeface="Aptos"/>
              </a:rPr>
              <a:t>SOURCE</a:t>
            </a:r>
          </a:p>
        </p:txBody>
      </p:sp>
      <p:sp>
        <p:nvSpPr>
          <p:cNvPr id="8" name="TextBox 7"/>
          <p:cNvSpPr txBox="1"/>
          <p:nvPr/>
        </p:nvSpPr>
        <p:spPr>
          <a:xfrm>
            <a:off x="667512"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lossless parse
canonical format</a:t>
            </a:r>
          </a:p>
        </p:txBody>
      </p:sp>
      <p:cxnSp>
        <p:nvCxnSpPr>
          <p:cNvPr id="9" name="Connector 8"/>
          <p:cNvCxnSpPr/>
          <p:nvPr/>
        </p:nvCxnSpPr>
        <p:spPr>
          <a:xfrm>
            <a:off x="2478024" y="2679192"/>
            <a:ext cx="274320" cy="0"/>
          </a:xfrm>
          <a:prstGeom prst="line">
            <a:avLst/>
          </a:prstGeom>
          <a:ln w="25400">
            <a:solidFill>
              <a:srgbClr val="5E8BFF"/>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34640" y="1965960"/>
            <a:ext cx="1920240" cy="141732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167128"/>
            <a:ext cx="1645920" cy="256032"/>
          </a:xfrm>
          <a:prstGeom prst="rect">
            <a:avLst/>
          </a:prstGeom>
          <a:noFill/>
        </p:spPr>
        <p:txBody>
          <a:bodyPr wrap="square" lIns="18288" rIns="18288" tIns="18288" bIns="18288" anchor="t">
            <a:spAutoFit/>
          </a:bodyPr>
          <a:lstStyle/>
          <a:p>
            <a:pPr algn="ctr"/>
            <a:r>
              <a:rPr sz="1200" b="1">
                <a:solidFill>
                  <a:srgbClr val="4DD9E7"/>
                </a:solidFill>
                <a:latin typeface="Aptos"/>
              </a:rPr>
              <a:t>SEMANTICS</a:t>
            </a:r>
          </a:p>
        </p:txBody>
      </p:sp>
      <p:sp>
        <p:nvSpPr>
          <p:cNvPr id="12" name="TextBox 11"/>
          <p:cNvSpPr txBox="1"/>
          <p:nvPr/>
        </p:nvSpPr>
        <p:spPr>
          <a:xfrm>
            <a:off x="2971800"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types • effects
capabilities</a:t>
            </a:r>
          </a:p>
        </p:txBody>
      </p:sp>
      <p:cxnSp>
        <p:nvCxnSpPr>
          <p:cNvPr id="13" name="Connector 12"/>
          <p:cNvCxnSpPr/>
          <p:nvPr/>
        </p:nvCxnSpPr>
        <p:spPr>
          <a:xfrm>
            <a:off x="4782312" y="2679192"/>
            <a:ext cx="274320"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38928" y="1965960"/>
            <a:ext cx="1920240" cy="141732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6088" y="2167128"/>
            <a:ext cx="1645920" cy="256032"/>
          </a:xfrm>
          <a:prstGeom prst="rect">
            <a:avLst/>
          </a:prstGeom>
          <a:noFill/>
        </p:spPr>
        <p:txBody>
          <a:bodyPr wrap="square" lIns="18288" rIns="18288" tIns="18288" bIns="18288" anchor="t">
            <a:spAutoFit/>
          </a:bodyPr>
          <a:lstStyle/>
          <a:p>
            <a:pPr algn="ctr"/>
            <a:r>
              <a:rPr sz="1200" b="1">
                <a:solidFill>
                  <a:srgbClr val="4DD9E7"/>
                </a:solidFill>
                <a:latin typeface="Aptos"/>
              </a:rPr>
              <a:t>REVISION</a:t>
            </a:r>
          </a:p>
        </p:txBody>
      </p:sp>
      <p:sp>
        <p:nvSpPr>
          <p:cNvPr id="16" name="TextBox 15"/>
          <p:cNvSpPr txBox="1"/>
          <p:nvPr/>
        </p:nvSpPr>
        <p:spPr>
          <a:xfrm>
            <a:off x="5276088"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handles • inspect
validated rename</a:t>
            </a:r>
          </a:p>
        </p:txBody>
      </p:sp>
      <p:cxnSp>
        <p:nvCxnSpPr>
          <p:cNvPr id="17" name="Connector 16"/>
          <p:cNvCxnSpPr/>
          <p:nvPr/>
        </p:nvCxnSpPr>
        <p:spPr>
          <a:xfrm>
            <a:off x="7086600" y="2679192"/>
            <a:ext cx="274320"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43216" y="1965960"/>
            <a:ext cx="1920240" cy="14173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0376" y="2167128"/>
            <a:ext cx="1645920" cy="256032"/>
          </a:xfrm>
          <a:prstGeom prst="rect">
            <a:avLst/>
          </a:prstGeom>
          <a:noFill/>
        </p:spPr>
        <p:txBody>
          <a:bodyPr wrap="square" lIns="18288" rIns="18288" tIns="18288" bIns="18288" anchor="t">
            <a:spAutoFit/>
          </a:bodyPr>
          <a:lstStyle/>
          <a:p>
            <a:pPr algn="ctr"/>
            <a:r>
              <a:rPr sz="1200" b="1">
                <a:solidFill>
                  <a:srgbClr val="61D095"/>
                </a:solidFill>
                <a:latin typeface="Aptos"/>
              </a:rPr>
              <a:t>CHANGE</a:t>
            </a:r>
          </a:p>
        </p:txBody>
      </p:sp>
      <p:sp>
        <p:nvSpPr>
          <p:cNvPr id="20" name="TextBox 19"/>
          <p:cNvSpPr txBox="1"/>
          <p:nvPr/>
        </p:nvSpPr>
        <p:spPr>
          <a:xfrm>
            <a:off x="7580376"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impact • semantic diff
atomic transaction</a:t>
            </a:r>
          </a:p>
        </p:txBody>
      </p:sp>
      <p:cxnSp>
        <p:nvCxnSpPr>
          <p:cNvPr id="21" name="Connector 20"/>
          <p:cNvCxnSpPr/>
          <p:nvPr/>
        </p:nvCxnSpPr>
        <p:spPr>
          <a:xfrm>
            <a:off x="9390888" y="2679192"/>
            <a:ext cx="274320" cy="0"/>
          </a:xfrm>
          <a:prstGeom prst="line">
            <a:avLst/>
          </a:prstGeom>
          <a:ln w="25400">
            <a:solidFill>
              <a:srgbClr val="61D095"/>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747504" y="1965960"/>
            <a:ext cx="1920240" cy="14173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84664" y="2167128"/>
            <a:ext cx="1645920" cy="256032"/>
          </a:xfrm>
          <a:prstGeom prst="rect">
            <a:avLst/>
          </a:prstGeom>
          <a:noFill/>
        </p:spPr>
        <p:txBody>
          <a:bodyPr wrap="square" lIns="18288" rIns="18288" tIns="18288" bIns="18288" anchor="t">
            <a:spAutoFit/>
          </a:bodyPr>
          <a:lstStyle/>
          <a:p>
            <a:pPr algn="ctr"/>
            <a:r>
              <a:rPr sz="1200" b="1">
                <a:solidFill>
                  <a:srgbClr val="61D095"/>
                </a:solidFill>
                <a:latin typeface="Aptos"/>
              </a:rPr>
              <a:t>POLICY</a:t>
            </a:r>
          </a:p>
        </p:txBody>
      </p:sp>
      <p:sp>
        <p:nvSpPr>
          <p:cNvPr id="24" name="TextBox 23"/>
          <p:cNvSpPr txBox="1"/>
          <p:nvPr/>
        </p:nvSpPr>
        <p:spPr>
          <a:xfrm>
            <a:off x="9884664"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architecture delta
commit / rollback</a:t>
            </a:r>
          </a:p>
        </p:txBody>
      </p:sp>
      <p:sp>
        <p:nvSpPr>
          <p:cNvPr id="25" name="Rounded Rectangle 24"/>
          <p:cNvSpPr/>
          <p:nvPr/>
        </p:nvSpPr>
        <p:spPr>
          <a:xfrm>
            <a:off x="676656"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206240"/>
            <a:ext cx="2157984" cy="512064"/>
          </a:xfrm>
          <a:prstGeom prst="rect">
            <a:avLst/>
          </a:prstGeom>
          <a:noFill/>
        </p:spPr>
        <p:txBody>
          <a:bodyPr wrap="square" lIns="18288" rIns="18288" tIns="18288" bIns="18288" anchor="t">
            <a:spAutoFit/>
          </a:bodyPr>
          <a:lstStyle/>
          <a:p>
            <a:pPr algn="l"/>
            <a:r>
              <a:rPr sz="2800" b="1">
                <a:solidFill>
                  <a:srgbClr val="61D095"/>
                </a:solidFill>
                <a:latin typeface="Aptos"/>
              </a:rPr>
              <a:t>37</a:t>
            </a:r>
          </a:p>
        </p:txBody>
      </p:sp>
      <p:sp>
        <p:nvSpPr>
          <p:cNvPr id="27" name="TextBox 26"/>
          <p:cNvSpPr txBox="1"/>
          <p:nvPr/>
        </p:nvSpPr>
        <p:spPr>
          <a:xfrm>
            <a:off x="841247"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public behavior fixtures</a:t>
            </a:r>
          </a:p>
        </p:txBody>
      </p:sp>
      <p:sp>
        <p:nvSpPr>
          <p:cNvPr id="28" name="Rounded Rectangle 27"/>
          <p:cNvSpPr/>
          <p:nvPr/>
        </p:nvSpPr>
        <p:spPr>
          <a:xfrm>
            <a:off x="3401568"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60" y="4206240"/>
            <a:ext cx="2157984" cy="512064"/>
          </a:xfrm>
          <a:prstGeom prst="rect">
            <a:avLst/>
          </a:prstGeom>
          <a:noFill/>
        </p:spPr>
        <p:txBody>
          <a:bodyPr wrap="square" lIns="18288" rIns="18288" tIns="18288" bIns="18288" anchor="t">
            <a:spAutoFit/>
          </a:bodyPr>
          <a:lstStyle/>
          <a:p>
            <a:pPr algn="l"/>
            <a:r>
              <a:rPr sz="2800" b="1">
                <a:solidFill>
                  <a:srgbClr val="4DD9E7"/>
                </a:solidFill>
                <a:latin typeface="Aptos"/>
              </a:rPr>
              <a:t>12</a:t>
            </a:r>
          </a:p>
        </p:txBody>
      </p:sp>
      <p:sp>
        <p:nvSpPr>
          <p:cNvPr id="30" name="TextBox 29"/>
          <p:cNvSpPr txBox="1"/>
          <p:nvPr/>
        </p:nvSpPr>
        <p:spPr>
          <a:xfrm>
            <a:off x="3566160"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semantic relationship kinds</a:t>
            </a:r>
          </a:p>
        </p:txBody>
      </p:sp>
      <p:sp>
        <p:nvSpPr>
          <p:cNvPr id="31" name="Rounded Rectangle 30"/>
          <p:cNvSpPr/>
          <p:nvPr/>
        </p:nvSpPr>
        <p:spPr>
          <a:xfrm>
            <a:off x="6126480"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4206240"/>
            <a:ext cx="2157984" cy="512064"/>
          </a:xfrm>
          <a:prstGeom prst="rect">
            <a:avLst/>
          </a:prstGeom>
          <a:noFill/>
        </p:spPr>
        <p:txBody>
          <a:bodyPr wrap="square" lIns="18288" rIns="18288" tIns="18288" bIns="18288" anchor="t">
            <a:spAutoFit/>
          </a:bodyPr>
          <a:lstStyle/>
          <a:p>
            <a:pPr algn="l"/>
            <a:r>
              <a:rPr sz="2800" b="1">
                <a:solidFill>
                  <a:srgbClr val="4DD9E7"/>
                </a:solidFill>
                <a:latin typeface="Aptos"/>
              </a:rPr>
              <a:t>23</a:t>
            </a:r>
          </a:p>
        </p:txBody>
      </p:sp>
      <p:sp>
        <p:nvSpPr>
          <p:cNvPr id="33" name="TextBox 32"/>
          <p:cNvSpPr txBox="1"/>
          <p:nvPr/>
        </p:nvSpPr>
        <p:spPr>
          <a:xfrm>
            <a:off x="6291072"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architecture contract scenarios</a:t>
            </a:r>
          </a:p>
        </p:txBody>
      </p:sp>
      <p:sp>
        <p:nvSpPr>
          <p:cNvPr id="34" name="Rounded Rectangle 33"/>
          <p:cNvSpPr/>
          <p:nvPr/>
        </p:nvSpPr>
        <p:spPr>
          <a:xfrm>
            <a:off x="8851392"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15984" y="4206240"/>
            <a:ext cx="2157984" cy="512064"/>
          </a:xfrm>
          <a:prstGeom prst="rect">
            <a:avLst/>
          </a:prstGeom>
          <a:noFill/>
        </p:spPr>
        <p:txBody>
          <a:bodyPr wrap="square" lIns="18288" rIns="18288" tIns="18288" bIns="18288" anchor="t">
            <a:spAutoFit/>
          </a:bodyPr>
          <a:lstStyle/>
          <a:p>
            <a:pPr algn="l"/>
            <a:r>
              <a:rPr sz="2800" b="1">
                <a:solidFill>
                  <a:srgbClr val="5E8BFF"/>
                </a:solidFill>
                <a:latin typeface="Aptos"/>
              </a:rPr>
              <a:t>4</a:t>
            </a:r>
          </a:p>
        </p:txBody>
      </p:sp>
      <p:sp>
        <p:nvSpPr>
          <p:cNvPr id="36" name="TextBox 35"/>
          <p:cNvSpPr txBox="1"/>
          <p:nvPr/>
        </p:nvSpPr>
        <p:spPr>
          <a:xfrm>
            <a:off x="9015984"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behavior-equivalent references</a:t>
            </a:r>
          </a:p>
        </p:txBody>
      </p:sp>
      <p:sp>
        <p:nvSpPr>
          <p:cNvPr id="37" name="TextBox 36"/>
          <p:cNvSpPr txBox="1"/>
          <p:nvPr/>
        </p:nvSpPr>
        <p:spPr>
          <a:xfrm>
            <a:off x="694944" y="5669280"/>
            <a:ext cx="10607040" cy="411480"/>
          </a:xfrm>
          <a:prstGeom prst="rect">
            <a:avLst/>
          </a:prstGeom>
          <a:noFill/>
        </p:spPr>
        <p:txBody>
          <a:bodyPr wrap="square" lIns="18288" rIns="18288" tIns="18288" bIns="18288" anchor="t">
            <a:spAutoFit/>
          </a:bodyPr>
          <a:lstStyle/>
          <a:p>
            <a:pPr algn="ctr"/>
            <a:r>
              <a:rPr sz="1200" b="1">
                <a:solidFill>
                  <a:srgbClr val="F5B942"/>
                </a:solidFill>
                <a:latin typeface="Aptos"/>
              </a:rPr>
              <a:t>PROVEN: bounded semantics and deterministic enforcement  •  NOT PROVEN: comparative agent acceleration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IMPACT PROOF</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07</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Before editing, the compiler returns the bounded change surface</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Supported fixture: add required priority while preserving V1 compatibility.</a:t>
            </a:r>
          </a:p>
        </p:txBody>
      </p:sp>
      <p:sp>
        <p:nvSpPr>
          <p:cNvPr id="6" name="Rounded Rectangle 5"/>
          <p:cNvSpPr/>
          <p:nvPr/>
        </p:nvSpPr>
        <p:spPr>
          <a:xfrm>
            <a:off x="658368" y="1865376"/>
            <a:ext cx="24688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975104"/>
            <a:ext cx="2139696" cy="512064"/>
          </a:xfrm>
          <a:prstGeom prst="rect">
            <a:avLst/>
          </a:prstGeom>
          <a:noFill/>
        </p:spPr>
        <p:txBody>
          <a:bodyPr wrap="square" lIns="18288" rIns="18288" tIns="18288" bIns="18288" anchor="t">
            <a:spAutoFit/>
          </a:bodyPr>
          <a:lstStyle/>
          <a:p>
            <a:pPr algn="l"/>
            <a:r>
              <a:rPr sz="2800" b="1">
                <a:solidFill>
                  <a:srgbClr val="61D095"/>
                </a:solidFill>
                <a:latin typeface="Aptos"/>
              </a:rPr>
              <a:t>12</a:t>
            </a:r>
          </a:p>
        </p:txBody>
      </p:sp>
      <p:sp>
        <p:nvSpPr>
          <p:cNvPr id="8" name="TextBox 7"/>
          <p:cNvSpPr txBox="1"/>
          <p:nvPr/>
        </p:nvSpPr>
        <p:spPr>
          <a:xfrm>
            <a:off x="822959" y="2551176"/>
            <a:ext cx="2139696" cy="320040"/>
          </a:xfrm>
          <a:prstGeom prst="rect">
            <a:avLst/>
          </a:prstGeom>
          <a:noFill/>
        </p:spPr>
        <p:txBody>
          <a:bodyPr wrap="square" lIns="18288" rIns="18288" tIns="18288" bIns="18288" anchor="t">
            <a:spAutoFit/>
          </a:bodyPr>
          <a:lstStyle/>
          <a:p>
            <a:pPr algn="l"/>
            <a:r>
              <a:rPr sz="1100" b="0">
                <a:solidFill>
                  <a:srgbClr val="AAB8CC"/>
                </a:solidFill>
                <a:latin typeface="Aptos"/>
              </a:rPr>
              <a:t>must change</a:t>
            </a:r>
          </a:p>
        </p:txBody>
      </p:sp>
      <p:sp>
        <p:nvSpPr>
          <p:cNvPr id="9" name="Rounded Rectangle 8"/>
          <p:cNvSpPr/>
          <p:nvPr/>
        </p:nvSpPr>
        <p:spPr>
          <a:xfrm>
            <a:off x="3310128" y="1865376"/>
            <a:ext cx="24688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975104"/>
            <a:ext cx="2139696" cy="512064"/>
          </a:xfrm>
          <a:prstGeom prst="rect">
            <a:avLst/>
          </a:prstGeom>
          <a:noFill/>
        </p:spPr>
        <p:txBody>
          <a:bodyPr wrap="square" lIns="18288" rIns="18288" tIns="18288" bIns="18288" anchor="t">
            <a:spAutoFit/>
          </a:bodyPr>
          <a:lstStyle/>
          <a:p>
            <a:pPr algn="l"/>
            <a:r>
              <a:rPr sz="2800" b="1">
                <a:solidFill>
                  <a:srgbClr val="F5B942"/>
                </a:solidFill>
                <a:latin typeface="Aptos"/>
              </a:rPr>
              <a:t>2</a:t>
            </a:r>
          </a:p>
        </p:txBody>
      </p:sp>
      <p:sp>
        <p:nvSpPr>
          <p:cNvPr id="11" name="TextBox 10"/>
          <p:cNvSpPr txBox="1"/>
          <p:nvPr/>
        </p:nvSpPr>
        <p:spPr>
          <a:xfrm>
            <a:off x="3474720" y="2551176"/>
            <a:ext cx="2139696" cy="320040"/>
          </a:xfrm>
          <a:prstGeom prst="rect">
            <a:avLst/>
          </a:prstGeom>
          <a:noFill/>
        </p:spPr>
        <p:txBody>
          <a:bodyPr wrap="square" lIns="18288" rIns="18288" tIns="18288" bIns="18288" anchor="t">
            <a:spAutoFit/>
          </a:bodyPr>
          <a:lstStyle/>
          <a:p>
            <a:pPr algn="l"/>
            <a:r>
              <a:rPr sz="1100" b="0">
                <a:solidFill>
                  <a:srgbClr val="AAB8CC"/>
                </a:solidFill>
                <a:latin typeface="Aptos"/>
              </a:rPr>
              <a:t>review with reason</a:t>
            </a:r>
          </a:p>
        </p:txBody>
      </p:sp>
      <p:sp>
        <p:nvSpPr>
          <p:cNvPr id="12" name="Rounded Rectangle 11"/>
          <p:cNvSpPr/>
          <p:nvPr/>
        </p:nvSpPr>
        <p:spPr>
          <a:xfrm>
            <a:off x="5961888" y="1865376"/>
            <a:ext cx="24688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79" y="1975104"/>
            <a:ext cx="2139696" cy="512064"/>
          </a:xfrm>
          <a:prstGeom prst="rect">
            <a:avLst/>
          </a:prstGeom>
          <a:noFill/>
        </p:spPr>
        <p:txBody>
          <a:bodyPr wrap="square" lIns="18288" rIns="18288" tIns="18288" bIns="18288" anchor="t">
            <a:spAutoFit/>
          </a:bodyPr>
          <a:lstStyle/>
          <a:p>
            <a:pPr algn="l"/>
            <a:r>
              <a:rPr sz="2800" b="1">
                <a:solidFill>
                  <a:srgbClr val="F07178"/>
                </a:solidFill>
                <a:latin typeface="Aptos"/>
              </a:rPr>
              <a:t>1</a:t>
            </a:r>
          </a:p>
        </p:txBody>
      </p:sp>
      <p:sp>
        <p:nvSpPr>
          <p:cNvPr id="14" name="TextBox 13"/>
          <p:cNvSpPr txBox="1"/>
          <p:nvPr/>
        </p:nvSpPr>
        <p:spPr>
          <a:xfrm>
            <a:off x="6126479" y="2551176"/>
            <a:ext cx="2139696" cy="320040"/>
          </a:xfrm>
          <a:prstGeom prst="rect">
            <a:avLst/>
          </a:prstGeom>
          <a:noFill/>
        </p:spPr>
        <p:txBody>
          <a:bodyPr wrap="square" lIns="18288" rIns="18288" tIns="18288" bIns="18288" anchor="t">
            <a:spAutoFit/>
          </a:bodyPr>
          <a:lstStyle/>
          <a:p>
            <a:pPr algn="l"/>
            <a:r>
              <a:rPr sz="1100" b="0">
                <a:solidFill>
                  <a:srgbClr val="AAB8CC"/>
                </a:solidFill>
                <a:latin typeface="Aptos"/>
              </a:rPr>
              <a:t>unchecked boundary</a:t>
            </a:r>
          </a:p>
        </p:txBody>
      </p:sp>
      <p:sp>
        <p:nvSpPr>
          <p:cNvPr id="15" name="Rounded Rectangle 14"/>
          <p:cNvSpPr/>
          <p:nvPr/>
        </p:nvSpPr>
        <p:spPr>
          <a:xfrm>
            <a:off x="8613648" y="1865376"/>
            <a:ext cx="26974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2029968"/>
            <a:ext cx="2304288" cy="301752"/>
          </a:xfrm>
          <a:prstGeom prst="rect">
            <a:avLst/>
          </a:prstGeom>
          <a:noFill/>
        </p:spPr>
        <p:txBody>
          <a:bodyPr wrap="square" lIns="18288" rIns="18288" tIns="18288" bIns="18288" anchor="t">
            <a:spAutoFit/>
          </a:bodyPr>
          <a:lstStyle/>
          <a:p>
            <a:pPr algn="l"/>
            <a:r>
              <a:rPr sz="1100" b="1">
                <a:solidFill>
                  <a:srgbClr val="4DD9E7"/>
                </a:solidFill>
                <a:latin typeface="Aptos"/>
              </a:rPr>
              <a:t>AUTHORITY</a:t>
            </a:r>
          </a:p>
        </p:txBody>
      </p:sp>
      <p:sp>
        <p:nvSpPr>
          <p:cNvPr id="17" name="TextBox 16"/>
          <p:cNvSpPr txBox="1"/>
          <p:nvPr/>
        </p:nvSpPr>
        <p:spPr>
          <a:xfrm>
            <a:off x="8823960" y="2441448"/>
            <a:ext cx="2304288" cy="292608"/>
          </a:xfrm>
          <a:prstGeom prst="rect">
            <a:avLst/>
          </a:prstGeom>
          <a:noFill/>
        </p:spPr>
        <p:txBody>
          <a:bodyPr wrap="square" lIns="18288" rIns="18288" tIns="18288" bIns="18288" anchor="t">
            <a:spAutoFit/>
          </a:bodyPr>
          <a:lstStyle/>
          <a:p>
            <a:pPr algn="l"/>
            <a:r>
              <a:rPr sz="2000" b="1">
                <a:solidFill>
                  <a:srgbClr val="61D095"/>
                </a:solidFill>
                <a:latin typeface="Aptos"/>
              </a:rPr>
              <a:t>unchanged</a:t>
            </a:r>
          </a:p>
        </p:txBody>
      </p:sp>
      <p:sp>
        <p:nvSpPr>
          <p:cNvPr id="18" name="Rounded Rectangle 17"/>
          <p:cNvSpPr/>
          <p:nvPr/>
        </p:nvSpPr>
        <p:spPr>
          <a:xfrm>
            <a:off x="658368" y="3419856"/>
            <a:ext cx="10652760" cy="2121408"/>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3621024"/>
            <a:ext cx="2834640" cy="310896"/>
          </a:xfrm>
          <a:prstGeom prst="rect">
            <a:avLst/>
          </a:prstGeom>
          <a:noFill/>
        </p:spPr>
        <p:txBody>
          <a:bodyPr wrap="square" lIns="18288" rIns="18288" tIns="18288" bIns="18288" anchor="t">
            <a:spAutoFit/>
          </a:bodyPr>
          <a:lstStyle/>
          <a:p>
            <a:pPr algn="l"/>
            <a:r>
              <a:rPr sz="1100" b="1">
                <a:solidFill>
                  <a:srgbClr val="4DD9E7"/>
                </a:solidFill>
                <a:latin typeface="Aptos"/>
              </a:rPr>
              <a:t>COMPILER-DERIVED ROLES</a:t>
            </a:r>
          </a:p>
        </p:txBody>
      </p:sp>
      <p:sp>
        <p:nvSpPr>
          <p:cNvPr id="20" name="Oval 19"/>
          <p:cNvSpPr/>
          <p:nvPr/>
        </p:nvSpPr>
        <p:spPr>
          <a:xfrm>
            <a:off x="91440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request + stored schemas</a:t>
            </a:r>
          </a:p>
        </p:txBody>
      </p:sp>
      <p:sp>
        <p:nvSpPr>
          <p:cNvPr id="22" name="Oval 21"/>
          <p:cNvSpPr/>
          <p:nvPr/>
        </p:nvSpPr>
        <p:spPr>
          <a:xfrm>
            <a:off x="352044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9039"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V1 adapters</a:t>
            </a:r>
          </a:p>
        </p:txBody>
      </p:sp>
      <p:sp>
        <p:nvSpPr>
          <p:cNvPr id="24" name="Oval 23"/>
          <p:cNvSpPr/>
          <p:nvPr/>
        </p:nvSpPr>
        <p:spPr>
          <a:xfrm>
            <a:off x="612648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handler construction</a:t>
            </a:r>
          </a:p>
        </p:txBody>
      </p:sp>
      <p:sp>
        <p:nvSpPr>
          <p:cNvPr id="26" name="Oval 25"/>
          <p:cNvSpPr/>
          <p:nvPr/>
        </p:nvSpPr>
        <p:spPr>
          <a:xfrm>
            <a:off x="873252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0"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store capability</a:t>
            </a:r>
          </a:p>
        </p:txBody>
      </p:sp>
      <p:sp>
        <p:nvSpPr>
          <p:cNvPr id="28" name="Oval 27"/>
          <p:cNvSpPr/>
          <p:nvPr/>
        </p:nvSpPr>
        <p:spPr>
          <a:xfrm>
            <a:off x="914400" y="4846320"/>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43000" y="4773168"/>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persisted encoder</a:t>
            </a:r>
          </a:p>
        </p:txBody>
      </p:sp>
      <p:sp>
        <p:nvSpPr>
          <p:cNvPr id="30" name="Oval 29"/>
          <p:cNvSpPr/>
          <p:nvPr/>
        </p:nvSpPr>
        <p:spPr>
          <a:xfrm>
            <a:off x="3520440" y="4846320"/>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49039" y="4773168"/>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V1 / V2 projections</a:t>
            </a:r>
          </a:p>
        </p:txBody>
      </p:sp>
      <p:sp>
        <p:nvSpPr>
          <p:cNvPr id="32" name="Oval 31"/>
          <p:cNvSpPr/>
          <p:nvPr/>
        </p:nvSpPr>
        <p:spPr>
          <a:xfrm>
            <a:off x="6126480" y="4846320"/>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4773168"/>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fixture + completion evidence</a:t>
            </a:r>
          </a:p>
        </p:txBody>
      </p:sp>
      <p:sp>
        <p:nvSpPr>
          <p:cNvPr id="34" name="TextBox 33"/>
          <p:cNvSpPr txBox="1"/>
          <p:nvPr/>
        </p:nvSpPr>
        <p:spPr>
          <a:xfrm>
            <a:off x="694944" y="5769864"/>
            <a:ext cx="10607040" cy="310896"/>
          </a:xfrm>
          <a:prstGeom prst="rect">
            <a:avLst/>
          </a:prstGeom>
          <a:noFill/>
        </p:spPr>
        <p:txBody>
          <a:bodyPr wrap="square" lIns="18288" rIns="18288" tIns="18288" bIns="18288" anchor="t">
            <a:spAutoFit/>
          </a:bodyPr>
          <a:lstStyle/>
          <a:p>
            <a:pPr algn="ctr"/>
            <a:r>
              <a:rPr sz="1200" b="0">
                <a:solidFill>
                  <a:srgbClr val="AAB8CC"/>
                </a:solidFill>
                <a:latin typeface="Aptos"/>
              </a:rPr>
              <a:t>Honest coverage: external clients stay visible as unchecked—not silently omitted.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POLICY PROOF</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08</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Passing behavior evidence is necessary. It is not sufficient.</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Three frozen semantic candidate fixtures carry the same accepted 6/6 behavior evidence.</a:t>
            </a:r>
          </a:p>
        </p:txBody>
      </p:sp>
      <p:sp>
        <p:nvSpPr>
          <p:cNvPr id="6" name="Rounded Rectangle 5"/>
          <p:cNvSpPr/>
          <p:nvPr/>
        </p:nvSpPr>
        <p:spPr>
          <a:xfrm>
            <a:off x="640080" y="1993392"/>
            <a:ext cx="3127248" cy="32461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9536" y="2221992"/>
            <a:ext cx="1481328"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231136"/>
            <a:ext cx="1481328" cy="256032"/>
          </a:xfrm>
          <a:prstGeom prst="rect">
            <a:avLst/>
          </a:prstGeom>
          <a:noFill/>
        </p:spPr>
        <p:txBody>
          <a:bodyPr wrap="square" lIns="18288" rIns="18288" tIns="18288" bIns="18288" anchor="ctr">
            <a:spAutoFit/>
          </a:bodyPr>
          <a:lstStyle/>
          <a:p>
            <a:pPr algn="ctr"/>
            <a:r>
              <a:rPr sz="900" b="1">
                <a:solidFill>
                  <a:srgbClr val="09111F"/>
                </a:solidFill>
                <a:latin typeface="Aptos"/>
              </a:rPr>
              <a:t>DOMAIN-OWNED</a:t>
            </a:r>
          </a:p>
        </p:txBody>
      </p:sp>
      <p:sp>
        <p:nvSpPr>
          <p:cNvPr id="9" name="TextBox 8"/>
          <p:cNvSpPr txBox="1"/>
          <p:nvPr/>
        </p:nvSpPr>
        <p:spPr>
          <a:xfrm>
            <a:off x="877824" y="2907792"/>
            <a:ext cx="2651760" cy="347472"/>
          </a:xfrm>
          <a:prstGeom prst="rect">
            <a:avLst/>
          </a:prstGeom>
          <a:noFill/>
        </p:spPr>
        <p:txBody>
          <a:bodyPr wrap="square" lIns="18288" rIns="18288" tIns="18288" bIns="18288" anchor="t">
            <a:spAutoFit/>
          </a:bodyPr>
          <a:lstStyle/>
          <a:p>
            <a:pPr algn="l"/>
            <a:r>
              <a:rPr sz="1800" b="1">
                <a:solidFill>
                  <a:srgbClr val="F5F7FA"/>
                </a:solidFill>
                <a:latin typeface="Aptos"/>
              </a:rPr>
              <a:t>6 / 6 behavior</a:t>
            </a:r>
          </a:p>
        </p:txBody>
      </p:sp>
      <p:sp>
        <p:nvSpPr>
          <p:cNvPr id="10" name="TextBox 9"/>
          <p:cNvSpPr txBox="1"/>
          <p:nvPr/>
        </p:nvSpPr>
        <p:spPr>
          <a:xfrm>
            <a:off x="877824" y="3429000"/>
            <a:ext cx="2651760" cy="310896"/>
          </a:xfrm>
          <a:prstGeom prst="rect">
            <a:avLst/>
          </a:prstGeom>
          <a:noFill/>
        </p:spPr>
        <p:txBody>
          <a:bodyPr wrap="square" lIns="18288" rIns="18288" tIns="18288" bIns="18288" anchor="t">
            <a:spAutoFit/>
          </a:bodyPr>
          <a:lstStyle/>
          <a:p>
            <a:pPr algn="l"/>
            <a:r>
              <a:rPr sz="1400" b="1">
                <a:solidFill>
                  <a:srgbClr val="61D095"/>
                </a:solidFill>
                <a:latin typeface="Aptos"/>
              </a:rPr>
              <a:t>0 findings</a:t>
            </a:r>
          </a:p>
        </p:txBody>
      </p:sp>
      <p:sp>
        <p:nvSpPr>
          <p:cNvPr id="11" name="TextBox 10"/>
          <p:cNvSpPr txBox="1"/>
          <p:nvPr/>
        </p:nvSpPr>
        <p:spPr>
          <a:xfrm>
            <a:off x="877824" y="3904487"/>
            <a:ext cx="2651760" cy="804672"/>
          </a:xfrm>
          <a:prstGeom prst="rect">
            <a:avLst/>
          </a:prstGeom>
          <a:noFill/>
        </p:spPr>
        <p:txBody>
          <a:bodyPr wrap="square" lIns="18288" rIns="18288" tIns="18288" bIns="18288" anchor="t">
            <a:spAutoFit/>
          </a:bodyPr>
          <a:lstStyle/>
          <a:p>
            <a:pPr algn="l"/>
            <a:r>
              <a:rPr sz="1050" b="0">
                <a:solidFill>
                  <a:srgbClr val="AAB8CC"/>
                </a:solidFill>
                <a:latin typeface="Aptos"/>
              </a:rPr>
              <a:t>authority remains in domain
existing dispatch debt unchanged
complete evidence</a:t>
            </a:r>
          </a:p>
        </p:txBody>
      </p:sp>
      <p:sp>
        <p:nvSpPr>
          <p:cNvPr id="12" name="TextBox 11"/>
          <p:cNvSpPr txBox="1"/>
          <p:nvPr/>
        </p:nvSpPr>
        <p:spPr>
          <a:xfrm>
            <a:off x="877824" y="4828032"/>
            <a:ext cx="2651760" cy="246888"/>
          </a:xfrm>
          <a:prstGeom prst="rect">
            <a:avLst/>
          </a:prstGeom>
          <a:noFill/>
        </p:spPr>
        <p:txBody>
          <a:bodyPr wrap="square" lIns="18288" rIns="18288" tIns="18288" bIns="18288" anchor="t">
            <a:spAutoFit/>
          </a:bodyPr>
          <a:lstStyle/>
          <a:p>
            <a:pPr algn="l"/>
            <a:r>
              <a:rPr sz="1100" b="1">
                <a:solidFill>
                  <a:srgbClr val="61D095"/>
                </a:solidFill>
                <a:latin typeface="Aptos"/>
              </a:rPr>
              <a:t>PUBLISHED</a:t>
            </a:r>
          </a:p>
        </p:txBody>
      </p:sp>
      <p:sp>
        <p:nvSpPr>
          <p:cNvPr id="13" name="Rounded Rectangle 12"/>
          <p:cNvSpPr/>
          <p:nvPr/>
        </p:nvSpPr>
        <p:spPr>
          <a:xfrm>
            <a:off x="4087368" y="1993392"/>
            <a:ext cx="3127248" cy="3246120"/>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6824" y="2221992"/>
            <a:ext cx="1481328" cy="310896"/>
          </a:xfrm>
          <a:prstGeom prst="roundRect">
            <a:avLst>
              <a:gd name="adj" fmla="val 45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6824" y="2231136"/>
            <a:ext cx="1481328" cy="256032"/>
          </a:xfrm>
          <a:prstGeom prst="rect">
            <a:avLst/>
          </a:prstGeom>
          <a:noFill/>
        </p:spPr>
        <p:txBody>
          <a:bodyPr wrap="square" lIns="18288" rIns="18288" tIns="18288" bIns="18288" anchor="ctr">
            <a:spAutoFit/>
          </a:bodyPr>
          <a:lstStyle/>
          <a:p>
            <a:pPr algn="ctr"/>
            <a:r>
              <a:rPr sz="900" b="1">
                <a:solidFill>
                  <a:srgbClr val="F5F7FA"/>
                </a:solidFill>
                <a:latin typeface="Aptos"/>
              </a:rPr>
              <a:t>CENTRALIZED</a:t>
            </a:r>
          </a:p>
        </p:txBody>
      </p:sp>
      <p:sp>
        <p:nvSpPr>
          <p:cNvPr id="16" name="TextBox 15"/>
          <p:cNvSpPr txBox="1"/>
          <p:nvPr/>
        </p:nvSpPr>
        <p:spPr>
          <a:xfrm>
            <a:off x="4325112" y="2907792"/>
            <a:ext cx="2651760" cy="347472"/>
          </a:xfrm>
          <a:prstGeom prst="rect">
            <a:avLst/>
          </a:prstGeom>
          <a:noFill/>
        </p:spPr>
        <p:txBody>
          <a:bodyPr wrap="square" lIns="18288" rIns="18288" tIns="18288" bIns="18288" anchor="t">
            <a:spAutoFit/>
          </a:bodyPr>
          <a:lstStyle/>
          <a:p>
            <a:pPr algn="l"/>
            <a:r>
              <a:rPr sz="1800" b="1">
                <a:solidFill>
                  <a:srgbClr val="F5F7FA"/>
                </a:solidFill>
                <a:latin typeface="Aptos"/>
              </a:rPr>
              <a:t>6 / 6 behavior</a:t>
            </a:r>
          </a:p>
        </p:txBody>
      </p:sp>
      <p:sp>
        <p:nvSpPr>
          <p:cNvPr id="17" name="TextBox 16"/>
          <p:cNvSpPr txBox="1"/>
          <p:nvPr/>
        </p:nvSpPr>
        <p:spPr>
          <a:xfrm>
            <a:off x="4325112" y="3429000"/>
            <a:ext cx="2651760" cy="310896"/>
          </a:xfrm>
          <a:prstGeom prst="rect">
            <a:avLst/>
          </a:prstGeom>
          <a:noFill/>
        </p:spPr>
        <p:txBody>
          <a:bodyPr wrap="square" lIns="18288" rIns="18288" tIns="18288" bIns="18288" anchor="t">
            <a:spAutoFit/>
          </a:bodyPr>
          <a:lstStyle/>
          <a:p>
            <a:pPr algn="l"/>
            <a:r>
              <a:rPr sz="1400" b="1">
                <a:solidFill>
                  <a:srgbClr val="F07178"/>
                </a:solidFill>
                <a:latin typeface="Aptos"/>
              </a:rPr>
              <a:t>4 findings</a:t>
            </a:r>
          </a:p>
        </p:txBody>
      </p:sp>
      <p:sp>
        <p:nvSpPr>
          <p:cNvPr id="18" name="TextBox 17"/>
          <p:cNvSpPr txBox="1"/>
          <p:nvPr/>
        </p:nvSpPr>
        <p:spPr>
          <a:xfrm>
            <a:off x="4325112" y="3904487"/>
            <a:ext cx="2651760" cy="804672"/>
          </a:xfrm>
          <a:prstGeom prst="rect">
            <a:avLst/>
          </a:prstGeom>
          <a:noFill/>
        </p:spPr>
        <p:txBody>
          <a:bodyPr wrap="square" lIns="18288" rIns="18288" tIns="18288" bIns="18288" anchor="t">
            <a:spAutoFit/>
          </a:bodyPr>
          <a:lstStyle/>
          <a:p>
            <a:pPr algn="l"/>
            <a:r>
              <a:rPr sz="1050" b="0">
                <a:solidFill>
                  <a:srgbClr val="AAB8CC"/>
                </a:solidFill>
                <a:latin typeface="Aptos"/>
              </a:rPr>
              <a:t>dispatch growth
store authority in transport
state + dependency boundary</a:t>
            </a:r>
          </a:p>
        </p:txBody>
      </p:sp>
      <p:sp>
        <p:nvSpPr>
          <p:cNvPr id="19" name="TextBox 18"/>
          <p:cNvSpPr txBox="1"/>
          <p:nvPr/>
        </p:nvSpPr>
        <p:spPr>
          <a:xfrm>
            <a:off x="4325112" y="4828032"/>
            <a:ext cx="2651760" cy="246888"/>
          </a:xfrm>
          <a:prstGeom prst="rect">
            <a:avLst/>
          </a:prstGeom>
          <a:noFill/>
        </p:spPr>
        <p:txBody>
          <a:bodyPr wrap="square" lIns="18288" rIns="18288" tIns="18288" bIns="18288" anchor="t">
            <a:spAutoFit/>
          </a:bodyPr>
          <a:lstStyle/>
          <a:p>
            <a:pPr algn="l"/>
            <a:r>
              <a:rPr sz="1100" b="1">
                <a:solidFill>
                  <a:srgbClr val="F07178"/>
                </a:solidFill>
                <a:latin typeface="Aptos"/>
              </a:rPr>
              <a:t>ROLLED BACK</a:t>
            </a:r>
          </a:p>
        </p:txBody>
      </p:sp>
      <p:sp>
        <p:nvSpPr>
          <p:cNvPr id="20" name="Rounded Rectangle 19"/>
          <p:cNvSpPr/>
          <p:nvPr/>
        </p:nvSpPr>
        <p:spPr>
          <a:xfrm>
            <a:off x="7534656" y="1993392"/>
            <a:ext cx="3127248" cy="3246120"/>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54112" y="2221992"/>
            <a:ext cx="1481328" cy="310896"/>
          </a:xfrm>
          <a:prstGeom prst="roundRect">
            <a:avLst>
              <a:gd name="adj" fmla="val 45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54112" y="2231136"/>
            <a:ext cx="1481328" cy="256032"/>
          </a:xfrm>
          <a:prstGeom prst="rect">
            <a:avLst/>
          </a:prstGeom>
          <a:noFill/>
        </p:spPr>
        <p:txBody>
          <a:bodyPr wrap="square" lIns="18288" rIns="18288" tIns="18288" bIns="18288" anchor="ctr">
            <a:spAutoFit/>
          </a:bodyPr>
          <a:lstStyle/>
          <a:p>
            <a:pPr algn="ctr"/>
            <a:r>
              <a:rPr sz="900" b="1">
                <a:solidFill>
                  <a:srgbClr val="F5F7FA"/>
                </a:solidFill>
                <a:latin typeface="Aptos"/>
              </a:rPr>
              <a:t>HELPER-SPLIT</a:t>
            </a:r>
          </a:p>
        </p:txBody>
      </p:sp>
      <p:sp>
        <p:nvSpPr>
          <p:cNvPr id="23" name="TextBox 22"/>
          <p:cNvSpPr txBox="1"/>
          <p:nvPr/>
        </p:nvSpPr>
        <p:spPr>
          <a:xfrm>
            <a:off x="7772400" y="2907792"/>
            <a:ext cx="2651760" cy="347472"/>
          </a:xfrm>
          <a:prstGeom prst="rect">
            <a:avLst/>
          </a:prstGeom>
          <a:noFill/>
        </p:spPr>
        <p:txBody>
          <a:bodyPr wrap="square" lIns="18288" rIns="18288" tIns="18288" bIns="18288" anchor="t">
            <a:spAutoFit/>
          </a:bodyPr>
          <a:lstStyle/>
          <a:p>
            <a:pPr algn="l"/>
            <a:r>
              <a:rPr sz="1800" b="1">
                <a:solidFill>
                  <a:srgbClr val="F5F7FA"/>
                </a:solidFill>
                <a:latin typeface="Aptos"/>
              </a:rPr>
              <a:t>6 / 6 behavior</a:t>
            </a:r>
          </a:p>
        </p:txBody>
      </p:sp>
      <p:sp>
        <p:nvSpPr>
          <p:cNvPr id="24" name="TextBox 23"/>
          <p:cNvSpPr txBox="1"/>
          <p:nvPr/>
        </p:nvSpPr>
        <p:spPr>
          <a:xfrm>
            <a:off x="7772400" y="3429000"/>
            <a:ext cx="2651760" cy="310896"/>
          </a:xfrm>
          <a:prstGeom prst="rect">
            <a:avLst/>
          </a:prstGeom>
          <a:noFill/>
        </p:spPr>
        <p:txBody>
          <a:bodyPr wrap="square" lIns="18288" rIns="18288" tIns="18288" bIns="18288" anchor="t">
            <a:spAutoFit/>
          </a:bodyPr>
          <a:lstStyle/>
          <a:p>
            <a:pPr algn="l"/>
            <a:r>
              <a:rPr sz="1400" b="1">
                <a:solidFill>
                  <a:srgbClr val="F07178"/>
                </a:solidFill>
                <a:latin typeface="Aptos"/>
              </a:rPr>
              <a:t>3 findings</a:t>
            </a:r>
          </a:p>
        </p:txBody>
      </p:sp>
      <p:sp>
        <p:nvSpPr>
          <p:cNvPr id="25" name="TextBox 24"/>
          <p:cNvSpPr txBox="1"/>
          <p:nvPr/>
        </p:nvSpPr>
        <p:spPr>
          <a:xfrm>
            <a:off x="7772400" y="3904487"/>
            <a:ext cx="2651760" cy="804672"/>
          </a:xfrm>
          <a:prstGeom prst="rect">
            <a:avLst/>
          </a:prstGeom>
          <a:noFill/>
        </p:spPr>
        <p:txBody>
          <a:bodyPr wrap="square" lIns="18288" rIns="18288" tIns="18288" bIns="18288" anchor="t">
            <a:spAutoFit/>
          </a:bodyPr>
          <a:lstStyle/>
          <a:p>
            <a:pPr algn="l"/>
            <a:r>
              <a:rPr sz="1050" b="0">
                <a:solidFill>
                  <a:srgbClr val="AAB8CC"/>
                </a:solidFill>
                <a:latin typeface="Aptos"/>
              </a:rPr>
              <a:t>small helpers individually
aggregate transport boundary
still violated</a:t>
            </a:r>
          </a:p>
        </p:txBody>
      </p:sp>
      <p:sp>
        <p:nvSpPr>
          <p:cNvPr id="26" name="TextBox 25"/>
          <p:cNvSpPr txBox="1"/>
          <p:nvPr/>
        </p:nvSpPr>
        <p:spPr>
          <a:xfrm>
            <a:off x="7772400" y="4828032"/>
            <a:ext cx="2651760" cy="246888"/>
          </a:xfrm>
          <a:prstGeom prst="rect">
            <a:avLst/>
          </a:prstGeom>
          <a:noFill/>
        </p:spPr>
        <p:txBody>
          <a:bodyPr wrap="square" lIns="18288" rIns="18288" tIns="18288" bIns="18288" anchor="t">
            <a:spAutoFit/>
          </a:bodyPr>
          <a:lstStyle/>
          <a:p>
            <a:pPr algn="l"/>
            <a:r>
              <a:rPr sz="1100" b="1">
                <a:solidFill>
                  <a:srgbClr val="F07178"/>
                </a:solidFill>
                <a:latin typeface="Aptos"/>
              </a:rPr>
              <a:t>ROLLED BACK</a:t>
            </a:r>
          </a:p>
        </p:txBody>
      </p:sp>
      <p:sp>
        <p:nvSpPr>
          <p:cNvPr id="27" name="TextBox 26"/>
          <p:cNvSpPr txBox="1"/>
          <p:nvPr/>
        </p:nvSpPr>
        <p:spPr>
          <a:xfrm>
            <a:off x="694944" y="5641848"/>
            <a:ext cx="10607040" cy="457200"/>
          </a:xfrm>
          <a:prstGeom prst="rect">
            <a:avLst/>
          </a:prstGeom>
          <a:noFill/>
        </p:spPr>
        <p:txBody>
          <a:bodyPr wrap="square" lIns="18288" rIns="18288" tIns="18288" bIns="18288" anchor="t">
            <a:spAutoFit/>
          </a:bodyPr>
          <a:lstStyle/>
          <a:p>
            <a:pPr algn="ctr"/>
            <a:r>
              <a:rPr sz="1200" b="1">
                <a:solidFill>
                  <a:srgbClr val="F5B942"/>
                </a:solidFill>
                <a:latin typeface="Aptos"/>
              </a:rPr>
              <a:t>The compiler evaluates primitive facts and project policy—not a universal “architecture score.”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ATOMIC CONTROL</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09</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The candidate revision is the unit of trust</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Every proof binds to the same immutable revision.</a:t>
            </a:r>
          </a:p>
        </p:txBody>
      </p:sp>
      <p:sp>
        <p:nvSpPr>
          <p:cNvPr id="6" name="Rounded Rectangle 5"/>
          <p:cNvSpPr/>
          <p:nvPr/>
        </p:nvSpPr>
        <p:spPr>
          <a:xfrm>
            <a:off x="640080" y="2423160"/>
            <a:ext cx="1874519" cy="132588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79191"/>
            <a:ext cx="1600200" cy="274320"/>
          </a:xfrm>
          <a:prstGeom prst="rect">
            <a:avLst/>
          </a:prstGeom>
          <a:noFill/>
        </p:spPr>
        <p:txBody>
          <a:bodyPr wrap="square" lIns="18288" rIns="18288" tIns="18288" bIns="18288" anchor="t">
            <a:spAutoFit/>
          </a:bodyPr>
          <a:lstStyle/>
          <a:p>
            <a:pPr algn="ctr"/>
            <a:r>
              <a:rPr sz="1400" b="1">
                <a:solidFill>
                  <a:srgbClr val="5E8BFF"/>
                </a:solidFill>
                <a:latin typeface="Aptos"/>
              </a:rPr>
              <a:t>BASE</a:t>
            </a:r>
          </a:p>
        </p:txBody>
      </p:sp>
      <p:sp>
        <p:nvSpPr>
          <p:cNvPr id="8" name="TextBox 7"/>
          <p:cNvSpPr txBox="1"/>
          <p:nvPr/>
        </p:nvSpPr>
        <p:spPr>
          <a:xfrm>
            <a:off x="777240" y="3172968"/>
            <a:ext cx="1600200" cy="256032"/>
          </a:xfrm>
          <a:prstGeom prst="rect">
            <a:avLst/>
          </a:prstGeom>
          <a:noFill/>
        </p:spPr>
        <p:txBody>
          <a:bodyPr wrap="square" lIns="18288" rIns="18288" tIns="18288" bIns="18288" anchor="t">
            <a:spAutoFit/>
          </a:bodyPr>
          <a:lstStyle/>
          <a:p>
            <a:pPr algn="ctr"/>
            <a:r>
              <a:rPr sz="1000" b="0">
                <a:solidFill>
                  <a:srgbClr val="AAB8CC"/>
                </a:solidFill>
                <a:latin typeface="Aptos"/>
              </a:rPr>
              <a:t>immutable revision</a:t>
            </a:r>
          </a:p>
        </p:txBody>
      </p:sp>
      <p:sp>
        <p:nvSpPr>
          <p:cNvPr id="9" name="Rounded Rectangle 8"/>
          <p:cNvSpPr/>
          <p:nvPr/>
        </p:nvSpPr>
        <p:spPr>
          <a:xfrm>
            <a:off x="2880360" y="2423160"/>
            <a:ext cx="1874519" cy="132588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2679191"/>
            <a:ext cx="1600200" cy="274320"/>
          </a:xfrm>
          <a:prstGeom prst="rect">
            <a:avLst/>
          </a:prstGeom>
          <a:noFill/>
        </p:spPr>
        <p:txBody>
          <a:bodyPr wrap="square" lIns="18288" rIns="18288" tIns="18288" bIns="18288" anchor="t">
            <a:spAutoFit/>
          </a:bodyPr>
          <a:lstStyle/>
          <a:p>
            <a:pPr algn="ctr"/>
            <a:r>
              <a:rPr sz="1400" b="1">
                <a:solidFill>
                  <a:srgbClr val="4DD9E7"/>
                </a:solidFill>
                <a:latin typeface="Aptos"/>
              </a:rPr>
              <a:t>CANDIDATE</a:t>
            </a:r>
          </a:p>
        </p:txBody>
      </p:sp>
      <p:sp>
        <p:nvSpPr>
          <p:cNvPr id="11" name="TextBox 10"/>
          <p:cNvSpPr txBox="1"/>
          <p:nvPr/>
        </p:nvSpPr>
        <p:spPr>
          <a:xfrm>
            <a:off x="3017520" y="3172968"/>
            <a:ext cx="1600200" cy="256032"/>
          </a:xfrm>
          <a:prstGeom prst="rect">
            <a:avLst/>
          </a:prstGeom>
          <a:noFill/>
        </p:spPr>
        <p:txBody>
          <a:bodyPr wrap="square" lIns="18288" rIns="18288" tIns="18288" bIns="18288" anchor="t">
            <a:spAutoFit/>
          </a:bodyPr>
          <a:lstStyle/>
          <a:p>
            <a:pPr algn="ctr"/>
            <a:r>
              <a:rPr sz="1000" b="0">
                <a:solidFill>
                  <a:srgbClr val="AAB8CC"/>
                </a:solidFill>
                <a:latin typeface="Aptos"/>
              </a:rPr>
              <a:t>whole workspace</a:t>
            </a:r>
          </a:p>
        </p:txBody>
      </p:sp>
      <p:sp>
        <p:nvSpPr>
          <p:cNvPr id="12" name="Rounded Rectangle 11"/>
          <p:cNvSpPr/>
          <p:nvPr/>
        </p:nvSpPr>
        <p:spPr>
          <a:xfrm>
            <a:off x="5120640" y="2423160"/>
            <a:ext cx="1874519" cy="132588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679191"/>
            <a:ext cx="1600200" cy="274320"/>
          </a:xfrm>
          <a:prstGeom prst="rect">
            <a:avLst/>
          </a:prstGeom>
          <a:noFill/>
        </p:spPr>
        <p:txBody>
          <a:bodyPr wrap="square" lIns="18288" rIns="18288" tIns="18288" bIns="18288" anchor="t">
            <a:spAutoFit/>
          </a:bodyPr>
          <a:lstStyle/>
          <a:p>
            <a:pPr algn="ctr"/>
            <a:r>
              <a:rPr sz="1400" b="1">
                <a:solidFill>
                  <a:srgbClr val="4DD9E7"/>
                </a:solidFill>
                <a:latin typeface="Aptos"/>
              </a:rPr>
              <a:t>VALIDATE</a:t>
            </a:r>
          </a:p>
        </p:txBody>
      </p:sp>
      <p:sp>
        <p:nvSpPr>
          <p:cNvPr id="14" name="TextBox 13"/>
          <p:cNvSpPr txBox="1"/>
          <p:nvPr/>
        </p:nvSpPr>
        <p:spPr>
          <a:xfrm>
            <a:off x="5257800" y="3172968"/>
            <a:ext cx="1600200" cy="256032"/>
          </a:xfrm>
          <a:prstGeom prst="rect">
            <a:avLst/>
          </a:prstGeom>
          <a:noFill/>
        </p:spPr>
        <p:txBody>
          <a:bodyPr wrap="square" lIns="18288" rIns="18288" tIns="18288" bIns="18288" anchor="t">
            <a:spAutoFit/>
          </a:bodyPr>
          <a:lstStyle/>
          <a:p>
            <a:pPr algn="ctr"/>
            <a:r>
              <a:rPr sz="1000" b="0">
                <a:solidFill>
                  <a:srgbClr val="AAB8CC"/>
                </a:solidFill>
                <a:latin typeface="Aptos"/>
              </a:rPr>
              <a:t>static • impact • behavior • policy</a:t>
            </a:r>
          </a:p>
        </p:txBody>
      </p:sp>
      <p:cxnSp>
        <p:nvCxnSpPr>
          <p:cNvPr id="15" name="Connector 14"/>
          <p:cNvCxnSpPr/>
          <p:nvPr/>
        </p:nvCxnSpPr>
        <p:spPr>
          <a:xfrm>
            <a:off x="2542032" y="3090672"/>
            <a:ext cx="246888" cy="0"/>
          </a:xfrm>
          <a:prstGeom prst="line">
            <a:avLst/>
          </a:prstGeom>
          <a:ln w="25400">
            <a:solidFill>
              <a:srgbClr val="5E8B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782312" y="3090672"/>
            <a:ext cx="246888"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013448" y="2057400"/>
            <a:ext cx="530352" cy="731520"/>
          </a:xfrm>
          <a:prstGeom prst="line">
            <a:avLst/>
          </a:prstGeom>
          <a:ln w="25400">
            <a:solidFill>
              <a:srgbClr val="61D09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3448" y="3429000"/>
            <a:ext cx="530352" cy="886968"/>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699248" y="1508760"/>
            <a:ext cx="3246120" cy="14173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6992" y="1783080"/>
            <a:ext cx="2743200" cy="320040"/>
          </a:xfrm>
          <a:prstGeom prst="rect">
            <a:avLst/>
          </a:prstGeom>
          <a:noFill/>
        </p:spPr>
        <p:txBody>
          <a:bodyPr wrap="square" lIns="18288" rIns="18288" tIns="18288" bIns="18288" anchor="t">
            <a:spAutoFit/>
          </a:bodyPr>
          <a:lstStyle/>
          <a:p>
            <a:pPr algn="ctr"/>
            <a:r>
              <a:rPr sz="1700" b="1">
                <a:solidFill>
                  <a:srgbClr val="61D095"/>
                </a:solidFill>
                <a:latin typeface="Aptos"/>
              </a:rPr>
              <a:t>PUBLISH CHILD</a:t>
            </a:r>
          </a:p>
        </p:txBody>
      </p:sp>
      <p:sp>
        <p:nvSpPr>
          <p:cNvPr id="21" name="TextBox 20"/>
          <p:cNvSpPr txBox="1"/>
          <p:nvPr/>
        </p:nvSpPr>
        <p:spPr>
          <a:xfrm>
            <a:off x="7936992" y="2267712"/>
            <a:ext cx="2743200" cy="256032"/>
          </a:xfrm>
          <a:prstGeom prst="rect">
            <a:avLst/>
          </a:prstGeom>
          <a:noFill/>
        </p:spPr>
        <p:txBody>
          <a:bodyPr wrap="square" lIns="18288" rIns="18288" tIns="18288" bIns="18288" anchor="t">
            <a:spAutoFit/>
          </a:bodyPr>
          <a:lstStyle/>
          <a:p>
            <a:pPr algn="ctr"/>
            <a:r>
              <a:rPr sz="1000" b="0">
                <a:solidFill>
                  <a:srgbClr val="AAB8CC"/>
                </a:solidFill>
                <a:latin typeface="Aptos"/>
              </a:rPr>
              <a:t>completion evidence attached</a:t>
            </a:r>
          </a:p>
        </p:txBody>
      </p:sp>
      <p:sp>
        <p:nvSpPr>
          <p:cNvPr id="22" name="Rounded Rectangle 21"/>
          <p:cNvSpPr/>
          <p:nvPr/>
        </p:nvSpPr>
        <p:spPr>
          <a:xfrm>
            <a:off x="7699248" y="3822191"/>
            <a:ext cx="3246120" cy="1417320"/>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6992" y="4096512"/>
            <a:ext cx="2743200" cy="320040"/>
          </a:xfrm>
          <a:prstGeom prst="rect">
            <a:avLst/>
          </a:prstGeom>
          <a:noFill/>
        </p:spPr>
        <p:txBody>
          <a:bodyPr wrap="square" lIns="18288" rIns="18288" tIns="18288" bIns="18288" anchor="t">
            <a:spAutoFit/>
          </a:bodyPr>
          <a:lstStyle/>
          <a:p>
            <a:pPr algn="ctr"/>
            <a:r>
              <a:rPr sz="1700" b="1">
                <a:solidFill>
                  <a:srgbClr val="F07178"/>
                </a:solidFill>
                <a:latin typeface="Aptos"/>
              </a:rPr>
              <a:t>ROLL BACK</a:t>
            </a:r>
          </a:p>
        </p:txBody>
      </p:sp>
      <p:sp>
        <p:nvSpPr>
          <p:cNvPr id="24" name="TextBox 23"/>
          <p:cNvSpPr txBox="1"/>
          <p:nvPr/>
        </p:nvSpPr>
        <p:spPr>
          <a:xfrm>
            <a:off x="7936992" y="4581144"/>
            <a:ext cx="2743200" cy="256032"/>
          </a:xfrm>
          <a:prstGeom prst="rect">
            <a:avLst/>
          </a:prstGeom>
          <a:noFill/>
        </p:spPr>
        <p:txBody>
          <a:bodyPr wrap="square" lIns="18288" rIns="18288" tIns="18288" bIns="18288" anchor="t">
            <a:spAutoFit/>
          </a:bodyPr>
          <a:lstStyle/>
          <a:p>
            <a:pPr algn="ctr"/>
            <a:r>
              <a:rPr sz="1000" b="0">
                <a:solidFill>
                  <a:srgbClr val="AAB8CC"/>
                </a:solidFill>
                <a:latin typeface="Aptos"/>
              </a:rPr>
              <a:t>base remains unchanged</a:t>
            </a:r>
          </a:p>
        </p:txBody>
      </p:sp>
      <p:sp>
        <p:nvSpPr>
          <p:cNvPr id="25" name="TextBox 24"/>
          <p:cNvSpPr txBox="1"/>
          <p:nvPr/>
        </p:nvSpPr>
        <p:spPr>
          <a:xfrm>
            <a:off x="713232" y="4754880"/>
            <a:ext cx="5669280" cy="731520"/>
          </a:xfrm>
          <a:prstGeom prst="rect">
            <a:avLst/>
          </a:prstGeom>
          <a:noFill/>
        </p:spPr>
        <p:txBody>
          <a:bodyPr wrap="square" lIns="18288" rIns="18288" tIns="18288" bIns="18288" anchor="t">
            <a:spAutoFit/>
          </a:bodyPr>
          <a:lstStyle/>
          <a:p>
            <a:pPr algn="l"/>
            <a:r>
              <a:rPr sz="1500" b="1">
                <a:solidFill>
                  <a:srgbClr val="F5F7FA"/>
                </a:solidFill>
                <a:latin typeface="Aptos"/>
              </a:rPr>
              <a:t>No partial publication.
No stale completion report.
No “tests passed” detached from the final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MODEL INDEPENDENCE</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10</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Models improve. The control layer compounds.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AIL’s semantic interface is designed to serve any capable coding agent.</a:t>
            </a:r>
          </a:p>
        </p:txBody>
      </p:sp>
      <p:sp>
        <p:nvSpPr>
          <p:cNvPr id="6" name="Rounded Rectangle 5"/>
          <p:cNvSpPr/>
          <p:nvPr/>
        </p:nvSpPr>
        <p:spPr>
          <a:xfrm>
            <a:off x="777240" y="1965960"/>
            <a:ext cx="1965960" cy="8229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148840"/>
            <a:ext cx="1719072" cy="393192"/>
          </a:xfrm>
          <a:prstGeom prst="rect">
            <a:avLst/>
          </a:prstGeom>
          <a:noFill/>
        </p:spPr>
        <p:txBody>
          <a:bodyPr wrap="square" lIns="18288" rIns="18288" tIns="18288" bIns="18288" anchor="t">
            <a:spAutoFit/>
          </a:bodyPr>
          <a:lstStyle/>
          <a:p>
            <a:pPr algn="ctr"/>
            <a:r>
              <a:rPr sz="1200" b="1">
                <a:solidFill>
                  <a:srgbClr val="5E8BFF"/>
                </a:solidFill>
                <a:latin typeface="Aptos"/>
              </a:rPr>
              <a:t>FRONTIER
MODEL</a:t>
            </a:r>
          </a:p>
        </p:txBody>
      </p:sp>
      <p:cxnSp>
        <p:nvCxnSpPr>
          <p:cNvPr id="8" name="Connector 7"/>
          <p:cNvCxnSpPr/>
          <p:nvPr/>
        </p:nvCxnSpPr>
        <p:spPr>
          <a:xfrm>
            <a:off x="2788920" y="2377440"/>
            <a:ext cx="1234440" cy="1252728"/>
          </a:xfrm>
          <a:prstGeom prst="line">
            <a:avLst/>
          </a:prstGeom>
          <a:ln w="19050">
            <a:solidFill>
              <a:srgbClr val="5E8BF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77240" y="3218688"/>
            <a:ext cx="1965960" cy="8229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3401568"/>
            <a:ext cx="1719072" cy="393192"/>
          </a:xfrm>
          <a:prstGeom prst="rect">
            <a:avLst/>
          </a:prstGeom>
          <a:noFill/>
        </p:spPr>
        <p:txBody>
          <a:bodyPr wrap="square" lIns="18288" rIns="18288" tIns="18288" bIns="18288" anchor="t">
            <a:spAutoFit/>
          </a:bodyPr>
          <a:lstStyle/>
          <a:p>
            <a:pPr algn="ctr"/>
            <a:r>
              <a:rPr sz="1200" b="1">
                <a:solidFill>
                  <a:srgbClr val="5E8BFF"/>
                </a:solidFill>
                <a:latin typeface="Aptos"/>
              </a:rPr>
              <a:t>OPEN
MODEL</a:t>
            </a:r>
          </a:p>
        </p:txBody>
      </p:sp>
      <p:cxnSp>
        <p:nvCxnSpPr>
          <p:cNvPr id="11" name="Connector 10"/>
          <p:cNvCxnSpPr/>
          <p:nvPr/>
        </p:nvCxnSpPr>
        <p:spPr>
          <a:xfrm>
            <a:off x="2788920" y="3630168"/>
            <a:ext cx="1234440" cy="0"/>
          </a:xfrm>
          <a:prstGeom prst="line">
            <a:avLst/>
          </a:prstGeom>
          <a:ln w="19050">
            <a:solidFill>
              <a:srgbClr val="5E8B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4471416"/>
            <a:ext cx="1965960" cy="8229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654296"/>
            <a:ext cx="1719072" cy="393192"/>
          </a:xfrm>
          <a:prstGeom prst="rect">
            <a:avLst/>
          </a:prstGeom>
          <a:noFill/>
        </p:spPr>
        <p:txBody>
          <a:bodyPr wrap="square" lIns="18288" rIns="18288" tIns="18288" bIns="18288" anchor="t">
            <a:spAutoFit/>
          </a:bodyPr>
          <a:lstStyle/>
          <a:p>
            <a:pPr algn="ctr"/>
            <a:r>
              <a:rPr sz="1200" b="1">
                <a:solidFill>
                  <a:srgbClr val="5E8BFF"/>
                </a:solidFill>
                <a:latin typeface="Aptos"/>
              </a:rPr>
              <a:t>SPECIALIZED
MODEL</a:t>
            </a:r>
          </a:p>
        </p:txBody>
      </p:sp>
      <p:cxnSp>
        <p:nvCxnSpPr>
          <p:cNvPr id="14" name="Connector 13"/>
          <p:cNvCxnSpPr/>
          <p:nvPr/>
        </p:nvCxnSpPr>
        <p:spPr>
          <a:xfrm flipV="1">
            <a:off x="2788920" y="3630168"/>
            <a:ext cx="1234440" cy="1252728"/>
          </a:xfrm>
          <a:prstGeom prst="line">
            <a:avLst/>
          </a:prstGeom>
          <a:ln w="19050">
            <a:solidFill>
              <a:srgbClr val="5E8BF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133087" y="2212848"/>
            <a:ext cx="3108960" cy="2852928"/>
          </a:xfrm>
          <a:prstGeom prst="roundRect">
            <a:avLst>
              <a:gd name="adj" fmla="val 8000"/>
            </a:avLst>
          </a:prstGeom>
          <a:solidFill>
            <a:srgbClr val="17263C"/>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2578608"/>
            <a:ext cx="2514600" cy="411480"/>
          </a:xfrm>
          <a:prstGeom prst="rect">
            <a:avLst/>
          </a:prstGeom>
          <a:noFill/>
        </p:spPr>
        <p:txBody>
          <a:bodyPr wrap="square" lIns="18288" rIns="18288" tIns="18288" bIns="18288" anchor="t">
            <a:spAutoFit/>
          </a:bodyPr>
          <a:lstStyle/>
          <a:p>
            <a:pPr algn="ctr"/>
            <a:r>
              <a:rPr sz="1900" b="1">
                <a:solidFill>
                  <a:srgbClr val="4DD9E7"/>
                </a:solidFill>
                <a:latin typeface="Aptos"/>
              </a:rPr>
              <a:t>AIL SEMANTIC API</a:t>
            </a:r>
          </a:p>
        </p:txBody>
      </p:sp>
      <p:sp>
        <p:nvSpPr>
          <p:cNvPr id="17" name="TextBox 16"/>
          <p:cNvSpPr txBox="1"/>
          <p:nvPr/>
        </p:nvSpPr>
        <p:spPr>
          <a:xfrm>
            <a:off x="4480560" y="3319272"/>
            <a:ext cx="2423160" cy="1097280"/>
          </a:xfrm>
          <a:prstGeom prst="rect">
            <a:avLst/>
          </a:prstGeom>
          <a:noFill/>
        </p:spPr>
        <p:txBody>
          <a:bodyPr wrap="square" lIns="18288" rIns="18288" tIns="18288" bIns="18288" anchor="t">
            <a:spAutoFit/>
          </a:bodyPr>
          <a:lstStyle/>
          <a:p>
            <a:pPr algn="ctr"/>
            <a:r>
              <a:rPr sz="1300" b="0">
                <a:solidFill>
                  <a:srgbClr val="F5F7FA"/>
                </a:solidFill>
                <a:latin typeface="Aptos"/>
              </a:rPr>
              <a:t>revision-bound facts
deterministic queries
validated operations</a:t>
            </a:r>
          </a:p>
        </p:txBody>
      </p:sp>
      <p:cxnSp>
        <p:nvCxnSpPr>
          <p:cNvPr id="18" name="Connector 17"/>
          <p:cNvCxnSpPr/>
          <p:nvPr/>
        </p:nvCxnSpPr>
        <p:spPr>
          <a:xfrm flipV="1">
            <a:off x="7296912" y="2414016"/>
            <a:ext cx="1161288" cy="1216152"/>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613648" y="2029968"/>
            <a:ext cx="2240280" cy="768096"/>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23376" y="2249424"/>
            <a:ext cx="2011680" cy="237744"/>
          </a:xfrm>
          <a:prstGeom prst="rect">
            <a:avLst/>
          </a:prstGeom>
          <a:noFill/>
        </p:spPr>
        <p:txBody>
          <a:bodyPr wrap="square" lIns="18288" rIns="18288" tIns="18288" bIns="18288" anchor="t">
            <a:spAutoFit/>
          </a:bodyPr>
          <a:lstStyle/>
          <a:p>
            <a:pPr algn="ctr"/>
            <a:r>
              <a:rPr sz="1100" b="1">
                <a:solidFill>
                  <a:srgbClr val="61D095"/>
                </a:solidFill>
                <a:latin typeface="Aptos"/>
              </a:rPr>
              <a:t>VALIDATED OPERATION</a:t>
            </a:r>
          </a:p>
        </p:txBody>
      </p:sp>
      <p:cxnSp>
        <p:nvCxnSpPr>
          <p:cNvPr id="21" name="Connector 20"/>
          <p:cNvCxnSpPr/>
          <p:nvPr/>
        </p:nvCxnSpPr>
        <p:spPr>
          <a:xfrm>
            <a:off x="7296912" y="3630168"/>
            <a:ext cx="1161288" cy="18288"/>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13648" y="3264408"/>
            <a:ext cx="2240280" cy="768096"/>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376" y="3483863"/>
            <a:ext cx="2011680" cy="237744"/>
          </a:xfrm>
          <a:prstGeom prst="rect">
            <a:avLst/>
          </a:prstGeom>
          <a:noFill/>
        </p:spPr>
        <p:txBody>
          <a:bodyPr wrap="square" lIns="18288" rIns="18288" tIns="18288" bIns="18288" anchor="t">
            <a:spAutoFit/>
          </a:bodyPr>
          <a:lstStyle/>
          <a:p>
            <a:pPr algn="ctr"/>
            <a:r>
              <a:rPr sz="1100" b="1">
                <a:solidFill>
                  <a:srgbClr val="61D095"/>
                </a:solidFill>
                <a:latin typeface="Aptos"/>
              </a:rPr>
              <a:t>REVIEW EVIDENCE</a:t>
            </a:r>
          </a:p>
        </p:txBody>
      </p:sp>
      <p:cxnSp>
        <p:nvCxnSpPr>
          <p:cNvPr id="24" name="Connector 23"/>
          <p:cNvCxnSpPr/>
          <p:nvPr/>
        </p:nvCxnSpPr>
        <p:spPr>
          <a:xfrm>
            <a:off x="7296912" y="3630168"/>
            <a:ext cx="1161288" cy="1252728"/>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613648" y="4498848"/>
            <a:ext cx="2240280" cy="768096"/>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23376" y="4718304"/>
            <a:ext cx="2011680" cy="237744"/>
          </a:xfrm>
          <a:prstGeom prst="rect">
            <a:avLst/>
          </a:prstGeom>
          <a:noFill/>
        </p:spPr>
        <p:txBody>
          <a:bodyPr wrap="square" lIns="18288" rIns="18288" tIns="18288" bIns="18288" anchor="t">
            <a:spAutoFit/>
          </a:bodyPr>
          <a:lstStyle/>
          <a:p>
            <a:pPr algn="ctr"/>
            <a:r>
              <a:rPr sz="1100" b="1">
                <a:solidFill>
                  <a:srgbClr val="61D095"/>
                </a:solidFill>
                <a:latin typeface="Aptos"/>
              </a:rPr>
              <a:t>POLICY RESULT</a:t>
            </a:r>
          </a:p>
        </p:txBody>
      </p:sp>
      <p:sp>
        <p:nvSpPr>
          <p:cNvPr id="27" name="TextBox 26"/>
          <p:cNvSpPr txBox="1"/>
          <p:nvPr/>
        </p:nvSpPr>
        <p:spPr>
          <a:xfrm>
            <a:off x="768096" y="5779008"/>
            <a:ext cx="10241280" cy="310896"/>
          </a:xfrm>
          <a:prstGeom prst="rect">
            <a:avLst/>
          </a:prstGeom>
          <a:noFill/>
        </p:spPr>
        <p:txBody>
          <a:bodyPr wrap="square" lIns="18288" rIns="18288" tIns="18288" bIns="18288" anchor="t">
            <a:spAutoFit/>
          </a:bodyPr>
          <a:lstStyle/>
          <a:p>
            <a:pPr algn="ctr"/>
            <a:r>
              <a:rPr sz="1200" b="0">
                <a:solidFill>
                  <a:srgbClr val="AAB8CC"/>
                </a:solidFill>
                <a:latin typeface="Aptos"/>
              </a:rPr>
              <a:t>Not a prompt format. Not tied to one model vendor. Canonical source stays portable and auditable.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ECONOMIC HYPOTHESIS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11</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The leverage is in the total cost of a correct change</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Bounded mechanisms execute as specified. Comparative advantage remains to be measured.</a:t>
            </a:r>
          </a:p>
        </p:txBody>
      </p:sp>
      <p:sp>
        <p:nvSpPr>
          <p:cNvPr id="6" name="Rectangle 5"/>
          <p:cNvSpPr/>
          <p:nvPr/>
        </p:nvSpPr>
        <p:spPr>
          <a:xfrm>
            <a:off x="594360" y="3063240"/>
            <a:ext cx="1508760" cy="1737360"/>
          </a:xfrm>
          <a:prstGeom prst="rect">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GENERATION</a:t>
            </a:r>
          </a:p>
        </p:txBody>
      </p:sp>
      <p:sp>
        <p:nvSpPr>
          <p:cNvPr id="8" name="TextBox 7"/>
          <p:cNvSpPr txBox="1"/>
          <p:nvPr/>
        </p:nvSpPr>
        <p:spPr>
          <a:xfrm>
            <a:off x="713232"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already falling</a:t>
            </a:r>
          </a:p>
        </p:txBody>
      </p:sp>
      <p:sp>
        <p:nvSpPr>
          <p:cNvPr id="9" name="Rectangle 8"/>
          <p:cNvSpPr/>
          <p:nvPr/>
        </p:nvSpPr>
        <p:spPr>
          <a:xfrm>
            <a:off x="2496312" y="3063240"/>
            <a:ext cx="1508760" cy="1737360"/>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9464"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CONTEXT</a:t>
            </a:r>
          </a:p>
        </p:txBody>
      </p:sp>
      <p:sp>
        <p:nvSpPr>
          <p:cNvPr id="11" name="TextBox 10"/>
          <p:cNvSpPr txBox="1"/>
          <p:nvPr/>
        </p:nvSpPr>
        <p:spPr>
          <a:xfrm>
            <a:off x="2615184"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query, don’t rediscover</a:t>
            </a:r>
          </a:p>
        </p:txBody>
      </p:sp>
      <p:sp>
        <p:nvSpPr>
          <p:cNvPr id="12" name="Rectangle 11"/>
          <p:cNvSpPr/>
          <p:nvPr/>
        </p:nvSpPr>
        <p:spPr>
          <a:xfrm>
            <a:off x="4398264" y="3063240"/>
            <a:ext cx="1508760" cy="1737360"/>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1416"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CONSEQUENCE</a:t>
            </a:r>
          </a:p>
        </p:txBody>
      </p:sp>
      <p:sp>
        <p:nvSpPr>
          <p:cNvPr id="14" name="TextBox 13"/>
          <p:cNvSpPr txBox="1"/>
          <p:nvPr/>
        </p:nvSpPr>
        <p:spPr>
          <a:xfrm>
            <a:off x="4517136"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exact impact + authority</a:t>
            </a:r>
          </a:p>
        </p:txBody>
      </p:sp>
      <p:sp>
        <p:nvSpPr>
          <p:cNvPr id="15" name="Rectangle 14"/>
          <p:cNvSpPr/>
          <p:nvPr/>
        </p:nvSpPr>
        <p:spPr>
          <a:xfrm>
            <a:off x="6300216" y="3063240"/>
            <a:ext cx="1508760" cy="1737360"/>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REPAIR</a:t>
            </a:r>
          </a:p>
        </p:txBody>
      </p:sp>
      <p:sp>
        <p:nvSpPr>
          <p:cNvPr id="17" name="TextBox 16"/>
          <p:cNvSpPr txBox="1"/>
          <p:nvPr/>
        </p:nvSpPr>
        <p:spPr>
          <a:xfrm>
            <a:off x="6419088"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structured causes</a:t>
            </a:r>
          </a:p>
        </p:txBody>
      </p:sp>
      <p:sp>
        <p:nvSpPr>
          <p:cNvPr id="18" name="Rectangle 17"/>
          <p:cNvSpPr/>
          <p:nvPr/>
        </p:nvSpPr>
        <p:spPr>
          <a:xfrm>
            <a:off x="8202168" y="3063240"/>
            <a:ext cx="1508760" cy="1737360"/>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REGRESSION</a:t>
            </a:r>
          </a:p>
        </p:txBody>
      </p:sp>
      <p:sp>
        <p:nvSpPr>
          <p:cNvPr id="20" name="TextBox 19"/>
          <p:cNvSpPr txBox="1"/>
          <p:nvPr/>
        </p:nvSpPr>
        <p:spPr>
          <a:xfrm>
            <a:off x="8321040"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policy before publish</a:t>
            </a:r>
          </a:p>
        </p:txBody>
      </p:sp>
      <p:sp>
        <p:nvSpPr>
          <p:cNvPr id="21" name="Rectangle 20"/>
          <p:cNvSpPr/>
          <p:nvPr/>
        </p:nvSpPr>
        <p:spPr>
          <a:xfrm>
            <a:off x="10104120" y="3063240"/>
            <a:ext cx="1508760" cy="1737360"/>
          </a:xfrm>
          <a:prstGeom prst="rect">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77272"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REVIEW</a:t>
            </a:r>
          </a:p>
        </p:txBody>
      </p:sp>
      <p:sp>
        <p:nvSpPr>
          <p:cNvPr id="23" name="TextBox 22"/>
          <p:cNvSpPr txBox="1"/>
          <p:nvPr/>
        </p:nvSpPr>
        <p:spPr>
          <a:xfrm>
            <a:off x="10222992"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bound evidence</a:t>
            </a:r>
          </a:p>
        </p:txBody>
      </p:sp>
      <p:cxnSp>
        <p:nvCxnSpPr>
          <p:cNvPr id="24" name="Connector 23"/>
          <p:cNvCxnSpPr/>
          <p:nvPr/>
        </p:nvCxnSpPr>
        <p:spPr>
          <a:xfrm>
            <a:off x="594360" y="4956048"/>
            <a:ext cx="10469880" cy="0"/>
          </a:xfrm>
          <a:prstGeom prst="line">
            <a:avLst/>
          </a:prstGeom>
          <a:ln w="12700">
            <a:solidFill>
              <a:srgbClr val="AAB8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6" y="5230368"/>
            <a:ext cx="10424160" cy="384048"/>
          </a:xfrm>
          <a:prstGeom prst="rect">
            <a:avLst/>
          </a:prstGeom>
          <a:noFill/>
        </p:spPr>
        <p:txBody>
          <a:bodyPr wrap="square" lIns="18288" rIns="18288" tIns="18288" bIns="18288" anchor="t">
            <a:spAutoFit/>
          </a:bodyPr>
          <a:lstStyle/>
          <a:p>
            <a:pPr algn="ctr"/>
            <a:r>
              <a:rPr sz="1300" b="1">
                <a:solidFill>
                  <a:srgbClr val="F5B942"/>
                </a:solidFill>
                <a:latin typeface="Aptos"/>
              </a:rPr>
              <a:t>HYPOTHESIS: lower tokens + elapsed time + retries + regressions + reviewer effort at equal correctness</a:t>
            </a:r>
          </a:p>
        </p:txBody>
      </p:sp>
      <p:sp>
        <p:nvSpPr>
          <p:cNvPr id="26" name="TextBox 25"/>
          <p:cNvSpPr txBox="1"/>
          <p:nvPr/>
        </p:nvSpPr>
        <p:spPr>
          <a:xfrm>
            <a:off x="630936" y="5760720"/>
            <a:ext cx="10424160" cy="274320"/>
          </a:xfrm>
          <a:prstGeom prst="rect">
            <a:avLst/>
          </a:prstGeom>
          <a:noFill/>
        </p:spPr>
        <p:txBody>
          <a:bodyPr wrap="square" lIns="18288" rIns="18288" tIns="18288" bIns="18288" anchor="t">
            <a:spAutoFit/>
          </a:bodyPr>
          <a:lstStyle/>
          <a:p>
            <a:pPr algn="ctr"/>
            <a:r>
              <a:rPr sz="1100" b="0">
                <a:solidFill>
                  <a:srgbClr val="F07178"/>
                </a:solidFill>
                <a:latin typeface="Aptos"/>
              </a:rPr>
              <a:t>No speedup or ROI number is claimed today.</a:t>
            </a:r>
          </a:p>
        </p:txBody>
      </p:sp>
      <p:sp>
        <p:nvSpPr>
          <p:cNvPr id="27" name="TextBox 26"/>
          <p:cNvSpPr txBox="1"/>
          <p:nvPr/>
        </p:nvSpPr>
        <p:spPr>
          <a:xfrm>
            <a:off x="658368" y="2724912"/>
            <a:ext cx="3657600" cy="219456"/>
          </a:xfrm>
          <a:prstGeom prst="rect">
            <a:avLst/>
          </a:prstGeom>
          <a:noFill/>
        </p:spPr>
        <p:txBody>
          <a:bodyPr wrap="square" lIns="18288" rIns="18288" tIns="18288" bIns="18288" anchor="t">
            <a:spAutoFit/>
          </a:bodyPr>
          <a:lstStyle/>
          <a:p>
            <a:pPr algn="l"/>
            <a:r>
              <a:rPr sz="850" b="1">
                <a:solidFill>
                  <a:srgbClr val="F5B942"/>
                </a:solidFill>
                <a:latin typeface="Aptos"/>
              </a:rPr>
              <a:t>COMPONENTS SHOWN EQUALLY — NOT TO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BEACHHEAD + DEFENSIBILITY</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12</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Start where agent autonomy is already the operating model</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Buyer and adoption path are hypotheses to validate with design partners.</a:t>
            </a:r>
          </a:p>
        </p:txBody>
      </p:sp>
      <p:sp>
        <p:nvSpPr>
          <p:cNvPr id="6" name="Rounded Rectangle 5"/>
          <p:cNvSpPr/>
          <p:nvPr/>
        </p:nvSpPr>
        <p:spPr>
          <a:xfrm>
            <a:off x="640080" y="1828800"/>
            <a:ext cx="3383280" cy="3474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64008" cy="3474720"/>
          </a:xfrm>
          <a:prstGeom prst="rect">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011680"/>
            <a:ext cx="3035808" cy="310896"/>
          </a:xfrm>
          <a:prstGeom prst="rect">
            <a:avLst/>
          </a:prstGeom>
          <a:noFill/>
        </p:spPr>
        <p:txBody>
          <a:bodyPr wrap="square" lIns="18288" rIns="18288" tIns="18288" bIns="18288" anchor="t">
            <a:spAutoFit/>
          </a:bodyPr>
          <a:lstStyle/>
          <a:p>
            <a:pPr algn="l"/>
            <a:r>
              <a:rPr sz="1600" b="1">
                <a:solidFill>
                  <a:srgbClr val="F5F7FA"/>
                </a:solidFill>
                <a:latin typeface="Aptos"/>
              </a:rPr>
              <a:t>BEACHHEAD</a:t>
            </a:r>
          </a:p>
        </p:txBody>
      </p:sp>
      <p:sp>
        <p:nvSpPr>
          <p:cNvPr id="9" name="TextBox 8"/>
          <p:cNvSpPr txBox="1"/>
          <p:nvPr/>
        </p:nvSpPr>
        <p:spPr>
          <a:xfrm>
            <a:off x="841247" y="2468880"/>
            <a:ext cx="3035808" cy="2724912"/>
          </a:xfrm>
          <a:prstGeom prst="rect">
            <a:avLst/>
          </a:prstGeom>
          <a:noFill/>
        </p:spPr>
        <p:txBody>
          <a:bodyPr wrap="square" lIns="18288" rIns="18288" tIns="18288" bIns="18288" anchor="t">
            <a:spAutoFit/>
          </a:bodyPr>
          <a:lstStyle/>
          <a:p>
            <a:pPr algn="l"/>
            <a:r>
              <a:rPr sz="1200" b="0">
                <a:solidFill>
                  <a:srgbClr val="AAB8CC"/>
                </a:solidFill>
                <a:latin typeface="Aptos"/>
              </a:rPr>
              <a:t>Greenfield backend services and workers
Buyer hypothesis:
Engineering leaders running agent-primary delivery
Entry point:
Compiler-guided validation in bounded service pilots</a:t>
            </a:r>
          </a:p>
        </p:txBody>
      </p:sp>
      <p:sp>
        <p:nvSpPr>
          <p:cNvPr id="10" name="Rounded Rectangle 9"/>
          <p:cNvSpPr/>
          <p:nvPr/>
        </p:nvSpPr>
        <p:spPr>
          <a:xfrm>
            <a:off x="4407408" y="1828800"/>
            <a:ext cx="3383280" cy="3474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1828800"/>
            <a:ext cx="64008" cy="3474720"/>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8576" y="2011680"/>
            <a:ext cx="3035808" cy="310896"/>
          </a:xfrm>
          <a:prstGeom prst="rect">
            <a:avLst/>
          </a:prstGeom>
          <a:noFill/>
        </p:spPr>
        <p:txBody>
          <a:bodyPr wrap="square" lIns="18288" rIns="18288" tIns="18288" bIns="18288" anchor="t">
            <a:spAutoFit/>
          </a:bodyPr>
          <a:lstStyle/>
          <a:p>
            <a:pPr algn="l"/>
            <a:r>
              <a:rPr sz="1600" b="1">
                <a:solidFill>
                  <a:srgbClr val="F5F7FA"/>
                </a:solidFill>
                <a:latin typeface="Aptos"/>
              </a:rPr>
              <a:t>WHY A LANGUAGE</a:t>
            </a:r>
          </a:p>
        </p:txBody>
      </p:sp>
      <p:sp>
        <p:nvSpPr>
          <p:cNvPr id="13" name="TextBox 12"/>
          <p:cNvSpPr txBox="1"/>
          <p:nvPr/>
        </p:nvSpPr>
        <p:spPr>
          <a:xfrm>
            <a:off x="4608576" y="2468880"/>
            <a:ext cx="3035808" cy="2724912"/>
          </a:xfrm>
          <a:prstGeom prst="rect">
            <a:avLst/>
          </a:prstGeom>
          <a:noFill/>
        </p:spPr>
        <p:txBody>
          <a:bodyPr wrap="square" lIns="18288" rIns="18288" tIns="18288" bIns="18288" anchor="t">
            <a:spAutoFit/>
          </a:bodyPr>
          <a:lstStyle/>
          <a:p>
            <a:pPr algn="l"/>
            <a:r>
              <a:rPr sz="1150" b="0">
                <a:solidFill>
                  <a:srgbClr val="AAB8CC"/>
                </a:solidFill>
                <a:latin typeface="Aptos"/>
              </a:rPr>
              <a:t>Existing-language tools can improve retrieval and analysis.
AIL is justified only where canonical semantics, explicit authority, deterministic behavior, and complete supported impact cannot be added reliably through compatibility-bound tooling.</a:t>
            </a:r>
          </a:p>
        </p:txBody>
      </p:sp>
      <p:sp>
        <p:nvSpPr>
          <p:cNvPr id="14" name="Rounded Rectangle 13"/>
          <p:cNvSpPr/>
          <p:nvPr/>
        </p:nvSpPr>
        <p:spPr>
          <a:xfrm>
            <a:off x="8174736" y="1828800"/>
            <a:ext cx="3383280" cy="3474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74736" y="1828800"/>
            <a:ext cx="64008" cy="3474720"/>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011680"/>
            <a:ext cx="3035808" cy="310896"/>
          </a:xfrm>
          <a:prstGeom prst="rect">
            <a:avLst/>
          </a:prstGeom>
          <a:noFill/>
        </p:spPr>
        <p:txBody>
          <a:bodyPr wrap="square" lIns="18288" rIns="18288" tIns="18288" bIns="18288" anchor="t">
            <a:spAutoFit/>
          </a:bodyPr>
          <a:lstStyle/>
          <a:p>
            <a:pPr algn="l"/>
            <a:r>
              <a:rPr sz="1600" b="1">
                <a:solidFill>
                  <a:srgbClr val="F5F7FA"/>
                </a:solidFill>
                <a:latin typeface="Aptos"/>
              </a:rPr>
              <a:t>HOW DEFENSIBILITY CAN COMPOUND</a:t>
            </a:r>
          </a:p>
        </p:txBody>
      </p:sp>
      <p:sp>
        <p:nvSpPr>
          <p:cNvPr id="17" name="TextBox 16"/>
          <p:cNvSpPr txBox="1"/>
          <p:nvPr/>
        </p:nvSpPr>
        <p:spPr>
          <a:xfrm>
            <a:off x="8375904" y="2468880"/>
            <a:ext cx="3035808" cy="2724912"/>
          </a:xfrm>
          <a:prstGeom prst="rect">
            <a:avLst/>
          </a:prstGeom>
          <a:noFill/>
        </p:spPr>
        <p:txBody>
          <a:bodyPr wrap="square" lIns="18288" rIns="18288" tIns="18288" bIns="18288" anchor="t">
            <a:spAutoFit/>
          </a:bodyPr>
          <a:lstStyle/>
          <a:p>
            <a:pPr algn="l"/>
            <a:r>
              <a:rPr sz="1150" b="0">
                <a:solidFill>
                  <a:srgbClr val="AAB8CC"/>
                </a:solidFill>
                <a:latin typeface="Aptos"/>
              </a:rPr>
              <a:t>Built: compiler • contracts • semantic graph • adversarial fixtures
To build: held-out workloads • design-partner policy • integrations • production runtime • adoption</a:t>
            </a:r>
          </a:p>
        </p:txBody>
      </p:sp>
      <p:sp>
        <p:nvSpPr>
          <p:cNvPr id="18" name="TextBox 17"/>
          <p:cNvSpPr txBox="1"/>
          <p:nvPr/>
        </p:nvSpPr>
        <p:spPr>
          <a:xfrm>
            <a:off x="731520" y="5660136"/>
            <a:ext cx="10698480" cy="365760"/>
          </a:xfrm>
          <a:prstGeom prst="rect">
            <a:avLst/>
          </a:prstGeom>
          <a:noFill/>
        </p:spPr>
        <p:txBody>
          <a:bodyPr wrap="square" lIns="18288" rIns="18288" tIns="18288" bIns="18288" anchor="t">
            <a:spAutoFit/>
          </a:bodyPr>
          <a:lstStyle/>
          <a:p>
            <a:pPr algn="ctr"/>
            <a:r>
              <a:rPr sz="1100" b="1">
                <a:solidFill>
                  <a:srgbClr val="F5B942"/>
                </a:solidFill>
                <a:latin typeface="Aptos"/>
              </a:rPr>
              <a:t>No customer adoption, proprietary workload access, or switching-cost claim is made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ROADMAP</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13</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Mechanism first. Economics next. Production only when justified.</a:t>
            </a:r>
          </a:p>
        </p:txBody>
      </p:sp>
      <p:sp>
        <p:nvSpPr>
          <p:cNvPr id="5" name="Rounded Rectangle 4"/>
          <p:cNvSpPr/>
          <p:nvPr/>
        </p:nvSpPr>
        <p:spPr>
          <a:xfrm>
            <a:off x="640080" y="1828800"/>
            <a:ext cx="1005840"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DONE</a:t>
            </a:r>
          </a:p>
        </p:txBody>
      </p:sp>
      <p:sp>
        <p:nvSpPr>
          <p:cNvPr id="7" name="Rounded Rectangle 6"/>
          <p:cNvSpPr/>
          <p:nvPr/>
        </p:nvSpPr>
        <p:spPr>
          <a:xfrm>
            <a:off x="640080" y="2359152"/>
            <a:ext cx="2423160" cy="260604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624328"/>
            <a:ext cx="2057400" cy="502920"/>
          </a:xfrm>
          <a:prstGeom prst="rect">
            <a:avLst/>
          </a:prstGeom>
          <a:noFill/>
        </p:spPr>
        <p:txBody>
          <a:bodyPr wrap="square" lIns="18288" rIns="18288" tIns="18288" bIns="18288" anchor="t">
            <a:spAutoFit/>
          </a:bodyPr>
          <a:lstStyle/>
          <a:p>
            <a:pPr algn="l"/>
            <a:r>
              <a:rPr sz="1700" b="1">
                <a:solidFill>
                  <a:srgbClr val="61D095"/>
                </a:solidFill>
                <a:latin typeface="Aptos"/>
              </a:rPr>
              <a:t>Bounded mechanism</a:t>
            </a:r>
          </a:p>
        </p:txBody>
      </p:sp>
      <p:sp>
        <p:nvSpPr>
          <p:cNvPr id="9" name="TextBox 8"/>
          <p:cNvSpPr txBox="1"/>
          <p:nvPr/>
        </p:nvSpPr>
        <p:spPr>
          <a:xfrm>
            <a:off x="822959"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semantic oracle
change transactions
M27 observation</a:t>
            </a:r>
          </a:p>
        </p:txBody>
      </p:sp>
      <p:cxnSp>
        <p:nvCxnSpPr>
          <p:cNvPr id="10" name="Connector 9"/>
          <p:cNvCxnSpPr/>
          <p:nvPr/>
        </p:nvCxnSpPr>
        <p:spPr>
          <a:xfrm>
            <a:off x="3090672" y="3657600"/>
            <a:ext cx="292608" cy="0"/>
          </a:xfrm>
          <a:prstGeom prst="line">
            <a:avLst/>
          </a:prstGeom>
          <a:ln w="25400">
            <a:solidFill>
              <a:srgbClr val="61D095"/>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828800"/>
            <a:ext cx="1005840" cy="310896"/>
          </a:xfrm>
          <a:prstGeom prst="roundRect">
            <a:avLst>
              <a:gd name="adj" fmla="val 45000"/>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TEST</a:t>
            </a:r>
          </a:p>
        </p:txBody>
      </p:sp>
      <p:sp>
        <p:nvSpPr>
          <p:cNvPr id="13" name="Rounded Rectangle 12"/>
          <p:cNvSpPr/>
          <p:nvPr/>
        </p:nvSpPr>
        <p:spPr>
          <a:xfrm>
            <a:off x="3474720" y="2359152"/>
            <a:ext cx="2423160" cy="260604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2624328"/>
            <a:ext cx="2057400" cy="502920"/>
          </a:xfrm>
          <a:prstGeom prst="rect">
            <a:avLst/>
          </a:prstGeom>
          <a:noFill/>
        </p:spPr>
        <p:txBody>
          <a:bodyPr wrap="square" lIns="18288" rIns="18288" tIns="18288" bIns="18288" anchor="t">
            <a:spAutoFit/>
          </a:bodyPr>
          <a:lstStyle/>
          <a:p>
            <a:pPr algn="l"/>
            <a:r>
              <a:rPr sz="1700" b="1">
                <a:solidFill>
                  <a:srgbClr val="4DD9E7"/>
                </a:solidFill>
                <a:latin typeface="Aptos"/>
              </a:rPr>
              <a:t>Comparative validation</a:t>
            </a:r>
          </a:p>
        </p:txBody>
      </p:sp>
      <p:sp>
        <p:nvSpPr>
          <p:cNvPr id="15" name="TextBox 14"/>
          <p:cNvSpPr txBox="1"/>
          <p:nvPr/>
        </p:nvSpPr>
        <p:spPr>
          <a:xfrm>
            <a:off x="3657600"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fresh held-out tasks
bounded comparator work
strong baseline trials</a:t>
            </a:r>
          </a:p>
        </p:txBody>
      </p:sp>
      <p:cxnSp>
        <p:nvCxnSpPr>
          <p:cNvPr id="16" name="Connector 15"/>
          <p:cNvCxnSpPr/>
          <p:nvPr/>
        </p:nvCxnSpPr>
        <p:spPr>
          <a:xfrm>
            <a:off x="5925312" y="3657600"/>
            <a:ext cx="292608"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309360" y="1828800"/>
            <a:ext cx="1005840" cy="310896"/>
          </a:xfrm>
          <a:prstGeom prst="roundRect">
            <a:avLst>
              <a:gd name="adj" fmla="val 45000"/>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DECIDE</a:t>
            </a:r>
          </a:p>
        </p:txBody>
      </p:sp>
      <p:sp>
        <p:nvSpPr>
          <p:cNvPr id="19" name="Rounded Rectangle 18"/>
          <p:cNvSpPr/>
          <p:nvPr/>
        </p:nvSpPr>
        <p:spPr>
          <a:xfrm>
            <a:off x="6309360" y="2359152"/>
            <a:ext cx="2423160" cy="260604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2624328"/>
            <a:ext cx="2057400" cy="502920"/>
          </a:xfrm>
          <a:prstGeom prst="rect">
            <a:avLst/>
          </a:prstGeom>
          <a:noFill/>
        </p:spPr>
        <p:txBody>
          <a:bodyPr wrap="square" lIns="18288" rIns="18288" tIns="18288" bIns="18288" anchor="t">
            <a:spAutoFit/>
          </a:bodyPr>
          <a:lstStyle/>
          <a:p>
            <a:pPr algn="l"/>
            <a:r>
              <a:rPr sz="1700" b="1">
                <a:solidFill>
                  <a:srgbClr val="5E8BFF"/>
                </a:solidFill>
                <a:latin typeface="Aptos"/>
              </a:rPr>
              <a:t>Go / revise / stop</a:t>
            </a:r>
          </a:p>
        </p:txBody>
      </p:sp>
      <p:sp>
        <p:nvSpPr>
          <p:cNvPr id="21" name="TextBox 20"/>
          <p:cNvSpPr txBox="1"/>
          <p:nvPr/>
        </p:nvSpPr>
        <p:spPr>
          <a:xfrm>
            <a:off x="6492240"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correctness first
total change cost
generalization</a:t>
            </a:r>
          </a:p>
        </p:txBody>
      </p:sp>
      <p:cxnSp>
        <p:nvCxnSpPr>
          <p:cNvPr id="22" name="Connector 21"/>
          <p:cNvCxnSpPr/>
          <p:nvPr/>
        </p:nvCxnSpPr>
        <p:spPr>
          <a:xfrm>
            <a:off x="8759952" y="3657600"/>
            <a:ext cx="292608" cy="0"/>
          </a:xfrm>
          <a:prstGeom prst="line">
            <a:avLst/>
          </a:prstGeom>
          <a:ln w="25400">
            <a:solidFill>
              <a:srgbClr val="5E8BFF"/>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44000" y="1828800"/>
            <a:ext cx="1005840" cy="310896"/>
          </a:xfrm>
          <a:prstGeom prst="roundRect">
            <a:avLst>
              <a:gd name="adj" fmla="val 45000"/>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IF NEEDED</a:t>
            </a:r>
          </a:p>
        </p:txBody>
      </p:sp>
      <p:sp>
        <p:nvSpPr>
          <p:cNvPr id="25" name="Rounded Rectangle 24"/>
          <p:cNvSpPr/>
          <p:nvPr/>
        </p:nvSpPr>
        <p:spPr>
          <a:xfrm>
            <a:off x="9144000" y="2359152"/>
            <a:ext cx="2423160" cy="2606040"/>
          </a:xfrm>
          <a:prstGeom prst="roundRect">
            <a:avLst>
              <a:gd name="adj" fmla="val 8000"/>
            </a:avLst>
          </a:prstGeom>
          <a:solidFill>
            <a:srgbClr val="111D30"/>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2624328"/>
            <a:ext cx="2057400" cy="502920"/>
          </a:xfrm>
          <a:prstGeom prst="rect">
            <a:avLst/>
          </a:prstGeom>
          <a:noFill/>
        </p:spPr>
        <p:txBody>
          <a:bodyPr wrap="square" lIns="18288" rIns="18288" tIns="18288" bIns="18288" anchor="t">
            <a:spAutoFit/>
          </a:bodyPr>
          <a:lstStyle/>
          <a:p>
            <a:pPr algn="l"/>
            <a:r>
              <a:rPr sz="1700" b="1">
                <a:solidFill>
                  <a:srgbClr val="F5B942"/>
                </a:solidFill>
                <a:latin typeface="Aptos"/>
              </a:rPr>
              <a:t>Broader capability</a:t>
            </a:r>
          </a:p>
        </p:txBody>
      </p:sp>
      <p:sp>
        <p:nvSpPr>
          <p:cNvPr id="27" name="TextBox 26"/>
          <p:cNvSpPr txBox="1"/>
          <p:nvPr/>
        </p:nvSpPr>
        <p:spPr>
          <a:xfrm>
            <a:off x="9326880"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language, runtime,
lowering, or ecosystem
work evidence requires</a:t>
            </a:r>
          </a:p>
        </p:txBody>
      </p:sp>
      <p:sp>
        <p:nvSpPr>
          <p:cNvPr id="28" name="TextBox 27"/>
          <p:cNvSpPr txBox="1"/>
          <p:nvPr/>
        </p:nvSpPr>
        <p:spPr>
          <a:xfrm>
            <a:off x="685800" y="5431536"/>
            <a:ext cx="10607040" cy="548640"/>
          </a:xfrm>
          <a:prstGeom prst="rect">
            <a:avLst/>
          </a:prstGeom>
          <a:noFill/>
        </p:spPr>
        <p:txBody>
          <a:bodyPr wrap="square" lIns="18288" rIns="18288" tIns="18288" bIns="18288" anchor="t">
            <a:spAutoFit/>
          </a:bodyPr>
          <a:lstStyle/>
          <a:p>
            <a:pPr algn="ctr"/>
            <a:r>
              <a:rPr sz="1250" b="1">
                <a:solidFill>
                  <a:srgbClr val="F5F7FA"/>
                </a:solidFill>
                <a:latin typeface="Aptos"/>
              </a:rPr>
              <a:t>Proposed evidence program—not an active repository roadmap. M27 is complete; no successor is selected.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PROOF BOUNDARIES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14</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What is proven—and what the raise must prove</a:t>
            </a:r>
          </a:p>
        </p:txBody>
      </p:sp>
      <p:sp>
        <p:nvSpPr>
          <p:cNvPr id="5" name="Rounded Rectangle 4"/>
          <p:cNvSpPr/>
          <p:nvPr/>
        </p:nvSpPr>
        <p:spPr>
          <a:xfrm>
            <a:off x="640080" y="1783080"/>
            <a:ext cx="5230368" cy="41605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96112" y="2039112"/>
            <a:ext cx="1325880"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048255"/>
            <a:ext cx="1325880" cy="256032"/>
          </a:xfrm>
          <a:prstGeom prst="rect">
            <a:avLst/>
          </a:prstGeom>
          <a:noFill/>
        </p:spPr>
        <p:txBody>
          <a:bodyPr wrap="square" lIns="18288" rIns="18288" tIns="18288" bIns="18288" anchor="ctr">
            <a:spAutoFit/>
          </a:bodyPr>
          <a:lstStyle/>
          <a:p>
            <a:pPr algn="ctr"/>
            <a:r>
              <a:rPr sz="900" b="1">
                <a:solidFill>
                  <a:srgbClr val="09111F"/>
                </a:solidFill>
                <a:latin typeface="Aptos"/>
              </a:rPr>
              <a:t>PROVEN TODAY</a:t>
            </a:r>
          </a:p>
        </p:txBody>
      </p:sp>
      <p:sp>
        <p:nvSpPr>
          <p:cNvPr id="8" name="Oval 7"/>
          <p:cNvSpPr/>
          <p:nvPr/>
        </p:nvSpPr>
        <p:spPr>
          <a:xfrm>
            <a:off x="932688" y="27614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2679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Executable Rust compiler, not a UI mock</a:t>
            </a:r>
          </a:p>
        </p:txBody>
      </p:sp>
      <p:sp>
        <p:nvSpPr>
          <p:cNvPr id="10" name="Oval 9"/>
          <p:cNvSpPr/>
          <p:nvPr/>
        </p:nvSpPr>
        <p:spPr>
          <a:xfrm>
            <a:off x="932688" y="32186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31363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Deterministic parse, check, execute, and revisions</a:t>
            </a:r>
          </a:p>
        </p:txBody>
      </p:sp>
      <p:sp>
        <p:nvSpPr>
          <p:cNvPr id="12" name="Oval 11"/>
          <p:cNvSpPr/>
          <p:nvPr/>
        </p:nvSpPr>
        <p:spPr>
          <a:xfrm>
            <a:off x="932688" y="3675887"/>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35935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Exact bounded schema-impact report</a:t>
            </a:r>
          </a:p>
        </p:txBody>
      </p:sp>
      <p:sp>
        <p:nvSpPr>
          <p:cNvPr id="14" name="Oval 13"/>
          <p:cNvSpPr/>
          <p:nvPr/>
        </p:nvSpPr>
        <p:spPr>
          <a:xfrm>
            <a:off x="932688" y="4133087"/>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4050791"/>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Atomic whole-candidate validation</a:t>
            </a:r>
          </a:p>
        </p:txBody>
      </p:sp>
      <p:sp>
        <p:nvSpPr>
          <p:cNvPr id="16" name="Oval 15"/>
          <p:cNvSpPr/>
          <p:nvPr/>
        </p:nvSpPr>
        <p:spPr>
          <a:xfrm>
            <a:off x="932688" y="45902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2" y="45079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Architecture policy blocks behavior-passing regressions</a:t>
            </a:r>
          </a:p>
        </p:txBody>
      </p:sp>
      <p:sp>
        <p:nvSpPr>
          <p:cNvPr id="18" name="Oval 17"/>
          <p:cNvSpPr/>
          <p:nvPr/>
        </p:nvSpPr>
        <p:spPr>
          <a:xfrm>
            <a:off x="932688" y="50474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70432" y="4965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37-case public AIL behavior corpus passes</a:t>
            </a:r>
          </a:p>
        </p:txBody>
      </p:sp>
      <p:sp>
        <p:nvSpPr>
          <p:cNvPr id="20" name="Rounded Rectangle 19"/>
          <p:cNvSpPr/>
          <p:nvPr/>
        </p:nvSpPr>
        <p:spPr>
          <a:xfrm>
            <a:off x="6291072" y="1783080"/>
            <a:ext cx="5230368" cy="4160520"/>
          </a:xfrm>
          <a:prstGeom prst="roundRect">
            <a:avLst>
              <a:gd name="adj" fmla="val 8000"/>
            </a:avLst>
          </a:prstGeom>
          <a:solidFill>
            <a:srgbClr val="111D30"/>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47104" y="2039112"/>
            <a:ext cx="1572768" cy="310896"/>
          </a:xfrm>
          <a:prstGeom prst="roundRect">
            <a:avLst>
              <a:gd name="adj" fmla="val 45000"/>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47104" y="2048255"/>
            <a:ext cx="1572768" cy="256032"/>
          </a:xfrm>
          <a:prstGeom prst="rect">
            <a:avLst/>
          </a:prstGeom>
          <a:noFill/>
        </p:spPr>
        <p:txBody>
          <a:bodyPr wrap="square" lIns="18288" rIns="18288" tIns="18288" bIns="18288" anchor="ctr">
            <a:spAutoFit/>
          </a:bodyPr>
          <a:lstStyle/>
          <a:p>
            <a:pPr algn="ctr"/>
            <a:r>
              <a:rPr sz="900" b="1">
                <a:solidFill>
                  <a:srgbClr val="09111F"/>
                </a:solidFill>
                <a:latin typeface="Aptos"/>
              </a:rPr>
              <a:t>TO PROVE NEXT</a:t>
            </a:r>
          </a:p>
        </p:txBody>
      </p:sp>
      <p:sp>
        <p:nvSpPr>
          <p:cNvPr id="23" name="Oval 22"/>
          <p:cNvSpPr/>
          <p:nvPr/>
        </p:nvSpPr>
        <p:spPr>
          <a:xfrm>
            <a:off x="6583680" y="27614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21424" y="2679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Lower total agent-change cost vs strong baselines</a:t>
            </a:r>
          </a:p>
        </p:txBody>
      </p:sp>
      <p:sp>
        <p:nvSpPr>
          <p:cNvPr id="25" name="Oval 24"/>
          <p:cNvSpPr/>
          <p:nvPr/>
        </p:nvSpPr>
        <p:spPr>
          <a:xfrm>
            <a:off x="6583680" y="32186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1424" y="31363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Repeatability across models and representative tasks</a:t>
            </a:r>
          </a:p>
        </p:txBody>
      </p:sp>
      <p:sp>
        <p:nvSpPr>
          <p:cNvPr id="27" name="Oval 26"/>
          <p:cNvSpPr/>
          <p:nvPr/>
        </p:nvSpPr>
        <p:spPr>
          <a:xfrm>
            <a:off x="6583680" y="3675887"/>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1424" y="35935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Lower regression and repair rates</a:t>
            </a:r>
          </a:p>
        </p:txBody>
      </p:sp>
      <p:sp>
        <p:nvSpPr>
          <p:cNvPr id="29" name="Oval 28"/>
          <p:cNvSpPr/>
          <p:nvPr/>
        </p:nvSpPr>
        <p:spPr>
          <a:xfrm>
            <a:off x="6583680" y="4133087"/>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1424" y="4050791"/>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Lower human reviewer effort</a:t>
            </a:r>
          </a:p>
        </p:txBody>
      </p:sp>
      <p:sp>
        <p:nvSpPr>
          <p:cNvPr id="31" name="Oval 30"/>
          <p:cNvSpPr/>
          <p:nvPr/>
        </p:nvSpPr>
        <p:spPr>
          <a:xfrm>
            <a:off x="6583680" y="45902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1424" y="45079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Production runtime and native lowering</a:t>
            </a:r>
          </a:p>
        </p:txBody>
      </p:sp>
      <p:sp>
        <p:nvSpPr>
          <p:cNvPr id="33" name="Oval 32"/>
          <p:cNvSpPr/>
          <p:nvPr/>
        </p:nvSpPr>
        <p:spPr>
          <a:xfrm>
            <a:off x="6583680" y="50474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1424" y="4965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Broad language and ecosystem coverage</a:t>
            </a:r>
          </a:p>
        </p:txBody>
      </p:sp>
      <p:sp>
        <p:nvSpPr>
          <p:cNvPr id="35" name="TextBox 34"/>
          <p:cNvSpPr txBox="1"/>
          <p:nvPr/>
        </p:nvSpPr>
        <p:spPr>
          <a:xfrm>
            <a:off x="6812280" y="5513832"/>
            <a:ext cx="4297680" cy="219456"/>
          </a:xfrm>
          <a:prstGeom prst="rect">
            <a:avLst/>
          </a:prstGeom>
          <a:noFill/>
        </p:spPr>
        <p:txBody>
          <a:bodyPr wrap="square" lIns="18288" rIns="18288" tIns="18288" bIns="18288" anchor="t">
            <a:spAutoFit/>
          </a:bodyPr>
          <a:lstStyle/>
          <a:p>
            <a:pPr algn="l"/>
            <a:r>
              <a:rPr sz="1000" b="1">
                <a:solidFill>
                  <a:srgbClr val="F07178"/>
                </a:solidFill>
                <a:latin typeface="Aptos"/>
              </a:rPr>
              <a:t>OFFICIAL COMPARATIVE AGENT TRIALS: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FUNDED VALIDATION</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15</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Fund the experiment that can falsify the thesis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A concrete evidence program—not a request to believe an unmeasured speedup.</a:t>
            </a:r>
          </a:p>
        </p:txBody>
      </p:sp>
      <p:sp>
        <p:nvSpPr>
          <p:cNvPr id="6" name="Rounded Rectangle 5"/>
          <p:cNvSpPr/>
          <p:nvPr/>
        </p:nvSpPr>
        <p:spPr>
          <a:xfrm>
            <a:off x="640080" y="1901952"/>
            <a:ext cx="3127248" cy="320040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139696"/>
            <a:ext cx="502920" cy="502920"/>
          </a:xfrm>
          <a:prstGeom prst="rect">
            <a:avLst/>
          </a:prstGeom>
          <a:noFill/>
        </p:spPr>
        <p:txBody>
          <a:bodyPr wrap="square" lIns="18288" rIns="18288" tIns="18288" bIns="18288" anchor="t">
            <a:spAutoFit/>
          </a:bodyPr>
          <a:lstStyle/>
          <a:p>
            <a:pPr algn="l"/>
            <a:r>
              <a:rPr sz="2900" b="1">
                <a:solidFill>
                  <a:srgbClr val="5E8BFF"/>
                </a:solidFill>
                <a:latin typeface="Aptos"/>
              </a:rPr>
              <a:t>1</a:t>
            </a:r>
          </a:p>
        </p:txBody>
      </p:sp>
      <p:sp>
        <p:nvSpPr>
          <p:cNvPr id="8" name="TextBox 7"/>
          <p:cNvSpPr txBox="1"/>
          <p:nvPr/>
        </p:nvSpPr>
        <p:spPr>
          <a:xfrm>
            <a:off x="1444752" y="2249424"/>
            <a:ext cx="2011680" cy="292608"/>
          </a:xfrm>
          <a:prstGeom prst="rect">
            <a:avLst/>
          </a:prstGeom>
          <a:noFill/>
        </p:spPr>
        <p:txBody>
          <a:bodyPr wrap="square" lIns="18288" rIns="18288" tIns="18288" bIns="18288" anchor="t">
            <a:spAutoFit/>
          </a:bodyPr>
          <a:lstStyle/>
          <a:p>
            <a:pPr algn="l"/>
            <a:r>
              <a:rPr sz="1500" b="1">
                <a:solidFill>
                  <a:srgbClr val="5E8BFF"/>
                </a:solidFill>
                <a:latin typeface="Aptos"/>
              </a:rPr>
              <a:t>LOCK</a:t>
            </a:r>
          </a:p>
        </p:txBody>
      </p:sp>
      <p:sp>
        <p:nvSpPr>
          <p:cNvPr id="9" name="TextBox 8"/>
          <p:cNvSpPr txBox="1"/>
          <p:nvPr/>
        </p:nvSpPr>
        <p:spPr>
          <a:xfrm>
            <a:off x="868680" y="2944368"/>
            <a:ext cx="2651760" cy="1600200"/>
          </a:xfrm>
          <a:prstGeom prst="rect">
            <a:avLst/>
          </a:prstGeom>
          <a:noFill/>
        </p:spPr>
        <p:txBody>
          <a:bodyPr wrap="square" lIns="18288" rIns="18288" tIns="18288" bIns="18288" anchor="t">
            <a:spAutoFit/>
          </a:bodyPr>
          <a:lstStyle/>
          <a:p>
            <a:pPr algn="l"/>
            <a:r>
              <a:rPr sz="1150" b="0">
                <a:solidFill>
                  <a:srgbClr val="AAB8CC"/>
                </a:solidFill>
                <a:latin typeface="Aptos"/>
              </a:rPr>
              <a:t>Fresh held-out design-partner tasks
Equivalent Rust / Go / Python / TS starts
Fixed max attempts, tools, oracles, review rubric</a:t>
            </a:r>
          </a:p>
        </p:txBody>
      </p:sp>
      <p:sp>
        <p:nvSpPr>
          <p:cNvPr id="10" name="Rounded Rectangle 9"/>
          <p:cNvSpPr/>
          <p:nvPr/>
        </p:nvSpPr>
        <p:spPr>
          <a:xfrm>
            <a:off x="4087368" y="1901952"/>
            <a:ext cx="3127248" cy="320040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5968" y="2139696"/>
            <a:ext cx="502920" cy="502920"/>
          </a:xfrm>
          <a:prstGeom prst="rect">
            <a:avLst/>
          </a:prstGeom>
          <a:noFill/>
        </p:spPr>
        <p:txBody>
          <a:bodyPr wrap="square" lIns="18288" rIns="18288" tIns="18288" bIns="18288" anchor="t">
            <a:spAutoFit/>
          </a:bodyPr>
          <a:lstStyle/>
          <a:p>
            <a:pPr algn="l"/>
            <a:r>
              <a:rPr sz="2900" b="1">
                <a:solidFill>
                  <a:srgbClr val="4DD9E7"/>
                </a:solidFill>
                <a:latin typeface="Aptos"/>
              </a:rPr>
              <a:t>2</a:t>
            </a:r>
          </a:p>
        </p:txBody>
      </p:sp>
      <p:sp>
        <p:nvSpPr>
          <p:cNvPr id="12" name="TextBox 11"/>
          <p:cNvSpPr txBox="1"/>
          <p:nvPr/>
        </p:nvSpPr>
        <p:spPr>
          <a:xfrm>
            <a:off x="4892040" y="2249424"/>
            <a:ext cx="2011680" cy="292608"/>
          </a:xfrm>
          <a:prstGeom prst="rect">
            <a:avLst/>
          </a:prstGeom>
          <a:noFill/>
        </p:spPr>
        <p:txBody>
          <a:bodyPr wrap="square" lIns="18288" rIns="18288" tIns="18288" bIns="18288" anchor="t">
            <a:spAutoFit/>
          </a:bodyPr>
          <a:lstStyle/>
          <a:p>
            <a:pPr algn="l"/>
            <a:r>
              <a:rPr sz="1500" b="1">
                <a:solidFill>
                  <a:srgbClr val="4DD9E7"/>
                </a:solidFill>
                <a:latin typeface="Aptos"/>
              </a:rPr>
              <a:t>RUN</a:t>
            </a:r>
          </a:p>
        </p:txBody>
      </p:sp>
      <p:sp>
        <p:nvSpPr>
          <p:cNvPr id="13" name="TextBox 12"/>
          <p:cNvSpPr txBox="1"/>
          <p:nvPr/>
        </p:nvSpPr>
        <p:spPr>
          <a:xfrm>
            <a:off x="4315968" y="2944368"/>
            <a:ext cx="2651760" cy="1600200"/>
          </a:xfrm>
          <a:prstGeom prst="rect">
            <a:avLst/>
          </a:prstGeom>
          <a:noFill/>
        </p:spPr>
        <p:txBody>
          <a:bodyPr wrap="square" lIns="18288" rIns="18288" tIns="18288" bIns="18288" anchor="t">
            <a:spAutoFit/>
          </a:bodyPr>
          <a:lstStyle/>
          <a:p>
            <a:pPr algn="l"/>
            <a:r>
              <a:rPr sz="1150" b="0">
                <a:solidFill>
                  <a:srgbClr val="AAB8CC"/>
                </a:solidFill>
                <a:latin typeface="Aptos"/>
              </a:rPr>
              <a:t>Mechanism fixtures calibrate the pipeline
Baseline targets lock before AIL trials
Completion, tokens, time, repairs, regressions</a:t>
            </a:r>
          </a:p>
        </p:txBody>
      </p:sp>
      <p:sp>
        <p:nvSpPr>
          <p:cNvPr id="14" name="Rounded Rectangle 13"/>
          <p:cNvSpPr/>
          <p:nvPr/>
        </p:nvSpPr>
        <p:spPr>
          <a:xfrm>
            <a:off x="7534656" y="1901952"/>
            <a:ext cx="3127248" cy="320040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3256" y="2139696"/>
            <a:ext cx="502920" cy="502920"/>
          </a:xfrm>
          <a:prstGeom prst="rect">
            <a:avLst/>
          </a:prstGeom>
          <a:noFill/>
        </p:spPr>
        <p:txBody>
          <a:bodyPr wrap="square" lIns="18288" rIns="18288" tIns="18288" bIns="18288" anchor="t">
            <a:spAutoFit/>
          </a:bodyPr>
          <a:lstStyle/>
          <a:p>
            <a:pPr algn="l"/>
            <a:r>
              <a:rPr sz="2900" b="1">
                <a:solidFill>
                  <a:srgbClr val="61D095"/>
                </a:solidFill>
                <a:latin typeface="Aptos"/>
              </a:rPr>
              <a:t>3</a:t>
            </a:r>
          </a:p>
        </p:txBody>
      </p:sp>
      <p:sp>
        <p:nvSpPr>
          <p:cNvPr id="16" name="TextBox 15"/>
          <p:cNvSpPr txBox="1"/>
          <p:nvPr/>
        </p:nvSpPr>
        <p:spPr>
          <a:xfrm>
            <a:off x="8339328" y="2249424"/>
            <a:ext cx="2011680" cy="292608"/>
          </a:xfrm>
          <a:prstGeom prst="rect">
            <a:avLst/>
          </a:prstGeom>
          <a:noFill/>
        </p:spPr>
        <p:txBody>
          <a:bodyPr wrap="square" lIns="18288" rIns="18288" tIns="18288" bIns="18288" anchor="t">
            <a:spAutoFit/>
          </a:bodyPr>
          <a:lstStyle/>
          <a:p>
            <a:pPr algn="l"/>
            <a:r>
              <a:rPr sz="1500" b="1">
                <a:solidFill>
                  <a:srgbClr val="61D095"/>
                </a:solidFill>
                <a:latin typeface="Aptos"/>
              </a:rPr>
              <a:t>DECIDE</a:t>
            </a:r>
          </a:p>
        </p:txBody>
      </p:sp>
      <p:sp>
        <p:nvSpPr>
          <p:cNvPr id="17" name="TextBox 16"/>
          <p:cNvSpPr txBox="1"/>
          <p:nvPr/>
        </p:nvSpPr>
        <p:spPr>
          <a:xfrm>
            <a:off x="7763256" y="2944368"/>
            <a:ext cx="2651760" cy="1600200"/>
          </a:xfrm>
          <a:prstGeom prst="rect">
            <a:avLst/>
          </a:prstGeom>
          <a:noFill/>
        </p:spPr>
        <p:txBody>
          <a:bodyPr wrap="square" lIns="18288" rIns="18288" tIns="18288" bIns="18288" anchor="t">
            <a:spAutoFit/>
          </a:bodyPr>
          <a:lstStyle/>
          <a:p>
            <a:pPr algn="l"/>
            <a:r>
              <a:rPr sz="1150" b="0">
                <a:solidFill>
                  <a:srgbClr val="AAB8CC"/>
                </a:solidFill>
                <a:latin typeface="Aptos"/>
              </a:rPr>
              <a:t>Randomized assessor-independent review
Uncertainty + failure distributions
Go / revise / stop gates
Production-wedge decision</a:t>
            </a:r>
          </a:p>
        </p:txBody>
      </p:sp>
      <p:sp>
        <p:nvSpPr>
          <p:cNvPr id="18" name="TextBox 17"/>
          <p:cNvSpPr txBox="1"/>
          <p:nvPr/>
        </p:nvSpPr>
        <p:spPr>
          <a:xfrm>
            <a:off x="713232" y="5440680"/>
            <a:ext cx="10561320" cy="530352"/>
          </a:xfrm>
          <a:prstGeom prst="rect">
            <a:avLst/>
          </a:prstGeom>
          <a:noFill/>
        </p:spPr>
        <p:txBody>
          <a:bodyPr wrap="square" lIns="18288" rIns="18288" tIns="18288" bIns="18288" anchor="t">
            <a:spAutoFit/>
          </a:bodyPr>
          <a:lstStyle/>
          <a:p>
            <a:pPr algn="ctr"/>
            <a:r>
              <a:rPr sz="1300" b="1">
                <a:solidFill>
                  <a:srgbClr val="F5F7FA"/>
                </a:solidFill>
                <a:latin typeface="Aptos"/>
              </a:rPr>
              <a:t>Fund: compiler/runtime engineering  •  agent-evaluation infrastructure  •  design-partner workload access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APPENDIX: LIVE DEMO</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16</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Retained M27 pilot: an operator changes course</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The seeded bad candidate was supplied; the recorded run demonstrates one repair, not comparative advantage.</a:t>
            </a:r>
          </a:p>
        </p:txBody>
      </p:sp>
      <p:sp>
        <p:nvSpPr>
          <p:cNvPr id="6" name="Rounded Rectangle 5"/>
          <p:cNvSpPr/>
          <p:nvPr/>
        </p:nvSpPr>
        <p:spPr>
          <a:xfrm>
            <a:off x="548640" y="2057400"/>
            <a:ext cx="1600200" cy="1298448"/>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258568"/>
            <a:ext cx="1371600" cy="246888"/>
          </a:xfrm>
          <a:prstGeom prst="rect">
            <a:avLst/>
          </a:prstGeom>
          <a:noFill/>
        </p:spPr>
        <p:txBody>
          <a:bodyPr wrap="square" lIns="18288" rIns="18288" tIns="18288" bIns="18288" anchor="t">
            <a:spAutoFit/>
          </a:bodyPr>
          <a:lstStyle/>
          <a:p>
            <a:pPr algn="ctr"/>
            <a:r>
              <a:rPr sz="1000" b="1">
                <a:solidFill>
                  <a:srgbClr val="5E8BFF"/>
                </a:solidFill>
                <a:latin typeface="Aptos"/>
              </a:rPr>
              <a:t>INPUT</a:t>
            </a:r>
          </a:p>
        </p:txBody>
      </p:sp>
      <p:sp>
        <p:nvSpPr>
          <p:cNvPr id="8" name="TextBox 7"/>
          <p:cNvSpPr txBox="1"/>
          <p:nvPr/>
        </p:nvSpPr>
        <p:spPr>
          <a:xfrm>
            <a:off x="658368"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seeded centralized
candidate</a:t>
            </a:r>
          </a:p>
        </p:txBody>
      </p:sp>
      <p:cxnSp>
        <p:nvCxnSpPr>
          <p:cNvPr id="9" name="Connector 8"/>
          <p:cNvCxnSpPr/>
          <p:nvPr/>
        </p:nvCxnSpPr>
        <p:spPr>
          <a:xfrm>
            <a:off x="2176272" y="2706624"/>
            <a:ext cx="201168" cy="0"/>
          </a:xfrm>
          <a:prstGeom prst="line">
            <a:avLst/>
          </a:prstGeom>
          <a:ln w="22860">
            <a:solidFill>
              <a:srgbClr val="5E8BFF"/>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41448" y="2057400"/>
            <a:ext cx="1600200" cy="1298448"/>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258568"/>
            <a:ext cx="1371600" cy="246888"/>
          </a:xfrm>
          <a:prstGeom prst="rect">
            <a:avLst/>
          </a:prstGeom>
          <a:noFill/>
        </p:spPr>
        <p:txBody>
          <a:bodyPr wrap="square" lIns="18288" rIns="18288" tIns="18288" bIns="18288" anchor="t">
            <a:spAutoFit/>
          </a:bodyPr>
          <a:lstStyle/>
          <a:p>
            <a:pPr algn="ctr"/>
            <a:r>
              <a:rPr sz="1000" b="1">
                <a:solidFill>
                  <a:srgbClr val="F07178"/>
                </a:solidFill>
                <a:latin typeface="Aptos"/>
              </a:rPr>
              <a:t>REJECTION</a:t>
            </a:r>
          </a:p>
        </p:txBody>
      </p:sp>
      <p:sp>
        <p:nvSpPr>
          <p:cNvPr id="12" name="TextBox 11"/>
          <p:cNvSpPr txBox="1"/>
          <p:nvPr/>
        </p:nvSpPr>
        <p:spPr>
          <a:xfrm>
            <a:off x="2551176"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6/6 behavior
publication denied</a:t>
            </a:r>
          </a:p>
        </p:txBody>
      </p:sp>
      <p:cxnSp>
        <p:nvCxnSpPr>
          <p:cNvPr id="13" name="Connector 12"/>
          <p:cNvCxnSpPr/>
          <p:nvPr/>
        </p:nvCxnSpPr>
        <p:spPr>
          <a:xfrm>
            <a:off x="4069080" y="2706624"/>
            <a:ext cx="201168" cy="0"/>
          </a:xfrm>
          <a:prstGeom prst="line">
            <a:avLst/>
          </a:prstGeom>
          <a:ln w="22860">
            <a:solidFill>
              <a:srgbClr val="F0717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334256" y="2057400"/>
            <a:ext cx="1600200" cy="1298448"/>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3984" y="2258568"/>
            <a:ext cx="1371600" cy="246888"/>
          </a:xfrm>
          <a:prstGeom prst="rect">
            <a:avLst/>
          </a:prstGeom>
          <a:noFill/>
        </p:spPr>
        <p:txBody>
          <a:bodyPr wrap="square" lIns="18288" rIns="18288" tIns="18288" bIns="18288" anchor="t">
            <a:spAutoFit/>
          </a:bodyPr>
          <a:lstStyle/>
          <a:p>
            <a:pPr algn="ctr"/>
            <a:r>
              <a:rPr sz="1000" b="1">
                <a:solidFill>
                  <a:srgbClr val="4DD9E7"/>
                </a:solidFill>
                <a:latin typeface="Aptos"/>
              </a:rPr>
              <a:t>DRILL-DOWN</a:t>
            </a:r>
          </a:p>
        </p:txBody>
      </p:sp>
      <p:sp>
        <p:nvSpPr>
          <p:cNvPr id="16" name="TextBox 15"/>
          <p:cNvSpPr txBox="1"/>
          <p:nvPr/>
        </p:nvSpPr>
        <p:spPr>
          <a:xfrm>
            <a:off x="4443984"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exact policy
contributors</a:t>
            </a:r>
          </a:p>
        </p:txBody>
      </p:sp>
      <p:cxnSp>
        <p:nvCxnSpPr>
          <p:cNvPr id="17" name="Connector 16"/>
          <p:cNvCxnSpPr/>
          <p:nvPr/>
        </p:nvCxnSpPr>
        <p:spPr>
          <a:xfrm>
            <a:off x="5961888" y="2706624"/>
            <a:ext cx="201168" cy="0"/>
          </a:xfrm>
          <a:prstGeom prst="line">
            <a:avLst/>
          </a:prstGeom>
          <a:ln w="22860">
            <a:solidFill>
              <a:srgbClr val="4DD9E7"/>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227064" y="2057400"/>
            <a:ext cx="1600200" cy="1298448"/>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6792" y="2258568"/>
            <a:ext cx="1371600" cy="246888"/>
          </a:xfrm>
          <a:prstGeom prst="rect">
            <a:avLst/>
          </a:prstGeom>
          <a:noFill/>
        </p:spPr>
        <p:txBody>
          <a:bodyPr wrap="square" lIns="18288" rIns="18288" tIns="18288" bIns="18288" anchor="t">
            <a:spAutoFit/>
          </a:bodyPr>
          <a:lstStyle/>
          <a:p>
            <a:pPr algn="ctr"/>
            <a:r>
              <a:rPr sz="1000" b="1">
                <a:solidFill>
                  <a:srgbClr val="4DD9E7"/>
                </a:solidFill>
                <a:latin typeface="Aptos"/>
              </a:rPr>
              <a:t>REPAIR</a:t>
            </a:r>
          </a:p>
        </p:txBody>
      </p:sp>
      <p:sp>
        <p:nvSpPr>
          <p:cNvPr id="20" name="TextBox 19"/>
          <p:cNvSpPr txBox="1"/>
          <p:nvPr/>
        </p:nvSpPr>
        <p:spPr>
          <a:xfrm>
            <a:off x="6336792"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move authority
to domain</a:t>
            </a:r>
          </a:p>
        </p:txBody>
      </p:sp>
      <p:cxnSp>
        <p:nvCxnSpPr>
          <p:cNvPr id="21" name="Connector 20"/>
          <p:cNvCxnSpPr/>
          <p:nvPr/>
        </p:nvCxnSpPr>
        <p:spPr>
          <a:xfrm>
            <a:off x="7854696" y="2706624"/>
            <a:ext cx="201167" cy="0"/>
          </a:xfrm>
          <a:prstGeom prst="line">
            <a:avLst/>
          </a:prstGeom>
          <a:ln w="22860">
            <a:solidFill>
              <a:srgbClr val="4DD9E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119872" y="2057400"/>
            <a:ext cx="1600200" cy="1298448"/>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2258568"/>
            <a:ext cx="1371600" cy="246888"/>
          </a:xfrm>
          <a:prstGeom prst="rect">
            <a:avLst/>
          </a:prstGeom>
          <a:noFill/>
        </p:spPr>
        <p:txBody>
          <a:bodyPr wrap="square" lIns="18288" rIns="18288" tIns="18288" bIns="18288" anchor="t">
            <a:spAutoFit/>
          </a:bodyPr>
          <a:lstStyle/>
          <a:p>
            <a:pPr algn="ctr"/>
            <a:r>
              <a:rPr sz="1000" b="1">
                <a:solidFill>
                  <a:srgbClr val="61D095"/>
                </a:solidFill>
                <a:latin typeface="Aptos"/>
              </a:rPr>
              <a:t>VALIDATE</a:t>
            </a:r>
          </a:p>
        </p:txBody>
      </p:sp>
      <p:sp>
        <p:nvSpPr>
          <p:cNvPr id="24" name="TextBox 23"/>
          <p:cNvSpPr txBox="1"/>
          <p:nvPr/>
        </p:nvSpPr>
        <p:spPr>
          <a:xfrm>
            <a:off x="8229600"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6/6 behavior
0 findings</a:t>
            </a:r>
          </a:p>
        </p:txBody>
      </p:sp>
      <p:cxnSp>
        <p:nvCxnSpPr>
          <p:cNvPr id="25" name="Connector 24"/>
          <p:cNvCxnSpPr/>
          <p:nvPr/>
        </p:nvCxnSpPr>
        <p:spPr>
          <a:xfrm>
            <a:off x="9747504" y="2706624"/>
            <a:ext cx="201168" cy="0"/>
          </a:xfrm>
          <a:prstGeom prst="line">
            <a:avLst/>
          </a:prstGeom>
          <a:ln w="22860">
            <a:solidFill>
              <a:srgbClr val="61D09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012680" y="2057400"/>
            <a:ext cx="1600200" cy="1298448"/>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22407" y="2258568"/>
            <a:ext cx="1371600" cy="246888"/>
          </a:xfrm>
          <a:prstGeom prst="rect">
            <a:avLst/>
          </a:prstGeom>
          <a:noFill/>
        </p:spPr>
        <p:txBody>
          <a:bodyPr wrap="square" lIns="18288" rIns="18288" tIns="18288" bIns="18288" anchor="t">
            <a:spAutoFit/>
          </a:bodyPr>
          <a:lstStyle/>
          <a:p>
            <a:pPr algn="ctr"/>
            <a:r>
              <a:rPr sz="1000" b="1">
                <a:solidFill>
                  <a:srgbClr val="61D095"/>
                </a:solidFill>
                <a:latin typeface="Aptos"/>
              </a:rPr>
              <a:t>EVIDENCE</a:t>
            </a:r>
          </a:p>
        </p:txBody>
      </p:sp>
      <p:sp>
        <p:nvSpPr>
          <p:cNvPr id="28" name="TextBox 27"/>
          <p:cNvSpPr txBox="1"/>
          <p:nvPr/>
        </p:nvSpPr>
        <p:spPr>
          <a:xfrm>
            <a:off x="10122407"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publish child
review bundle</a:t>
            </a:r>
          </a:p>
        </p:txBody>
      </p:sp>
      <p:sp>
        <p:nvSpPr>
          <p:cNvPr id="29" name="Rounded Rectangle 28"/>
          <p:cNvSpPr/>
          <p:nvPr/>
        </p:nvSpPr>
        <p:spPr>
          <a:xfrm>
            <a:off x="713232" y="3977639"/>
            <a:ext cx="5230368" cy="1572768"/>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13232" y="3977639"/>
            <a:ext cx="64008" cy="1572768"/>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160520"/>
            <a:ext cx="4882896" cy="310896"/>
          </a:xfrm>
          <a:prstGeom prst="rect">
            <a:avLst/>
          </a:prstGeom>
          <a:noFill/>
        </p:spPr>
        <p:txBody>
          <a:bodyPr wrap="square" lIns="18288" rIns="18288" tIns="18288" bIns="18288" anchor="t">
            <a:spAutoFit/>
          </a:bodyPr>
          <a:lstStyle/>
          <a:p>
            <a:pPr algn="l"/>
            <a:r>
              <a:rPr sz="1600" b="1">
                <a:solidFill>
                  <a:srgbClr val="F5F7FA"/>
                </a:solidFill>
                <a:latin typeface="Aptos"/>
              </a:rPr>
              <a:t>AGENT TELEMETRY</a:t>
            </a:r>
          </a:p>
        </p:txBody>
      </p:sp>
      <p:sp>
        <p:nvSpPr>
          <p:cNvPr id="32" name="TextBox 31"/>
          <p:cNvSpPr txBox="1"/>
          <p:nvPr/>
        </p:nvSpPr>
        <p:spPr>
          <a:xfrm>
            <a:off x="914400" y="4617720"/>
            <a:ext cx="4882896" cy="822960"/>
          </a:xfrm>
          <a:prstGeom prst="rect">
            <a:avLst/>
          </a:prstGeom>
          <a:noFill/>
        </p:spPr>
        <p:txBody>
          <a:bodyPr wrap="square" lIns="18288" rIns="18288" tIns="18288" bIns="18288" anchor="t">
            <a:spAutoFit/>
          </a:bodyPr>
          <a:lstStyle/>
          <a:p>
            <a:pPr algn="l"/>
            <a:r>
              <a:rPr sz="1100" b="0">
                <a:solidFill>
                  <a:srgbClr val="AAB8CC"/>
                </a:solidFill>
                <a:latin typeface="Aptos"/>
              </a:rPr>
              <a:t>• Timer + cumulative model input tokens
• Source reads + semantic queries
• Validation attempts + repair cycles</a:t>
            </a:r>
          </a:p>
        </p:txBody>
      </p:sp>
      <p:sp>
        <p:nvSpPr>
          <p:cNvPr id="33" name="Rounded Rectangle 32"/>
          <p:cNvSpPr/>
          <p:nvPr/>
        </p:nvSpPr>
        <p:spPr>
          <a:xfrm>
            <a:off x="6236208" y="3977639"/>
            <a:ext cx="5230368" cy="1572768"/>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6208" y="3977639"/>
            <a:ext cx="64008" cy="1572768"/>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4160520"/>
            <a:ext cx="4882896" cy="310896"/>
          </a:xfrm>
          <a:prstGeom prst="rect">
            <a:avLst/>
          </a:prstGeom>
          <a:noFill/>
        </p:spPr>
        <p:txBody>
          <a:bodyPr wrap="square" lIns="18288" rIns="18288" tIns="18288" bIns="18288" anchor="t">
            <a:spAutoFit/>
          </a:bodyPr>
          <a:lstStyle/>
          <a:p>
            <a:pPr algn="l"/>
            <a:r>
              <a:rPr sz="1600" b="1">
                <a:solidFill>
                  <a:srgbClr val="F5F7FA"/>
                </a:solidFill>
                <a:latin typeface="Aptos"/>
              </a:rPr>
              <a:t>OUTCOME + REVIEW</a:t>
            </a:r>
          </a:p>
        </p:txBody>
      </p:sp>
      <p:sp>
        <p:nvSpPr>
          <p:cNvPr id="36" name="TextBox 35"/>
          <p:cNvSpPr txBox="1"/>
          <p:nvPr/>
        </p:nvSpPr>
        <p:spPr>
          <a:xfrm>
            <a:off x="6437376" y="4617720"/>
            <a:ext cx="4882896" cy="822960"/>
          </a:xfrm>
          <a:prstGeom prst="rect">
            <a:avLst/>
          </a:prstGeom>
          <a:noFill/>
        </p:spPr>
        <p:txBody>
          <a:bodyPr wrap="square" lIns="18288" rIns="18288" tIns="18288" bIns="18288" anchor="t">
            <a:spAutoFit/>
          </a:bodyPr>
          <a:lstStyle/>
          <a:p>
            <a:pPr algn="l"/>
            <a:r>
              <a:rPr sz="1100" b="0">
                <a:solidFill>
                  <a:srgbClr val="AAB8CC"/>
                </a:solidFill>
                <a:latin typeface="Aptos"/>
              </a:rPr>
              <a:t>• Public + hidden regressions
• Final revision + compiler evidence
• Blind reviewer time, questions, defects</a:t>
            </a:r>
          </a:p>
        </p:txBody>
      </p:sp>
      <p:sp>
        <p:nvSpPr>
          <p:cNvPr id="37" name="TextBox 36"/>
          <p:cNvSpPr txBox="1"/>
          <p:nvPr/>
        </p:nvSpPr>
        <p:spPr>
          <a:xfrm>
            <a:off x="731520" y="5788152"/>
            <a:ext cx="10515600" cy="292608"/>
          </a:xfrm>
          <a:prstGeom prst="rect">
            <a:avLst/>
          </a:prstGeom>
          <a:noFill/>
        </p:spPr>
        <p:txBody>
          <a:bodyPr wrap="square" lIns="18288" rIns="18288" tIns="18288" bIns="18288" anchor="t">
            <a:spAutoFit/>
          </a:bodyPr>
          <a:lstStyle/>
          <a:p>
            <a:pPr algn="ctr"/>
            <a:r>
              <a:rPr sz="1100" b="1">
                <a:solidFill>
                  <a:srgbClr val="F5B942"/>
                </a:solidFill>
                <a:latin typeface="Aptos"/>
              </a:rPr>
              <a:t>Do not compare a strong AIL workflow with a deliberately crippled baseline.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APPENDIX: MEASUREMENT</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17</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Baseline vs AIL: one task contract, two strong toolchains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Completion and terminal failures are primary; successful-run efficiency is conditional.</a:t>
            </a:r>
          </a:p>
        </p:txBody>
      </p:sp>
      <p:sp>
        <p:nvSpPr>
          <p:cNvPr id="6" name="Rounded Rectangle 5"/>
          <p:cNvSpPr/>
          <p:nvPr/>
        </p:nvSpPr>
        <p:spPr>
          <a:xfrm>
            <a:off x="640080" y="1783080"/>
            <a:ext cx="5230368" cy="141732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39112"/>
            <a:ext cx="4754880" cy="274320"/>
          </a:xfrm>
          <a:prstGeom prst="rect">
            <a:avLst/>
          </a:prstGeom>
          <a:noFill/>
        </p:spPr>
        <p:txBody>
          <a:bodyPr wrap="square" lIns="18288" rIns="18288" tIns="18288" bIns="18288" anchor="t">
            <a:spAutoFit/>
          </a:bodyPr>
          <a:lstStyle/>
          <a:p>
            <a:pPr algn="l"/>
            <a:r>
              <a:rPr sz="1300" b="1">
                <a:solidFill>
                  <a:srgbClr val="5E8BFF"/>
                </a:solidFill>
                <a:latin typeface="Aptos"/>
              </a:rPr>
              <a:t>MAINSTREAM BASELINE</a:t>
            </a:r>
          </a:p>
        </p:txBody>
      </p:sp>
      <p:sp>
        <p:nvSpPr>
          <p:cNvPr id="8" name="TextBox 7"/>
          <p:cNvSpPr txBox="1"/>
          <p:nvPr/>
        </p:nvSpPr>
        <p:spPr>
          <a:xfrm>
            <a:off x="877824" y="2487168"/>
            <a:ext cx="4754880" cy="411480"/>
          </a:xfrm>
          <a:prstGeom prst="rect">
            <a:avLst/>
          </a:prstGeom>
          <a:noFill/>
        </p:spPr>
        <p:txBody>
          <a:bodyPr wrap="square" lIns="18288" rIns="18288" tIns="18288" bIns="18288" anchor="t">
            <a:spAutoFit/>
          </a:bodyPr>
          <a:lstStyle/>
          <a:p>
            <a:pPr algn="l"/>
            <a:r>
              <a:rPr sz="1100" b="0">
                <a:solidFill>
                  <a:srgbClr val="AAB8CC"/>
                </a:solidFill>
                <a:latin typeface="Aptos"/>
              </a:rPr>
              <a:t>Rust / Go / Python / TypeScript
compiler + LSP + search + formatter + tests</a:t>
            </a:r>
          </a:p>
        </p:txBody>
      </p:sp>
      <p:sp>
        <p:nvSpPr>
          <p:cNvPr id="9" name="Rounded Rectangle 8"/>
          <p:cNvSpPr/>
          <p:nvPr/>
        </p:nvSpPr>
        <p:spPr>
          <a:xfrm>
            <a:off x="6281928" y="1783080"/>
            <a:ext cx="5230368" cy="141732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2039112"/>
            <a:ext cx="4754880" cy="274320"/>
          </a:xfrm>
          <a:prstGeom prst="rect">
            <a:avLst/>
          </a:prstGeom>
          <a:noFill/>
        </p:spPr>
        <p:txBody>
          <a:bodyPr wrap="square" lIns="18288" rIns="18288" tIns="18288" bIns="18288" anchor="t">
            <a:spAutoFit/>
          </a:bodyPr>
          <a:lstStyle/>
          <a:p>
            <a:pPr algn="l"/>
            <a:r>
              <a:rPr sz="1300" b="1">
                <a:solidFill>
                  <a:srgbClr val="4DD9E7"/>
                </a:solidFill>
                <a:latin typeface="Aptos"/>
              </a:rPr>
              <a:t>AIL TREATMENT</a:t>
            </a:r>
          </a:p>
        </p:txBody>
      </p:sp>
      <p:sp>
        <p:nvSpPr>
          <p:cNvPr id="11" name="TextBox 10"/>
          <p:cNvSpPr txBox="1"/>
          <p:nvPr/>
        </p:nvSpPr>
        <p:spPr>
          <a:xfrm>
            <a:off x="6519672" y="2487168"/>
            <a:ext cx="4754880" cy="411480"/>
          </a:xfrm>
          <a:prstGeom prst="rect">
            <a:avLst/>
          </a:prstGeom>
          <a:noFill/>
        </p:spPr>
        <p:txBody>
          <a:bodyPr wrap="square" lIns="18288" rIns="18288" tIns="18288" bIns="18288" anchor="t">
            <a:spAutoFit/>
          </a:bodyPr>
          <a:lstStyle/>
          <a:p>
            <a:pPr algn="l"/>
            <a:r>
              <a:rPr sz="1100" b="0">
                <a:solidFill>
                  <a:srgbClr val="AAB8CC"/>
                </a:solidFill>
                <a:latin typeface="Aptos"/>
              </a:rPr>
              <a:t>same model + agent policy
AIL compiler semantic queries + validated operations</a:t>
            </a:r>
          </a:p>
        </p:txBody>
      </p:sp>
      <p:cxnSp>
        <p:nvCxnSpPr>
          <p:cNvPr id="12" name="Connector 11"/>
          <p:cNvCxnSpPr/>
          <p:nvPr/>
        </p:nvCxnSpPr>
        <p:spPr>
          <a:xfrm>
            <a:off x="6071616" y="1810512"/>
            <a:ext cx="0" cy="3968496"/>
          </a:xfrm>
          <a:prstGeom prst="line">
            <a:avLst/>
          </a:prstGeom>
          <a:ln w="25400">
            <a:solidFill>
              <a:srgbClr val="17263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41248" y="3511296"/>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WORK</a:t>
            </a:r>
          </a:p>
        </p:txBody>
      </p:sp>
      <p:sp>
        <p:nvSpPr>
          <p:cNvPr id="14" name="TextBox 13"/>
          <p:cNvSpPr txBox="1"/>
          <p:nvPr/>
        </p:nvSpPr>
        <p:spPr>
          <a:xfrm>
            <a:off x="2057400" y="3511296"/>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elapsed agent time • tool calls • source reads</a:t>
            </a:r>
          </a:p>
        </p:txBody>
      </p:sp>
      <p:sp>
        <p:nvSpPr>
          <p:cNvPr id="15" name="TextBox 14"/>
          <p:cNvSpPr txBox="1"/>
          <p:nvPr/>
        </p:nvSpPr>
        <p:spPr>
          <a:xfrm>
            <a:off x="841248" y="3986783"/>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TOKENS</a:t>
            </a:r>
          </a:p>
        </p:txBody>
      </p:sp>
      <p:sp>
        <p:nvSpPr>
          <p:cNvPr id="16" name="TextBox 15"/>
          <p:cNvSpPr txBox="1"/>
          <p:nvPr/>
        </p:nvSpPr>
        <p:spPr>
          <a:xfrm>
            <a:off x="2057400" y="3986783"/>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provider-counted input by category • repeated context</a:t>
            </a:r>
          </a:p>
        </p:txBody>
      </p:sp>
      <p:sp>
        <p:nvSpPr>
          <p:cNvPr id="17" name="TextBox 16"/>
          <p:cNvSpPr txBox="1"/>
          <p:nvPr/>
        </p:nvSpPr>
        <p:spPr>
          <a:xfrm>
            <a:off x="841248" y="4462272"/>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REPAIR</a:t>
            </a:r>
          </a:p>
        </p:txBody>
      </p:sp>
      <p:sp>
        <p:nvSpPr>
          <p:cNvPr id="18" name="TextBox 17"/>
          <p:cNvSpPr txBox="1"/>
          <p:nvPr/>
        </p:nvSpPr>
        <p:spPr>
          <a:xfrm>
            <a:off x="2057400" y="4462272"/>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validation attempts • repair cycles • terminal failures</a:t>
            </a:r>
          </a:p>
        </p:txBody>
      </p:sp>
      <p:sp>
        <p:nvSpPr>
          <p:cNvPr id="19" name="TextBox 18"/>
          <p:cNvSpPr txBox="1"/>
          <p:nvPr/>
        </p:nvSpPr>
        <p:spPr>
          <a:xfrm>
            <a:off x="841248" y="4937760"/>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QUALITY</a:t>
            </a:r>
          </a:p>
        </p:txBody>
      </p:sp>
      <p:sp>
        <p:nvSpPr>
          <p:cNvPr id="20" name="TextBox 19"/>
          <p:cNvSpPr txBox="1"/>
          <p:nvPr/>
        </p:nvSpPr>
        <p:spPr>
          <a:xfrm>
            <a:off x="2057400" y="4937760"/>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public/private checks • seeded misses • new authority</a:t>
            </a:r>
          </a:p>
        </p:txBody>
      </p:sp>
      <p:sp>
        <p:nvSpPr>
          <p:cNvPr id="21" name="TextBox 20"/>
          <p:cNvSpPr txBox="1"/>
          <p:nvPr/>
        </p:nvSpPr>
        <p:spPr>
          <a:xfrm>
            <a:off x="841248" y="5413248"/>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REVIEW</a:t>
            </a:r>
          </a:p>
        </p:txBody>
      </p:sp>
      <p:sp>
        <p:nvSpPr>
          <p:cNvPr id="22" name="TextBox 21"/>
          <p:cNvSpPr txBox="1"/>
          <p:nvPr/>
        </p:nvSpPr>
        <p:spPr>
          <a:xfrm>
            <a:off x="2057400" y="5413248"/>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assessor-independent time • questions • defects • confidence</a:t>
            </a:r>
          </a:p>
        </p:txBody>
      </p:sp>
      <p:sp>
        <p:nvSpPr>
          <p:cNvPr id="23" name="TextBox 22"/>
          <p:cNvSpPr txBox="1"/>
          <p:nvPr/>
        </p:nvSpPr>
        <p:spPr>
          <a:xfrm>
            <a:off x="694944" y="5961888"/>
            <a:ext cx="10698480" cy="256032"/>
          </a:xfrm>
          <a:prstGeom prst="rect">
            <a:avLst/>
          </a:prstGeom>
          <a:noFill/>
        </p:spPr>
        <p:txBody>
          <a:bodyPr wrap="square" lIns="18288" rIns="18288" tIns="18288" bIns="18288" anchor="t">
            <a:spAutoFit/>
          </a:bodyPr>
          <a:lstStyle/>
          <a:p>
            <a:pPr algn="ctr"/>
            <a:r>
              <a:rPr sz="1050" b="1">
                <a:solidFill>
                  <a:srgbClr val="F5B942"/>
                </a:solidFill>
                <a:latin typeface="Aptos"/>
              </a:rPr>
              <a:t>Fixed max attempts • pre-registered summaries + uncertainty • targets locked before AIL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AIL — The control layer for software built by agents</dc:title>
  <dc:subject>Investor presentation and funded validation plan</dc:subject>
  <dc:creator>AIL</dc:creator>
  <cp:keywords>AIL, agents, compiler, investor, semantic control layer</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