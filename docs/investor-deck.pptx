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AIL is not another coding agent. It is an executable language plus a compiler interface that makes consequences, authority, validation, and publication mechanically inspectable. The compiler runs today. No AIL-versus-baseline agent comparison has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Foundation models change the supply curve for plausible code. That does not make software change cheap: the costly work shifts to finding the right context, understanding consequences, repairing failures, and proving that a change is safe. AIL is built around that shifted cost structure. This chart is conceptual, not measured market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compilers, language servers, refactors, search, and tests already expose substantial semantics. Even with those normal strong tools, the agent often still assembles a file-oriented view and reasons across parts of it probabilistically. That reconstruction repeats after diagnostics and again during review. AIL must demonstrate a further reduction in total work against that baseline, not against raw text editing.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design choice is that the language creates semantics the compiler can expose completely. Canonical text remains the durable, human-auditable source. The semantic model is the operational interface for agents: exact impact, explicit authority, deterministic validation, and atomic publication. This is more than an IDE wrapper because the guarantees originate in the language contract.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before-and-after is the investor demo’s central visual. AIL does not claim the agent stops using judgment. It moves complete, deterministic work out of model inference: identifying affected semantic roles, checking authority and architecture policy, validating the whole candidate, and publishing atomically. The economic hypothesis is that this shortens the loop and makes more changes safely autonomous.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mock interface. The Rust compiler parses and checks canonical AIL, executes the reference service, stores immutable revisions, computes exact impact, validates whole-workspace schema evolution, enforces architecture policy atomically, and supports modules, import aliases, qualified references, and ordinary calls. The counts here are repository facts, not performance claims: 37 public behavior fixtures, 12 relationship kinds in the impact graph, 23 architecture scenarios, and four equivalent baseline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should show this as a visual work list, not raw JSON. For the locked priority-evolution fixture, the compiler derives exactly 12 must-change locations, two review sites with reasons, and one known external boundary whose source is unavailable. The successful transaction uses five ordered whole-path edits. It also proves capabilities, effects, and ordering are unchanged. These counts are fixture-specific proof, not a claim about all programs.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frozen semantic candidates carry accepted six-of-six behavior results supplied at the transaction boundary. The compiler evaluates their validated semantic graphs against locked policy. The domain-owned version publishes. The centralized version is rolled back for dispatch growth and transport authority, state, and dependency violations. A superficial helper split is also rolled back because aggregate responsibility remains in transport. This is not yet a complete source-to-agent product loop.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AIL’s revision protocol matters commercially because evidence cannot drift away from the code it describes. A whole candidate is canonicalized and checked before publication. A successful change publishes one child revision with bound completion evidence. A denied or incomplete change publishes nothing and leaves the base intact.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AIL is intentionally not a prompt language or a model-specific encoding. Better models should improve the agent layer, while AIL’s accumulated semantic contracts, compiler implementation, fixtures, and project policy remain reusable. This creates a durable control surface across model cycles and lets teams choose models based on cost, privacy, or capability.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investment case is not fewer source tokens. It is lower total work to reach a correct, reviewable change. We will measure model tokens, elapsed work, repair cycles, regressions, and reviewer effort under equal correctness gates. We do not yet have a defensible speedup or ROI number, and the deck should say that plainly.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buyer hypothesis is an engineering organization using agents as primary implementers for greenfield backend services and workers. The funded entry point is a bounded validation pilot, not production deployment. AIL belongs in a language only where foundational guarantees—canonical semantics, explicit authority, determinism, and complete supported impact—cannot be reliably retrofitted through compatibility-bound tooling. Defensibility is a strategy: the compiler, contracts, graph, and fixtures exist; held-out workloads, design-partner policy, integrations, production runtime, and adoption remain to build.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M28 shipped modules, import aliases, qualified references, and ordinary calls. The repository has no active successor milestone. One possible next investment is to freeze representative tasks, build only the AIL capabilities needed for a fair comparator, and compare against mainstream languages with their normal strong tools. Native lowering, LLVM integration, broader syntax, and self-hosting are not automatic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compiler provides exact semantic impact for the M19 contract and atomic enforcement of the M24 architecture rules. No comparison has yet shown lower cost than Rust, Go, Python, or TypeScript with their normal tools. AIL also lacks native lowering, production I/O, general concurrency, and broad ecosystem support.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use UC-003 and CancelJob to test the runner, then freeze fresh held-out tasks before adapting AIL to them. Build equivalent mainstream-language workspaces and fix the maximum attempts, outcomes, exclusions, and reviewer rubric before running. Second, establish baseline distributions and lock AIL success targets before AIL trials. Third, run randomized independent review and choose the next build from the results. Financing, runway, and team requirements are not specified here.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M27 retained one complete run. The operator received the seeded centralized candidate and its compact rejection; the run does not show the operator independently creating that bad candidate. The operator used structured contributors, moved authority to the domain handler, reran validation, and published the valid child. A comparison must give baseline languages their normal compilers, language servers, refactors, search, formatters, and tests.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uses the same task contract and correctness oracle. Baselines receive strong normal tooling. Use the same model and agent policy where possible, and record version and permission differences. Fix the maximum attempts per cell before starting. Completion and terminal-failure distributions are primary outcomes; token, time, and repair comparisons among successful runs are conditional secondary measurements. Randomize reviewer assignments. Reviewers can be blinded to the hypothesis and provenance where feasible, but not to a language that is visible in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THESIS</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01</a:t>
            </a:r>
          </a:p>
        </p:txBody>
      </p:sp>
      <p:sp>
        <p:nvSpPr>
          <p:cNvPr id="4" name="Rounded Rectangle 3"/>
          <p:cNvSpPr/>
          <p:nvPr/>
        </p:nvSpPr>
        <p:spPr>
          <a:xfrm>
            <a:off x="585216" y="749808"/>
            <a:ext cx="1417320" cy="310896"/>
          </a:xfrm>
          <a:prstGeom prst="roundRect">
            <a:avLst>
              <a:gd name="adj" fmla="val 45000"/>
            </a:avLst>
          </a:prstGeom>
          <a:solidFill>
            <a:srgbClr val="4DD9E7"/>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216" y="758952"/>
            <a:ext cx="1417320" cy="256032"/>
          </a:xfrm>
          <a:prstGeom prst="rect">
            <a:avLst/>
          </a:prstGeom>
          <a:noFill/>
        </p:spPr>
        <p:txBody>
          <a:bodyPr wrap="square" lIns="18288" rIns="18288" tIns="18288" bIns="18288" anchor="ctr">
            <a:spAutoFit/>
          </a:bodyPr>
          <a:lstStyle/>
          <a:p>
            <a:pPr algn="ctr"/>
            <a:r>
              <a:rPr sz="900" b="1">
                <a:solidFill>
                  <a:srgbClr val="09111F"/>
                </a:solidFill>
                <a:latin typeface="Aptos"/>
              </a:rPr>
              <a:t>INVESTOR BRIEF</a:t>
            </a:r>
          </a:p>
        </p:txBody>
      </p:sp>
      <p:sp>
        <p:nvSpPr>
          <p:cNvPr id="6" name="TextBox 5"/>
          <p:cNvSpPr txBox="1"/>
          <p:nvPr/>
        </p:nvSpPr>
        <p:spPr>
          <a:xfrm>
            <a:off x="585216" y="1389888"/>
            <a:ext cx="8686800" cy="1371600"/>
          </a:xfrm>
          <a:prstGeom prst="rect">
            <a:avLst/>
          </a:prstGeom>
          <a:noFill/>
        </p:spPr>
        <p:txBody>
          <a:bodyPr wrap="square" lIns="18288" rIns="18288" tIns="18288" bIns="18288" anchor="t">
            <a:spAutoFit/>
          </a:bodyPr>
          <a:lstStyle/>
          <a:p>
            <a:pPr algn="l"/>
            <a:r>
              <a:rPr sz="3900" b="1">
                <a:solidFill>
                  <a:srgbClr val="F5F7FA"/>
                </a:solidFill>
                <a:latin typeface="Aptos"/>
              </a:rPr>
              <a:t>A programming language for
software built by agents</a:t>
            </a:r>
          </a:p>
        </p:txBody>
      </p:sp>
      <p:sp>
        <p:nvSpPr>
          <p:cNvPr id="7" name="TextBox 6"/>
          <p:cNvSpPr txBox="1"/>
          <p:nvPr/>
        </p:nvSpPr>
        <p:spPr>
          <a:xfrm>
            <a:off x="621792" y="3154680"/>
            <a:ext cx="7589520" cy="594360"/>
          </a:xfrm>
          <a:prstGeom prst="rect">
            <a:avLst/>
          </a:prstGeom>
          <a:noFill/>
        </p:spPr>
        <p:txBody>
          <a:bodyPr wrap="square" lIns="18288" rIns="18288" tIns="18288" bIns="18288" anchor="t">
            <a:spAutoFit/>
          </a:bodyPr>
          <a:lstStyle/>
          <a:p>
            <a:pPr algn="l"/>
            <a:r>
              <a:rPr sz="1800" b="0">
                <a:solidFill>
                  <a:srgbClr val="AAB8CC"/>
                </a:solidFill>
                <a:latin typeface="Aptos"/>
              </a:rPr>
              <a:t>AIL is an executable language and semantic compiler designed to reduce the work between generated code and a trusted change.</a:t>
            </a:r>
          </a:p>
        </p:txBody>
      </p:sp>
      <p:sp>
        <p:nvSpPr>
          <p:cNvPr id="8" name="Rounded Rectangle 7"/>
          <p:cNvSpPr/>
          <p:nvPr/>
        </p:nvSpPr>
        <p:spPr>
          <a:xfrm>
            <a:off x="658368" y="4617720"/>
            <a:ext cx="2423160" cy="1051560"/>
          </a:xfrm>
          <a:prstGeom prst="roundRect">
            <a:avLst>
              <a:gd name="adj" fmla="val 8000"/>
            </a:avLst>
          </a:prstGeom>
          <a:solidFill>
            <a:srgbClr val="111D30"/>
          </a:solidFill>
          <a:ln w="12700">
            <a:solidFill>
              <a:srgbClr val="5E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4800600"/>
            <a:ext cx="2423160" cy="621792"/>
          </a:xfrm>
          <a:prstGeom prst="rect">
            <a:avLst/>
          </a:prstGeom>
          <a:noFill/>
        </p:spPr>
        <p:txBody>
          <a:bodyPr wrap="square" lIns="18288" rIns="18288" tIns="18288" bIns="18288" anchor="t">
            <a:spAutoFit/>
          </a:bodyPr>
          <a:lstStyle/>
          <a:p>
            <a:pPr algn="ctr"/>
            <a:r>
              <a:rPr sz="1500" b="1">
                <a:solidFill>
                  <a:srgbClr val="5E8BFF"/>
                </a:solidFill>
                <a:latin typeface="Aptos"/>
              </a:rPr>
              <a:t>MODEL +
AGENT</a:t>
            </a:r>
          </a:p>
        </p:txBody>
      </p:sp>
      <p:sp>
        <p:nvSpPr>
          <p:cNvPr id="10" name="Rounded Rectangle 9"/>
          <p:cNvSpPr/>
          <p:nvPr/>
        </p:nvSpPr>
        <p:spPr>
          <a:xfrm>
            <a:off x="4041648" y="4617720"/>
            <a:ext cx="2423160" cy="1051560"/>
          </a:xfrm>
          <a:prstGeom prst="roundRect">
            <a:avLst>
              <a:gd name="adj" fmla="val 8000"/>
            </a:avLst>
          </a:prstGeom>
          <a:solidFill>
            <a:srgbClr val="111D30"/>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41648" y="4800600"/>
            <a:ext cx="2423160" cy="621792"/>
          </a:xfrm>
          <a:prstGeom prst="rect">
            <a:avLst/>
          </a:prstGeom>
          <a:noFill/>
        </p:spPr>
        <p:txBody>
          <a:bodyPr wrap="square" lIns="18288" rIns="18288" tIns="18288" bIns="18288" anchor="t">
            <a:spAutoFit/>
          </a:bodyPr>
          <a:lstStyle/>
          <a:p>
            <a:pPr algn="ctr"/>
            <a:r>
              <a:rPr sz="1500" b="1">
                <a:solidFill>
                  <a:srgbClr val="4DD9E7"/>
                </a:solidFill>
                <a:latin typeface="Aptos"/>
              </a:rPr>
              <a:t>AIL
COMPILER</a:t>
            </a:r>
          </a:p>
        </p:txBody>
      </p:sp>
      <p:sp>
        <p:nvSpPr>
          <p:cNvPr id="12" name="Rounded Rectangle 11"/>
          <p:cNvSpPr/>
          <p:nvPr/>
        </p:nvSpPr>
        <p:spPr>
          <a:xfrm>
            <a:off x="7424927" y="4617720"/>
            <a:ext cx="2423160" cy="1051560"/>
          </a:xfrm>
          <a:prstGeom prst="roundRect">
            <a:avLst>
              <a:gd name="adj" fmla="val 8000"/>
            </a:avLst>
          </a:prstGeom>
          <a:solidFill>
            <a:srgbClr val="111D30"/>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24927" y="4800600"/>
            <a:ext cx="2423160" cy="621792"/>
          </a:xfrm>
          <a:prstGeom prst="rect">
            <a:avLst/>
          </a:prstGeom>
          <a:noFill/>
        </p:spPr>
        <p:txBody>
          <a:bodyPr wrap="square" lIns="18288" rIns="18288" tIns="18288" bIns="18288" anchor="t">
            <a:spAutoFit/>
          </a:bodyPr>
          <a:lstStyle/>
          <a:p>
            <a:pPr algn="ctr"/>
            <a:r>
              <a:rPr sz="1500" b="1">
                <a:solidFill>
                  <a:srgbClr val="61D095"/>
                </a:solidFill>
                <a:latin typeface="Aptos"/>
              </a:rPr>
              <a:t>VALIDATED
CANDIDATE</a:t>
            </a:r>
          </a:p>
        </p:txBody>
      </p:sp>
      <p:cxnSp>
        <p:nvCxnSpPr>
          <p:cNvPr id="14" name="Connector 13"/>
          <p:cNvCxnSpPr/>
          <p:nvPr/>
        </p:nvCxnSpPr>
        <p:spPr>
          <a:xfrm>
            <a:off x="3127248" y="5148072"/>
            <a:ext cx="758952" cy="0"/>
          </a:xfrm>
          <a:prstGeom prst="line">
            <a:avLst/>
          </a:prstGeom>
          <a:ln w="31750">
            <a:solidFill>
              <a:srgbClr val="5E8BF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10528" y="5148072"/>
            <a:ext cx="758952" cy="0"/>
          </a:xfrm>
          <a:prstGeom prst="line">
            <a:avLst/>
          </a:prstGeom>
          <a:ln w="31750">
            <a:solidFill>
              <a:srgbClr val="4DD9E7"/>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012680" y="4690872"/>
            <a:ext cx="1417320" cy="868680"/>
          </a:xfrm>
          <a:prstGeom prst="rect">
            <a:avLst/>
          </a:prstGeom>
          <a:noFill/>
        </p:spPr>
        <p:txBody>
          <a:bodyPr wrap="square" lIns="18288" rIns="18288" tIns="18288" bIns="18288" anchor="t">
            <a:spAutoFit/>
          </a:bodyPr>
          <a:lstStyle/>
          <a:p>
            <a:pPr algn="ctr"/>
            <a:r>
              <a:rPr sz="1200" b="1">
                <a:solidFill>
                  <a:srgbClr val="61D095"/>
                </a:solidFill>
                <a:latin typeface="Aptos"/>
              </a:rPr>
              <a:t>Compiler
runs today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MARKET SHIFT</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02</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3000" b="1">
                <a:solidFill>
                  <a:srgbClr val="F5F7FA"/>
                </a:solidFill>
                <a:latin typeface="Aptos"/>
              </a:rPr>
              <a:t>Code generation is becoming abundant</a:t>
            </a:r>
          </a:p>
        </p:txBody>
      </p:sp>
      <p:sp>
        <p:nvSpPr>
          <p:cNvPr id="5" name="TextBox 4"/>
          <p:cNvSpPr txBox="1"/>
          <p:nvPr/>
        </p:nvSpPr>
        <p:spPr>
          <a:xfrm>
            <a:off x="585216" y="1399032"/>
            <a:ext cx="10607040" cy="347472"/>
          </a:xfrm>
          <a:prstGeom prst="rect">
            <a:avLst/>
          </a:prstGeom>
          <a:noFill/>
        </p:spPr>
        <p:txBody>
          <a:bodyPr wrap="square" lIns="18288" rIns="18288" tIns="18288" bIns="18288" anchor="t">
            <a:spAutoFit/>
          </a:bodyPr>
          <a:lstStyle/>
          <a:p>
            <a:pPr algn="l"/>
            <a:r>
              <a:rPr sz="1300" b="0">
                <a:solidFill>
                  <a:srgbClr val="AAB8CC"/>
                </a:solidFill>
                <a:latin typeface="Aptos"/>
              </a:rPr>
              <a:t>The scarce resource moves from producing code to trusting change.</a:t>
            </a:r>
          </a:p>
        </p:txBody>
      </p:sp>
      <p:sp>
        <p:nvSpPr>
          <p:cNvPr id="6" name="TextBox 5"/>
          <p:cNvSpPr txBox="1"/>
          <p:nvPr/>
        </p:nvSpPr>
        <p:spPr>
          <a:xfrm>
            <a:off x="713232" y="1965960"/>
            <a:ext cx="2286000" cy="274320"/>
          </a:xfrm>
          <a:prstGeom prst="rect">
            <a:avLst/>
          </a:prstGeom>
          <a:noFill/>
        </p:spPr>
        <p:txBody>
          <a:bodyPr wrap="square" lIns="18288" rIns="18288" tIns="18288" bIns="18288" anchor="t">
            <a:spAutoFit/>
          </a:bodyPr>
          <a:lstStyle/>
          <a:p>
            <a:pPr algn="l"/>
            <a:r>
              <a:rPr sz="900" b="1">
                <a:solidFill>
                  <a:srgbClr val="AAB8CC"/>
                </a:solidFill>
                <a:latin typeface="Aptos"/>
              </a:rPr>
              <a:t>RELATIVE WORK</a:t>
            </a:r>
          </a:p>
        </p:txBody>
      </p:sp>
      <p:cxnSp>
        <p:nvCxnSpPr>
          <p:cNvPr id="7" name="Connector 6"/>
          <p:cNvCxnSpPr/>
          <p:nvPr/>
        </p:nvCxnSpPr>
        <p:spPr>
          <a:xfrm>
            <a:off x="932688" y="5440680"/>
            <a:ext cx="9994392" cy="0"/>
          </a:xfrm>
          <a:prstGeom prst="line">
            <a:avLst/>
          </a:prstGeom>
          <a:ln w="12700">
            <a:solidFill>
              <a:srgbClr val="AAB8C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32688" y="2267712"/>
            <a:ext cx="0" cy="3172968"/>
          </a:xfrm>
          <a:prstGeom prst="line">
            <a:avLst/>
          </a:prstGeom>
          <a:ln w="12700">
            <a:solidFill>
              <a:srgbClr val="AAB8C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1560" y="2788920"/>
            <a:ext cx="9464040" cy="2103120"/>
          </a:xfrm>
          <a:prstGeom prst="line">
            <a:avLst/>
          </a:prstGeom>
          <a:ln w="63500">
            <a:solidFill>
              <a:srgbClr val="5E8BF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051560" y="2514600"/>
            <a:ext cx="9464040" cy="2377440"/>
          </a:xfrm>
          <a:prstGeom prst="line">
            <a:avLst/>
          </a:prstGeom>
          <a:ln w="63500">
            <a:solidFill>
              <a:srgbClr val="4DD9E7"/>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56448" y="2103120"/>
            <a:ext cx="2240280" cy="310896"/>
          </a:xfrm>
          <a:prstGeom prst="roundRect">
            <a:avLst>
              <a:gd name="adj" fmla="val 45000"/>
            </a:avLst>
          </a:prstGeom>
          <a:solidFill>
            <a:srgbClr val="4DD9E7"/>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6448" y="2112263"/>
            <a:ext cx="2240280" cy="256032"/>
          </a:xfrm>
          <a:prstGeom prst="rect">
            <a:avLst/>
          </a:prstGeom>
          <a:noFill/>
        </p:spPr>
        <p:txBody>
          <a:bodyPr wrap="square" lIns="18288" rIns="18288" tIns="18288" bIns="18288" anchor="ctr">
            <a:spAutoFit/>
          </a:bodyPr>
          <a:lstStyle/>
          <a:p>
            <a:pPr algn="ctr"/>
            <a:r>
              <a:rPr sz="900" b="1">
                <a:solidFill>
                  <a:srgbClr val="09111F"/>
                </a:solidFill>
                <a:latin typeface="Aptos"/>
              </a:rPr>
              <a:t>TRUST + VERIFICATION</a:t>
            </a:r>
          </a:p>
        </p:txBody>
      </p:sp>
      <p:sp>
        <p:nvSpPr>
          <p:cNvPr id="13" name="Rounded Rectangle 12"/>
          <p:cNvSpPr/>
          <p:nvPr/>
        </p:nvSpPr>
        <p:spPr>
          <a:xfrm>
            <a:off x="8156448" y="4736592"/>
            <a:ext cx="2240280" cy="310896"/>
          </a:xfrm>
          <a:prstGeom prst="roundRect">
            <a:avLst>
              <a:gd name="adj" fmla="val 45000"/>
            </a:avLst>
          </a:prstGeom>
          <a:solidFill>
            <a:srgbClr val="5E8BFF"/>
          </a:solidFill>
          <a:ln w="12700">
            <a:solidFill>
              <a:srgbClr val="5E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56448" y="4745736"/>
            <a:ext cx="2240280" cy="256032"/>
          </a:xfrm>
          <a:prstGeom prst="rect">
            <a:avLst/>
          </a:prstGeom>
          <a:noFill/>
        </p:spPr>
        <p:txBody>
          <a:bodyPr wrap="square" lIns="18288" rIns="18288" tIns="18288" bIns="18288" anchor="ctr">
            <a:spAutoFit/>
          </a:bodyPr>
          <a:lstStyle/>
          <a:p>
            <a:pPr algn="ctr"/>
            <a:r>
              <a:rPr sz="900" b="1">
                <a:solidFill>
                  <a:srgbClr val="F5F7FA"/>
                </a:solidFill>
                <a:latin typeface="Aptos"/>
              </a:rPr>
              <a:t>FIRST-PASS GENERATION</a:t>
            </a:r>
          </a:p>
        </p:txBody>
      </p:sp>
      <p:sp>
        <p:nvSpPr>
          <p:cNvPr id="15" name="TextBox 14"/>
          <p:cNvSpPr txBox="1"/>
          <p:nvPr/>
        </p:nvSpPr>
        <p:spPr>
          <a:xfrm>
            <a:off x="822960" y="5641848"/>
            <a:ext cx="2926080" cy="256032"/>
          </a:xfrm>
          <a:prstGeom prst="rect">
            <a:avLst/>
          </a:prstGeom>
          <a:noFill/>
        </p:spPr>
        <p:txBody>
          <a:bodyPr wrap="square" lIns="18288" rIns="18288" tIns="18288" bIns="18288" anchor="t">
            <a:spAutoFit/>
          </a:bodyPr>
          <a:lstStyle/>
          <a:p>
            <a:pPr algn="l"/>
            <a:r>
              <a:rPr sz="900" b="1">
                <a:solidFill>
                  <a:srgbClr val="AAB8CC"/>
                </a:solidFill>
                <a:latin typeface="Aptos"/>
              </a:rPr>
              <a:t>PAST: HUMAN-SCARCE OUTPUT</a:t>
            </a:r>
          </a:p>
        </p:txBody>
      </p:sp>
      <p:sp>
        <p:nvSpPr>
          <p:cNvPr id="16" name="TextBox 15"/>
          <p:cNvSpPr txBox="1"/>
          <p:nvPr/>
        </p:nvSpPr>
        <p:spPr>
          <a:xfrm>
            <a:off x="8412480" y="5641848"/>
            <a:ext cx="2560320" cy="256032"/>
          </a:xfrm>
          <a:prstGeom prst="rect">
            <a:avLst/>
          </a:prstGeom>
          <a:noFill/>
        </p:spPr>
        <p:txBody>
          <a:bodyPr wrap="square" lIns="18288" rIns="18288" tIns="18288" bIns="18288" anchor="t">
            <a:spAutoFit/>
          </a:bodyPr>
          <a:lstStyle/>
          <a:p>
            <a:pPr algn="r"/>
            <a:r>
              <a:rPr sz="900" b="1">
                <a:solidFill>
                  <a:srgbClr val="AAB8CC"/>
                </a:solidFill>
                <a:latin typeface="Aptos"/>
              </a:rPr>
              <a:t>AGENT-SCALE OUTPUT</a:t>
            </a:r>
          </a:p>
        </p:txBody>
      </p:sp>
      <p:sp>
        <p:nvSpPr>
          <p:cNvPr id="17" name="Rounded Rectangle 16"/>
          <p:cNvSpPr/>
          <p:nvPr/>
        </p:nvSpPr>
        <p:spPr>
          <a:xfrm>
            <a:off x="8412480" y="3182112"/>
            <a:ext cx="2468880" cy="109728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0" y="3182112"/>
            <a:ext cx="64008" cy="1097280"/>
          </a:xfrm>
          <a:prstGeom prst="rect">
            <a:avLst/>
          </a:prstGeom>
          <a:solidFill>
            <a:srgbClr val="F5B942"/>
          </a:solidFill>
          <a:ln w="12700">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13648" y="3364992"/>
            <a:ext cx="2121408" cy="310896"/>
          </a:xfrm>
          <a:prstGeom prst="rect">
            <a:avLst/>
          </a:prstGeom>
          <a:noFill/>
        </p:spPr>
        <p:txBody>
          <a:bodyPr wrap="square" lIns="18288" rIns="18288" tIns="18288" bIns="18288" anchor="t">
            <a:spAutoFit/>
          </a:bodyPr>
          <a:lstStyle/>
          <a:p>
            <a:pPr algn="l"/>
            <a:r>
              <a:rPr sz="1600" b="1">
                <a:solidFill>
                  <a:srgbClr val="F5F7FA"/>
                </a:solidFill>
                <a:latin typeface="Aptos"/>
              </a:rPr>
              <a:t>New bottleneck</a:t>
            </a:r>
          </a:p>
        </p:txBody>
      </p:sp>
      <p:sp>
        <p:nvSpPr>
          <p:cNvPr id="20" name="TextBox 19"/>
          <p:cNvSpPr txBox="1"/>
          <p:nvPr/>
        </p:nvSpPr>
        <p:spPr>
          <a:xfrm>
            <a:off x="8613648" y="3822191"/>
            <a:ext cx="2121408" cy="347472"/>
          </a:xfrm>
          <a:prstGeom prst="rect">
            <a:avLst/>
          </a:prstGeom>
          <a:noFill/>
        </p:spPr>
        <p:txBody>
          <a:bodyPr wrap="square" lIns="18288" rIns="18288" tIns="18288" bIns="18288" anchor="t">
            <a:spAutoFit/>
          </a:bodyPr>
          <a:lstStyle/>
          <a:p>
            <a:pPr algn="l"/>
            <a:r>
              <a:rPr sz="1100" b="0">
                <a:solidFill>
                  <a:srgbClr val="AAB8CC"/>
                </a:solidFill>
                <a:latin typeface="Aptos"/>
              </a:rPr>
              <a:t>Context • consequence • repair • regression control</a:t>
            </a:r>
          </a:p>
        </p:txBody>
      </p:sp>
      <p:sp>
        <p:nvSpPr>
          <p:cNvPr id="21" name="TextBox 20"/>
          <p:cNvSpPr txBox="1"/>
          <p:nvPr/>
        </p:nvSpPr>
        <p:spPr>
          <a:xfrm>
            <a:off x="1078992" y="2313432"/>
            <a:ext cx="5029200" cy="237744"/>
          </a:xfrm>
          <a:prstGeom prst="rect">
            <a:avLst/>
          </a:prstGeom>
          <a:noFill/>
        </p:spPr>
        <p:txBody>
          <a:bodyPr wrap="square" lIns="18288" rIns="18288" tIns="18288" bIns="18288" anchor="t">
            <a:spAutoFit/>
          </a:bodyPr>
          <a:lstStyle/>
          <a:p>
            <a:pPr algn="l"/>
            <a:r>
              <a:rPr sz="850" b="1">
                <a:solidFill>
                  <a:srgbClr val="F5B942"/>
                </a:solidFill>
                <a:latin typeface="Aptos"/>
              </a:rPr>
              <a:t>CONCEPTUAL — NO MEASURED MARKET OR WORKLOAD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PROBLEM</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03</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2700" b="1">
                <a:solidFill>
                  <a:srgbClr val="F5F7FA"/>
                </a:solidFill>
                <a:latin typeface="Aptos"/>
              </a:rPr>
              <a:t>Today’s agents repeatedly reconstruct the program</a:t>
            </a:r>
          </a:p>
        </p:txBody>
      </p:sp>
      <p:sp>
        <p:nvSpPr>
          <p:cNvPr id="5" name="TextBox 4"/>
          <p:cNvSpPr txBox="1"/>
          <p:nvPr/>
        </p:nvSpPr>
        <p:spPr>
          <a:xfrm>
            <a:off x="585216" y="1399032"/>
            <a:ext cx="10607040" cy="347472"/>
          </a:xfrm>
          <a:prstGeom prst="rect">
            <a:avLst/>
          </a:prstGeom>
          <a:noFill/>
        </p:spPr>
        <p:txBody>
          <a:bodyPr wrap="square" lIns="18288" rIns="18288" tIns="18288" bIns="18288" anchor="t">
            <a:spAutoFit/>
          </a:bodyPr>
          <a:lstStyle/>
          <a:p>
            <a:pPr algn="l"/>
            <a:r>
              <a:rPr sz="1300" b="0">
                <a:solidFill>
                  <a:srgbClr val="AAB8CC"/>
                </a:solidFill>
                <a:latin typeface="Aptos"/>
              </a:rPr>
              <a:t>Strong tools expose substantial semantics; agents still reconstruct parts of the change surface.</a:t>
            </a:r>
          </a:p>
        </p:txBody>
      </p:sp>
      <p:sp>
        <p:nvSpPr>
          <p:cNvPr id="6" name="Rounded Rectangle 5"/>
          <p:cNvSpPr/>
          <p:nvPr/>
        </p:nvSpPr>
        <p:spPr>
          <a:xfrm>
            <a:off x="621792" y="2057400"/>
            <a:ext cx="1353312" cy="749808"/>
          </a:xfrm>
          <a:prstGeom prst="roundRect">
            <a:avLst>
              <a:gd name="adj" fmla="val 8000"/>
            </a:avLst>
          </a:prstGeom>
          <a:solidFill>
            <a:srgbClr val="17263C"/>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2267712"/>
            <a:ext cx="1207008" cy="256032"/>
          </a:xfrm>
          <a:prstGeom prst="rect">
            <a:avLst/>
          </a:prstGeom>
          <a:noFill/>
        </p:spPr>
        <p:txBody>
          <a:bodyPr wrap="square" lIns="18288" rIns="18288" tIns="18288" bIns="18288" anchor="t">
            <a:spAutoFit/>
          </a:bodyPr>
          <a:lstStyle/>
          <a:p>
            <a:pPr algn="ctr"/>
            <a:r>
              <a:rPr sz="1100" b="1">
                <a:solidFill>
                  <a:srgbClr val="F5F7FA"/>
                </a:solidFill>
                <a:latin typeface="Aptos"/>
              </a:rPr>
              <a:t>Search files</a:t>
            </a:r>
          </a:p>
        </p:txBody>
      </p:sp>
      <p:cxnSp>
        <p:nvCxnSpPr>
          <p:cNvPr id="8" name="Connector 7"/>
          <p:cNvCxnSpPr/>
          <p:nvPr/>
        </p:nvCxnSpPr>
        <p:spPr>
          <a:xfrm>
            <a:off x="1993392" y="2432304"/>
            <a:ext cx="365760" cy="0"/>
          </a:xfrm>
          <a:prstGeom prst="line">
            <a:avLst/>
          </a:prstGeom>
          <a:ln w="21590">
            <a:solidFill>
              <a:srgbClr val="AAB8C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23160" y="2057400"/>
            <a:ext cx="1353312" cy="749808"/>
          </a:xfrm>
          <a:prstGeom prst="roundRect">
            <a:avLst>
              <a:gd name="adj" fmla="val 8000"/>
            </a:avLst>
          </a:prstGeom>
          <a:solidFill>
            <a:srgbClr val="17263C"/>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96312" y="2267712"/>
            <a:ext cx="1207008" cy="256032"/>
          </a:xfrm>
          <a:prstGeom prst="rect">
            <a:avLst/>
          </a:prstGeom>
          <a:noFill/>
        </p:spPr>
        <p:txBody>
          <a:bodyPr wrap="square" lIns="18288" rIns="18288" tIns="18288" bIns="18288" anchor="t">
            <a:spAutoFit/>
          </a:bodyPr>
          <a:lstStyle/>
          <a:p>
            <a:pPr algn="ctr"/>
            <a:r>
              <a:rPr sz="1100" b="1">
                <a:solidFill>
                  <a:srgbClr val="F5F7FA"/>
                </a:solidFill>
                <a:latin typeface="Aptos"/>
              </a:rPr>
              <a:t>Read context</a:t>
            </a:r>
          </a:p>
        </p:txBody>
      </p:sp>
      <p:cxnSp>
        <p:nvCxnSpPr>
          <p:cNvPr id="11" name="Connector 10"/>
          <p:cNvCxnSpPr/>
          <p:nvPr/>
        </p:nvCxnSpPr>
        <p:spPr>
          <a:xfrm>
            <a:off x="3794760" y="2432304"/>
            <a:ext cx="365760" cy="0"/>
          </a:xfrm>
          <a:prstGeom prst="line">
            <a:avLst/>
          </a:prstGeom>
          <a:ln w="21590">
            <a:solidFill>
              <a:srgbClr val="AAB8C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24528" y="2057400"/>
            <a:ext cx="1353312" cy="749808"/>
          </a:xfrm>
          <a:prstGeom prst="roundRect">
            <a:avLst>
              <a:gd name="adj" fmla="val 8000"/>
            </a:avLst>
          </a:prstGeom>
          <a:solidFill>
            <a:srgbClr val="17263C"/>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2267712"/>
            <a:ext cx="1207008" cy="256032"/>
          </a:xfrm>
          <a:prstGeom prst="rect">
            <a:avLst/>
          </a:prstGeom>
          <a:noFill/>
        </p:spPr>
        <p:txBody>
          <a:bodyPr wrap="square" lIns="18288" rIns="18288" tIns="18288" bIns="18288" anchor="t">
            <a:spAutoFit/>
          </a:bodyPr>
          <a:lstStyle/>
          <a:p>
            <a:pPr algn="ctr"/>
            <a:r>
              <a:rPr sz="1100" b="1">
                <a:solidFill>
                  <a:srgbClr val="F5F7FA"/>
                </a:solidFill>
                <a:latin typeface="Aptos"/>
              </a:rPr>
              <a:t>Infer effects</a:t>
            </a:r>
          </a:p>
        </p:txBody>
      </p:sp>
      <p:cxnSp>
        <p:nvCxnSpPr>
          <p:cNvPr id="14" name="Connector 13"/>
          <p:cNvCxnSpPr/>
          <p:nvPr/>
        </p:nvCxnSpPr>
        <p:spPr>
          <a:xfrm>
            <a:off x="5596128" y="2432304"/>
            <a:ext cx="365760" cy="0"/>
          </a:xfrm>
          <a:prstGeom prst="line">
            <a:avLst/>
          </a:prstGeom>
          <a:ln w="21590">
            <a:solidFill>
              <a:srgbClr val="AAB8C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025896" y="2057400"/>
            <a:ext cx="1353312" cy="749808"/>
          </a:xfrm>
          <a:prstGeom prst="roundRect">
            <a:avLst>
              <a:gd name="adj" fmla="val 8000"/>
            </a:avLst>
          </a:prstGeom>
          <a:solidFill>
            <a:srgbClr val="17263C"/>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8" y="2267712"/>
            <a:ext cx="1207008" cy="256032"/>
          </a:xfrm>
          <a:prstGeom prst="rect">
            <a:avLst/>
          </a:prstGeom>
          <a:noFill/>
        </p:spPr>
        <p:txBody>
          <a:bodyPr wrap="square" lIns="18288" rIns="18288" tIns="18288" bIns="18288" anchor="t">
            <a:spAutoFit/>
          </a:bodyPr>
          <a:lstStyle/>
          <a:p>
            <a:pPr algn="ctr"/>
            <a:r>
              <a:rPr sz="1100" b="1">
                <a:solidFill>
                  <a:srgbClr val="F5F7FA"/>
                </a:solidFill>
                <a:latin typeface="Aptos"/>
              </a:rPr>
              <a:t>Edit</a:t>
            </a:r>
          </a:p>
        </p:txBody>
      </p:sp>
      <p:cxnSp>
        <p:nvCxnSpPr>
          <p:cNvPr id="17" name="Connector 16"/>
          <p:cNvCxnSpPr/>
          <p:nvPr/>
        </p:nvCxnSpPr>
        <p:spPr>
          <a:xfrm>
            <a:off x="7397496" y="2432304"/>
            <a:ext cx="365760" cy="0"/>
          </a:xfrm>
          <a:prstGeom prst="line">
            <a:avLst/>
          </a:prstGeom>
          <a:ln w="21590">
            <a:solidFill>
              <a:srgbClr val="AAB8C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827264" y="2057400"/>
            <a:ext cx="1353312" cy="749808"/>
          </a:xfrm>
          <a:prstGeom prst="roundRect">
            <a:avLst>
              <a:gd name="adj" fmla="val 8000"/>
            </a:avLst>
          </a:prstGeom>
          <a:solidFill>
            <a:srgbClr val="17263C"/>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0416" y="2267712"/>
            <a:ext cx="1207008" cy="256032"/>
          </a:xfrm>
          <a:prstGeom prst="rect">
            <a:avLst/>
          </a:prstGeom>
          <a:noFill/>
        </p:spPr>
        <p:txBody>
          <a:bodyPr wrap="square" lIns="18288" rIns="18288" tIns="18288" bIns="18288" anchor="t">
            <a:spAutoFit/>
          </a:bodyPr>
          <a:lstStyle/>
          <a:p>
            <a:pPr algn="ctr"/>
            <a:r>
              <a:rPr sz="1100" b="1">
                <a:solidFill>
                  <a:srgbClr val="F5F7FA"/>
                </a:solidFill>
                <a:latin typeface="Aptos"/>
              </a:rPr>
              <a:t>Compile / test</a:t>
            </a:r>
          </a:p>
        </p:txBody>
      </p:sp>
      <p:cxnSp>
        <p:nvCxnSpPr>
          <p:cNvPr id="20" name="Connector 19"/>
          <p:cNvCxnSpPr/>
          <p:nvPr/>
        </p:nvCxnSpPr>
        <p:spPr>
          <a:xfrm>
            <a:off x="9198864" y="2432304"/>
            <a:ext cx="365760" cy="0"/>
          </a:xfrm>
          <a:prstGeom prst="line">
            <a:avLst/>
          </a:prstGeom>
          <a:ln w="21590">
            <a:solidFill>
              <a:srgbClr val="AAB8C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628632" y="2057400"/>
            <a:ext cx="1353312" cy="749808"/>
          </a:xfrm>
          <a:prstGeom prst="roundRect">
            <a:avLst>
              <a:gd name="adj" fmla="val 8000"/>
            </a:avLst>
          </a:prstGeom>
          <a:solidFill>
            <a:srgbClr val="F07178"/>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01784" y="2267712"/>
            <a:ext cx="1207008" cy="256032"/>
          </a:xfrm>
          <a:prstGeom prst="rect">
            <a:avLst/>
          </a:prstGeom>
          <a:noFill/>
        </p:spPr>
        <p:txBody>
          <a:bodyPr wrap="square" lIns="18288" rIns="18288" tIns="18288" bIns="18288" anchor="t">
            <a:spAutoFit/>
          </a:bodyPr>
          <a:lstStyle/>
          <a:p>
            <a:pPr algn="ctr"/>
            <a:r>
              <a:rPr sz="1100" b="1">
                <a:solidFill>
                  <a:srgbClr val="F5F7FA"/>
                </a:solidFill>
                <a:latin typeface="Aptos"/>
              </a:rPr>
              <a:t>Repair</a:t>
            </a:r>
          </a:p>
        </p:txBody>
      </p:sp>
      <p:cxnSp>
        <p:nvCxnSpPr>
          <p:cNvPr id="23" name="Connector 22"/>
          <p:cNvCxnSpPr/>
          <p:nvPr/>
        </p:nvCxnSpPr>
        <p:spPr>
          <a:xfrm>
            <a:off x="10305288" y="2880360"/>
            <a:ext cx="0" cy="548640"/>
          </a:xfrm>
          <a:prstGeom prst="line">
            <a:avLst/>
          </a:prstGeom>
          <a:ln w="25400">
            <a:solidFill>
              <a:srgbClr val="F071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325880" y="3429000"/>
            <a:ext cx="8979408" cy="0"/>
          </a:xfrm>
          <a:prstGeom prst="line">
            <a:avLst/>
          </a:prstGeom>
          <a:ln w="25400">
            <a:solidFill>
              <a:srgbClr val="F0717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325880" y="2898648"/>
            <a:ext cx="0" cy="530352"/>
          </a:xfrm>
          <a:prstGeom prst="line">
            <a:avLst/>
          </a:prstGeom>
          <a:ln w="25400">
            <a:solidFill>
              <a:srgbClr val="F0717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005072" y="3566160"/>
            <a:ext cx="4297680" cy="347472"/>
          </a:xfrm>
          <a:prstGeom prst="rect">
            <a:avLst/>
          </a:prstGeom>
          <a:noFill/>
        </p:spPr>
        <p:txBody>
          <a:bodyPr wrap="square" lIns="18288" rIns="18288" tIns="18288" bIns="18288" anchor="t">
            <a:spAutoFit/>
          </a:bodyPr>
          <a:lstStyle/>
          <a:p>
            <a:pPr algn="ctr"/>
            <a:r>
              <a:rPr sz="1100" b="1">
                <a:solidFill>
                  <a:srgbClr val="F07178"/>
                </a:solidFill>
                <a:latin typeface="Aptos"/>
              </a:rPr>
              <a:t>RECONSTRUCTION LOOP</a:t>
            </a:r>
          </a:p>
        </p:txBody>
      </p:sp>
      <p:sp>
        <p:nvSpPr>
          <p:cNvPr id="27" name="Rounded Rectangle 26"/>
          <p:cNvSpPr/>
          <p:nvPr/>
        </p:nvSpPr>
        <p:spPr>
          <a:xfrm>
            <a:off x="713232" y="4224528"/>
            <a:ext cx="2971800" cy="146304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3232" y="4224528"/>
            <a:ext cx="64008" cy="1463040"/>
          </a:xfrm>
          <a:prstGeom prst="rect">
            <a:avLst/>
          </a:prstGeom>
          <a:solidFill>
            <a:srgbClr val="F07178"/>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407408"/>
            <a:ext cx="2624328" cy="310896"/>
          </a:xfrm>
          <a:prstGeom prst="rect">
            <a:avLst/>
          </a:prstGeom>
          <a:noFill/>
        </p:spPr>
        <p:txBody>
          <a:bodyPr wrap="square" lIns="18288" rIns="18288" tIns="18288" bIns="18288" anchor="t">
            <a:spAutoFit/>
          </a:bodyPr>
          <a:lstStyle/>
          <a:p>
            <a:pPr algn="l"/>
            <a:r>
              <a:rPr sz="1600" b="1">
                <a:solidFill>
                  <a:srgbClr val="F5F7FA"/>
                </a:solidFill>
                <a:latin typeface="Aptos"/>
              </a:rPr>
              <a:t>Hidden consequence</a:t>
            </a:r>
          </a:p>
        </p:txBody>
      </p:sp>
      <p:sp>
        <p:nvSpPr>
          <p:cNvPr id="30" name="TextBox 29"/>
          <p:cNvSpPr txBox="1"/>
          <p:nvPr/>
        </p:nvSpPr>
        <p:spPr>
          <a:xfrm>
            <a:off x="914400" y="4864608"/>
            <a:ext cx="2624328" cy="713232"/>
          </a:xfrm>
          <a:prstGeom prst="rect">
            <a:avLst/>
          </a:prstGeom>
          <a:noFill/>
        </p:spPr>
        <p:txBody>
          <a:bodyPr wrap="square" lIns="18288" rIns="18288" tIns="18288" bIns="18288" anchor="t">
            <a:spAutoFit/>
          </a:bodyPr>
          <a:lstStyle/>
          <a:p>
            <a:pPr algn="l"/>
            <a:r>
              <a:rPr sz="1100" b="0">
                <a:solidFill>
                  <a:srgbClr val="AAB8CC"/>
                </a:solidFill>
                <a:latin typeface="Aptos"/>
              </a:rPr>
              <a:t>A schema edit can touch producers, storage, projections, tests, and evidence.</a:t>
            </a:r>
          </a:p>
        </p:txBody>
      </p:sp>
      <p:sp>
        <p:nvSpPr>
          <p:cNvPr id="31" name="Rounded Rectangle 30"/>
          <p:cNvSpPr/>
          <p:nvPr/>
        </p:nvSpPr>
        <p:spPr>
          <a:xfrm>
            <a:off x="4069080" y="4224528"/>
            <a:ext cx="2971800" cy="146304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069080" y="4224528"/>
            <a:ext cx="64008" cy="1463040"/>
          </a:xfrm>
          <a:prstGeom prst="rect">
            <a:avLst/>
          </a:prstGeom>
          <a:solidFill>
            <a:srgbClr val="F07178"/>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0248" y="4407408"/>
            <a:ext cx="2624328" cy="310896"/>
          </a:xfrm>
          <a:prstGeom prst="rect">
            <a:avLst/>
          </a:prstGeom>
          <a:noFill/>
        </p:spPr>
        <p:txBody>
          <a:bodyPr wrap="square" lIns="18288" rIns="18288" tIns="18288" bIns="18288" anchor="t">
            <a:spAutoFit/>
          </a:bodyPr>
          <a:lstStyle/>
          <a:p>
            <a:pPr algn="l"/>
            <a:r>
              <a:rPr sz="1600" b="1">
                <a:solidFill>
                  <a:srgbClr val="F5F7FA"/>
                </a:solidFill>
                <a:latin typeface="Aptos"/>
              </a:rPr>
              <a:t>Hidden authority</a:t>
            </a:r>
          </a:p>
        </p:txBody>
      </p:sp>
      <p:sp>
        <p:nvSpPr>
          <p:cNvPr id="34" name="TextBox 33"/>
          <p:cNvSpPr txBox="1"/>
          <p:nvPr/>
        </p:nvSpPr>
        <p:spPr>
          <a:xfrm>
            <a:off x="4270248" y="4864608"/>
            <a:ext cx="2624328" cy="713232"/>
          </a:xfrm>
          <a:prstGeom prst="rect">
            <a:avLst/>
          </a:prstGeom>
          <a:noFill/>
        </p:spPr>
        <p:txBody>
          <a:bodyPr wrap="square" lIns="18288" rIns="18288" tIns="18288" bIns="18288" anchor="t">
            <a:spAutoFit/>
          </a:bodyPr>
          <a:lstStyle/>
          <a:p>
            <a:pPr algn="l"/>
            <a:r>
              <a:rPr sz="1100" b="0">
                <a:solidFill>
                  <a:srgbClr val="AAB8CC"/>
                </a:solidFill>
                <a:latin typeface="Aptos"/>
              </a:rPr>
              <a:t>Passing tests can still move database access into the wrong layer.</a:t>
            </a:r>
          </a:p>
        </p:txBody>
      </p:sp>
      <p:sp>
        <p:nvSpPr>
          <p:cNvPr id="35" name="Rounded Rectangle 34"/>
          <p:cNvSpPr/>
          <p:nvPr/>
        </p:nvSpPr>
        <p:spPr>
          <a:xfrm>
            <a:off x="7424927" y="4224528"/>
            <a:ext cx="2971800" cy="146304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424927" y="4224528"/>
            <a:ext cx="64008" cy="1463040"/>
          </a:xfrm>
          <a:prstGeom prst="rect">
            <a:avLst/>
          </a:prstGeom>
          <a:solidFill>
            <a:srgbClr val="F07178"/>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26096" y="4407408"/>
            <a:ext cx="2624328" cy="310896"/>
          </a:xfrm>
          <a:prstGeom prst="rect">
            <a:avLst/>
          </a:prstGeom>
          <a:noFill/>
        </p:spPr>
        <p:txBody>
          <a:bodyPr wrap="square" lIns="18288" rIns="18288" tIns="18288" bIns="18288" anchor="t">
            <a:spAutoFit/>
          </a:bodyPr>
          <a:lstStyle/>
          <a:p>
            <a:pPr algn="l"/>
            <a:r>
              <a:rPr sz="1600" b="1">
                <a:solidFill>
                  <a:srgbClr val="F5F7FA"/>
                </a:solidFill>
                <a:latin typeface="Aptos"/>
              </a:rPr>
              <a:t>Unbounded review</a:t>
            </a:r>
          </a:p>
        </p:txBody>
      </p:sp>
      <p:sp>
        <p:nvSpPr>
          <p:cNvPr id="38" name="TextBox 37"/>
          <p:cNvSpPr txBox="1"/>
          <p:nvPr/>
        </p:nvSpPr>
        <p:spPr>
          <a:xfrm>
            <a:off x="7626096" y="4864608"/>
            <a:ext cx="2624328" cy="713232"/>
          </a:xfrm>
          <a:prstGeom prst="rect">
            <a:avLst/>
          </a:prstGeom>
          <a:noFill/>
        </p:spPr>
        <p:txBody>
          <a:bodyPr wrap="square" lIns="18288" rIns="18288" tIns="18288" bIns="18288" anchor="t">
            <a:spAutoFit/>
          </a:bodyPr>
          <a:lstStyle/>
          <a:p>
            <a:pPr algn="l"/>
            <a:r>
              <a:rPr sz="1100" b="0">
                <a:solidFill>
                  <a:srgbClr val="AAB8CC"/>
                </a:solidFill>
                <a:latin typeface="Aptos"/>
              </a:rPr>
              <a:t>Humans reconstruct what changed and what the agent may have missed.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PRODUCT THESIS</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04</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2700" b="1">
                <a:solidFill>
                  <a:srgbClr val="F5F7FA"/>
                </a:solidFill>
                <a:latin typeface="Aptos"/>
              </a:rPr>
              <a:t>AIL exposes language guarantees through the compiler</a:t>
            </a:r>
          </a:p>
        </p:txBody>
      </p:sp>
      <p:sp>
        <p:nvSpPr>
          <p:cNvPr id="5" name="Rounded Rectangle 4"/>
          <p:cNvSpPr/>
          <p:nvPr/>
        </p:nvSpPr>
        <p:spPr>
          <a:xfrm>
            <a:off x="621792" y="1828800"/>
            <a:ext cx="10972800" cy="3977639"/>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315968" y="2487168"/>
            <a:ext cx="3566160" cy="2651760"/>
          </a:xfrm>
          <a:prstGeom prst="roundRect">
            <a:avLst>
              <a:gd name="adj" fmla="val 8000"/>
            </a:avLst>
          </a:prstGeom>
          <a:solidFill>
            <a:srgbClr val="17263C"/>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2788920"/>
            <a:ext cx="2880360" cy="457200"/>
          </a:xfrm>
          <a:prstGeom prst="rect">
            <a:avLst/>
          </a:prstGeom>
          <a:noFill/>
        </p:spPr>
        <p:txBody>
          <a:bodyPr wrap="square" lIns="18288" rIns="18288" tIns="18288" bIns="18288" anchor="t">
            <a:spAutoFit/>
          </a:bodyPr>
          <a:lstStyle/>
          <a:p>
            <a:pPr algn="ctr"/>
            <a:r>
              <a:rPr sz="2100" b="1">
                <a:solidFill>
                  <a:srgbClr val="4DD9E7"/>
                </a:solidFill>
                <a:latin typeface="Aptos"/>
              </a:rPr>
              <a:t>SEMANTIC COMPILER</a:t>
            </a:r>
          </a:p>
        </p:txBody>
      </p:sp>
      <p:sp>
        <p:nvSpPr>
          <p:cNvPr id="8" name="TextBox 7"/>
          <p:cNvSpPr txBox="1"/>
          <p:nvPr/>
        </p:nvSpPr>
        <p:spPr>
          <a:xfrm>
            <a:off x="4736592" y="3456432"/>
            <a:ext cx="2743200" cy="1051560"/>
          </a:xfrm>
          <a:prstGeom prst="rect">
            <a:avLst/>
          </a:prstGeom>
          <a:noFill/>
        </p:spPr>
        <p:txBody>
          <a:bodyPr wrap="square" lIns="18288" rIns="18288" tIns="18288" bIns="18288" anchor="t">
            <a:spAutoFit/>
          </a:bodyPr>
          <a:lstStyle/>
          <a:p>
            <a:pPr algn="ctr"/>
            <a:r>
              <a:rPr sz="1300" b="0">
                <a:solidFill>
                  <a:srgbClr val="F5F7FA"/>
                </a:solidFill>
                <a:latin typeface="Aptos"/>
              </a:rPr>
              <a:t>canonical source
+ typed semantic model
+ immutable revisions</a:t>
            </a:r>
          </a:p>
        </p:txBody>
      </p:sp>
      <p:sp>
        <p:nvSpPr>
          <p:cNvPr id="9" name="Rounded Rectangle 8"/>
          <p:cNvSpPr/>
          <p:nvPr/>
        </p:nvSpPr>
        <p:spPr>
          <a:xfrm>
            <a:off x="914400" y="2240280"/>
            <a:ext cx="2423160" cy="960120"/>
          </a:xfrm>
          <a:prstGeom prst="roundRect">
            <a:avLst>
              <a:gd name="adj" fmla="val 8000"/>
            </a:avLst>
          </a:prstGeom>
          <a:solidFill>
            <a:srgbClr val="09111F"/>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377440"/>
            <a:ext cx="2103120" cy="237744"/>
          </a:xfrm>
          <a:prstGeom prst="rect">
            <a:avLst/>
          </a:prstGeom>
          <a:noFill/>
        </p:spPr>
        <p:txBody>
          <a:bodyPr wrap="square" lIns="18288" rIns="18288" tIns="18288" bIns="18288" anchor="t">
            <a:spAutoFit/>
          </a:bodyPr>
          <a:lstStyle/>
          <a:p>
            <a:pPr algn="l"/>
            <a:r>
              <a:rPr sz="1200" b="1">
                <a:solidFill>
                  <a:srgbClr val="4DD9E7"/>
                </a:solidFill>
                <a:latin typeface="Aptos"/>
              </a:rPr>
              <a:t>INSPECTION</a:t>
            </a:r>
          </a:p>
        </p:txBody>
      </p:sp>
      <p:sp>
        <p:nvSpPr>
          <p:cNvPr id="11" name="TextBox 10"/>
          <p:cNvSpPr txBox="1"/>
          <p:nvPr/>
        </p:nvSpPr>
        <p:spPr>
          <a:xfrm>
            <a:off x="1078992" y="2715768"/>
            <a:ext cx="2103120" cy="219456"/>
          </a:xfrm>
          <a:prstGeom prst="rect">
            <a:avLst/>
          </a:prstGeom>
          <a:noFill/>
        </p:spPr>
        <p:txBody>
          <a:bodyPr wrap="square" lIns="18288" rIns="18288" tIns="18288" bIns="18288" anchor="t">
            <a:spAutoFit/>
          </a:bodyPr>
          <a:lstStyle/>
          <a:p>
            <a:pPr algn="l"/>
            <a:r>
              <a:rPr sz="1000" b="0">
                <a:solidFill>
                  <a:srgbClr val="AAB8CC"/>
                </a:solidFill>
                <a:latin typeface="Aptos"/>
              </a:rPr>
              <a:t>revision-scoped semantic facts</a:t>
            </a:r>
          </a:p>
        </p:txBody>
      </p:sp>
      <p:cxnSp>
        <p:nvCxnSpPr>
          <p:cNvPr id="12" name="Connector 11"/>
          <p:cNvCxnSpPr/>
          <p:nvPr/>
        </p:nvCxnSpPr>
        <p:spPr>
          <a:xfrm>
            <a:off x="3364992" y="2715768"/>
            <a:ext cx="795528" cy="1106423"/>
          </a:xfrm>
          <a:prstGeom prst="line">
            <a:avLst/>
          </a:prstGeom>
          <a:ln w="19050">
            <a:solidFill>
              <a:srgbClr val="4DD9E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400" y="4160520"/>
            <a:ext cx="2423160" cy="960120"/>
          </a:xfrm>
          <a:prstGeom prst="roundRect">
            <a:avLst>
              <a:gd name="adj" fmla="val 8000"/>
            </a:avLst>
          </a:prstGeom>
          <a:solidFill>
            <a:srgbClr val="09111F"/>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297680"/>
            <a:ext cx="2103120" cy="237744"/>
          </a:xfrm>
          <a:prstGeom prst="rect">
            <a:avLst/>
          </a:prstGeom>
          <a:noFill/>
        </p:spPr>
        <p:txBody>
          <a:bodyPr wrap="square" lIns="18288" rIns="18288" tIns="18288" bIns="18288" anchor="t">
            <a:spAutoFit/>
          </a:bodyPr>
          <a:lstStyle/>
          <a:p>
            <a:pPr algn="l"/>
            <a:r>
              <a:rPr sz="1200" b="1">
                <a:solidFill>
                  <a:srgbClr val="4DD9E7"/>
                </a:solidFill>
                <a:latin typeface="Aptos"/>
              </a:rPr>
              <a:t>BOUNDED IMPACT</a:t>
            </a:r>
          </a:p>
        </p:txBody>
      </p:sp>
      <p:sp>
        <p:nvSpPr>
          <p:cNvPr id="15" name="TextBox 14"/>
          <p:cNvSpPr txBox="1"/>
          <p:nvPr/>
        </p:nvSpPr>
        <p:spPr>
          <a:xfrm>
            <a:off x="1078992" y="4636008"/>
            <a:ext cx="2103120" cy="219456"/>
          </a:xfrm>
          <a:prstGeom prst="rect">
            <a:avLst/>
          </a:prstGeom>
          <a:noFill/>
        </p:spPr>
        <p:txBody>
          <a:bodyPr wrap="square" lIns="18288" rIns="18288" tIns="18288" bIns="18288" anchor="t">
            <a:spAutoFit/>
          </a:bodyPr>
          <a:lstStyle/>
          <a:p>
            <a:pPr algn="l"/>
            <a:r>
              <a:rPr sz="1000" b="0">
                <a:solidFill>
                  <a:srgbClr val="AAB8CC"/>
                </a:solidFill>
                <a:latin typeface="Aptos"/>
              </a:rPr>
              <a:t>must change / review / unchecked</a:t>
            </a:r>
          </a:p>
        </p:txBody>
      </p:sp>
      <p:cxnSp>
        <p:nvCxnSpPr>
          <p:cNvPr id="16" name="Connector 15"/>
          <p:cNvCxnSpPr/>
          <p:nvPr/>
        </p:nvCxnSpPr>
        <p:spPr>
          <a:xfrm flipV="1">
            <a:off x="3364992" y="3822191"/>
            <a:ext cx="795528" cy="813817"/>
          </a:xfrm>
          <a:prstGeom prst="line">
            <a:avLst/>
          </a:prstGeom>
          <a:ln w="19050">
            <a:solidFill>
              <a:srgbClr val="4DD9E7"/>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412480" y="2240280"/>
            <a:ext cx="2423160" cy="960120"/>
          </a:xfrm>
          <a:prstGeom prst="roundRect">
            <a:avLst>
              <a:gd name="adj" fmla="val 8000"/>
            </a:avLst>
          </a:prstGeom>
          <a:solidFill>
            <a:srgbClr val="09111F"/>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77072" y="2377440"/>
            <a:ext cx="2103120" cy="237744"/>
          </a:xfrm>
          <a:prstGeom prst="rect">
            <a:avLst/>
          </a:prstGeom>
          <a:noFill/>
        </p:spPr>
        <p:txBody>
          <a:bodyPr wrap="square" lIns="18288" rIns="18288" tIns="18288" bIns="18288" anchor="t">
            <a:spAutoFit/>
          </a:bodyPr>
          <a:lstStyle/>
          <a:p>
            <a:pPr algn="l"/>
            <a:r>
              <a:rPr sz="1200" b="1">
                <a:solidFill>
                  <a:srgbClr val="4DD9E7"/>
                </a:solidFill>
                <a:latin typeface="Aptos"/>
              </a:rPr>
              <a:t>AUTHORITY</a:t>
            </a:r>
          </a:p>
        </p:txBody>
      </p:sp>
      <p:sp>
        <p:nvSpPr>
          <p:cNvPr id="19" name="TextBox 18"/>
          <p:cNvSpPr txBox="1"/>
          <p:nvPr/>
        </p:nvSpPr>
        <p:spPr>
          <a:xfrm>
            <a:off x="8577072" y="2715768"/>
            <a:ext cx="2103120" cy="219456"/>
          </a:xfrm>
          <a:prstGeom prst="rect">
            <a:avLst/>
          </a:prstGeom>
          <a:noFill/>
        </p:spPr>
        <p:txBody>
          <a:bodyPr wrap="square" lIns="18288" rIns="18288" tIns="18288" bIns="18288" anchor="t">
            <a:spAutoFit/>
          </a:bodyPr>
          <a:lstStyle/>
          <a:p>
            <a:pPr algn="l"/>
            <a:r>
              <a:rPr sz="1000" b="0">
                <a:solidFill>
                  <a:srgbClr val="AAB8CC"/>
                </a:solidFill>
                <a:latin typeface="Aptos"/>
              </a:rPr>
              <a:t>effects + capabilities</a:t>
            </a:r>
          </a:p>
        </p:txBody>
      </p:sp>
      <p:cxnSp>
        <p:nvCxnSpPr>
          <p:cNvPr id="20" name="Connector 19"/>
          <p:cNvCxnSpPr/>
          <p:nvPr/>
        </p:nvCxnSpPr>
        <p:spPr>
          <a:xfrm flipV="1">
            <a:off x="8028431" y="2715768"/>
            <a:ext cx="274321" cy="1106423"/>
          </a:xfrm>
          <a:prstGeom prst="line">
            <a:avLst/>
          </a:prstGeom>
          <a:ln w="19050">
            <a:solidFill>
              <a:srgbClr val="4DD9E7"/>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412480" y="4160520"/>
            <a:ext cx="2423160" cy="960120"/>
          </a:xfrm>
          <a:prstGeom prst="roundRect">
            <a:avLst>
              <a:gd name="adj" fmla="val 8000"/>
            </a:avLst>
          </a:prstGeom>
          <a:solidFill>
            <a:srgbClr val="09111F"/>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77072" y="4297680"/>
            <a:ext cx="2103120" cy="237744"/>
          </a:xfrm>
          <a:prstGeom prst="rect">
            <a:avLst/>
          </a:prstGeom>
          <a:noFill/>
        </p:spPr>
        <p:txBody>
          <a:bodyPr wrap="square" lIns="18288" rIns="18288" tIns="18288" bIns="18288" anchor="t">
            <a:spAutoFit/>
          </a:bodyPr>
          <a:lstStyle/>
          <a:p>
            <a:pPr algn="l"/>
            <a:r>
              <a:rPr sz="1200" b="1">
                <a:solidFill>
                  <a:srgbClr val="4DD9E7"/>
                </a:solidFill>
                <a:latin typeface="Aptos"/>
              </a:rPr>
              <a:t>PUBLICATION</a:t>
            </a:r>
          </a:p>
        </p:txBody>
      </p:sp>
      <p:sp>
        <p:nvSpPr>
          <p:cNvPr id="23" name="TextBox 22"/>
          <p:cNvSpPr txBox="1"/>
          <p:nvPr/>
        </p:nvSpPr>
        <p:spPr>
          <a:xfrm>
            <a:off x="8577072" y="4636008"/>
            <a:ext cx="2103120" cy="219456"/>
          </a:xfrm>
          <a:prstGeom prst="rect">
            <a:avLst/>
          </a:prstGeom>
          <a:noFill/>
        </p:spPr>
        <p:txBody>
          <a:bodyPr wrap="square" lIns="18288" rIns="18288" tIns="18288" bIns="18288" anchor="t">
            <a:spAutoFit/>
          </a:bodyPr>
          <a:lstStyle/>
          <a:p>
            <a:pPr algn="l"/>
            <a:r>
              <a:rPr sz="1000" b="0">
                <a:solidFill>
                  <a:srgbClr val="AAB8CC"/>
                </a:solidFill>
                <a:latin typeface="Aptos"/>
              </a:rPr>
              <a:t>validate + commit or roll back</a:t>
            </a:r>
          </a:p>
        </p:txBody>
      </p:sp>
      <p:cxnSp>
        <p:nvCxnSpPr>
          <p:cNvPr id="24" name="Connector 23"/>
          <p:cNvCxnSpPr/>
          <p:nvPr/>
        </p:nvCxnSpPr>
        <p:spPr>
          <a:xfrm>
            <a:off x="8028431" y="3822191"/>
            <a:ext cx="274321" cy="813817"/>
          </a:xfrm>
          <a:prstGeom prst="line">
            <a:avLst/>
          </a:prstGeom>
          <a:ln w="19050">
            <a:solidFill>
              <a:srgbClr val="4DD9E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WORKFLOW</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05</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2700" b="1">
                <a:solidFill>
                  <a:srgbClr val="F5F7FA"/>
                </a:solidFill>
                <a:latin typeface="Aptos"/>
              </a:rPr>
              <a:t>From reconstruct-and-repair to query-change-prove</a:t>
            </a:r>
          </a:p>
        </p:txBody>
      </p:sp>
      <p:sp>
        <p:nvSpPr>
          <p:cNvPr id="5" name="Rounded Rectangle 4"/>
          <p:cNvSpPr/>
          <p:nvPr/>
        </p:nvSpPr>
        <p:spPr>
          <a:xfrm>
            <a:off x="676656" y="1664208"/>
            <a:ext cx="1097280" cy="310896"/>
          </a:xfrm>
          <a:prstGeom prst="roundRect">
            <a:avLst>
              <a:gd name="adj" fmla="val 45000"/>
            </a:avLst>
          </a:prstGeom>
          <a:solidFill>
            <a:srgbClr val="F07178"/>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 y="1673352"/>
            <a:ext cx="1097280" cy="256032"/>
          </a:xfrm>
          <a:prstGeom prst="rect">
            <a:avLst/>
          </a:prstGeom>
          <a:noFill/>
        </p:spPr>
        <p:txBody>
          <a:bodyPr wrap="square" lIns="18288" rIns="18288" tIns="18288" bIns="18288" anchor="ctr">
            <a:spAutoFit/>
          </a:bodyPr>
          <a:lstStyle/>
          <a:p>
            <a:pPr algn="ctr"/>
            <a:r>
              <a:rPr sz="900" b="1">
                <a:solidFill>
                  <a:srgbClr val="F5F7FA"/>
                </a:solidFill>
                <a:latin typeface="Aptos"/>
              </a:rPr>
              <a:t>BEFORE</a:t>
            </a:r>
          </a:p>
        </p:txBody>
      </p:sp>
      <p:sp>
        <p:nvSpPr>
          <p:cNvPr id="7" name="Rounded Rectangle 6"/>
          <p:cNvSpPr/>
          <p:nvPr/>
        </p:nvSpPr>
        <p:spPr>
          <a:xfrm>
            <a:off x="6172200" y="1664208"/>
            <a:ext cx="1097280" cy="310896"/>
          </a:xfrm>
          <a:prstGeom prst="roundRect">
            <a:avLst>
              <a:gd name="adj" fmla="val 45000"/>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0" y="1673352"/>
            <a:ext cx="1097280" cy="256032"/>
          </a:xfrm>
          <a:prstGeom prst="rect">
            <a:avLst/>
          </a:prstGeom>
          <a:noFill/>
        </p:spPr>
        <p:txBody>
          <a:bodyPr wrap="square" lIns="18288" rIns="18288" tIns="18288" bIns="18288" anchor="ctr">
            <a:spAutoFit/>
          </a:bodyPr>
          <a:lstStyle/>
          <a:p>
            <a:pPr algn="ctr"/>
            <a:r>
              <a:rPr sz="900" b="1">
                <a:solidFill>
                  <a:srgbClr val="09111F"/>
                </a:solidFill>
                <a:latin typeface="Aptos"/>
              </a:rPr>
              <a:t>WITH AIL</a:t>
            </a:r>
          </a:p>
        </p:txBody>
      </p:sp>
      <p:sp>
        <p:nvSpPr>
          <p:cNvPr id="9" name="Oval 8"/>
          <p:cNvSpPr/>
          <p:nvPr/>
        </p:nvSpPr>
        <p:spPr>
          <a:xfrm>
            <a:off x="722376" y="2450592"/>
            <a:ext cx="118872" cy="118872"/>
          </a:xfrm>
          <a:prstGeom prst="ellipse">
            <a:avLst/>
          </a:prstGeom>
          <a:solidFill>
            <a:srgbClr val="F07178"/>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267712"/>
            <a:ext cx="4343400" cy="457200"/>
          </a:xfrm>
          <a:prstGeom prst="rect">
            <a:avLst/>
          </a:prstGeom>
          <a:noFill/>
        </p:spPr>
        <p:txBody>
          <a:bodyPr wrap="square" lIns="18288" rIns="18288" tIns="18288" bIns="18288" anchor="t">
            <a:spAutoFit/>
          </a:bodyPr>
          <a:lstStyle/>
          <a:p>
            <a:pPr algn="l"/>
            <a:r>
              <a:rPr sz="1600" b="1">
                <a:solidFill>
                  <a:srgbClr val="F5F7FA"/>
                </a:solidFill>
                <a:latin typeface="Aptos"/>
              </a:rPr>
              <a:t>Search repository</a:t>
            </a:r>
          </a:p>
        </p:txBody>
      </p:sp>
      <p:cxnSp>
        <p:nvCxnSpPr>
          <p:cNvPr id="11" name="Connector 10"/>
          <p:cNvCxnSpPr/>
          <p:nvPr/>
        </p:nvCxnSpPr>
        <p:spPr>
          <a:xfrm>
            <a:off x="781812" y="2596896"/>
            <a:ext cx="0" cy="475488"/>
          </a:xfrm>
          <a:prstGeom prst="line">
            <a:avLst/>
          </a:prstGeom>
          <a:ln w="19050">
            <a:solidFill>
              <a:srgbClr val="F0717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722376" y="3145536"/>
            <a:ext cx="118872" cy="118872"/>
          </a:xfrm>
          <a:prstGeom prst="ellipse">
            <a:avLst/>
          </a:prstGeom>
          <a:solidFill>
            <a:srgbClr val="F07178"/>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962656"/>
            <a:ext cx="4343400" cy="457200"/>
          </a:xfrm>
          <a:prstGeom prst="rect">
            <a:avLst/>
          </a:prstGeom>
          <a:noFill/>
        </p:spPr>
        <p:txBody>
          <a:bodyPr wrap="square" lIns="18288" rIns="18288" tIns="18288" bIns="18288" anchor="t">
            <a:spAutoFit/>
          </a:bodyPr>
          <a:lstStyle/>
          <a:p>
            <a:pPr algn="l"/>
            <a:r>
              <a:rPr sz="1600" b="0">
                <a:solidFill>
                  <a:srgbClr val="F5F7FA"/>
                </a:solidFill>
                <a:latin typeface="Aptos"/>
              </a:rPr>
              <a:t>Infer dependencies</a:t>
            </a:r>
          </a:p>
        </p:txBody>
      </p:sp>
      <p:cxnSp>
        <p:nvCxnSpPr>
          <p:cNvPr id="14" name="Connector 13"/>
          <p:cNvCxnSpPr/>
          <p:nvPr/>
        </p:nvCxnSpPr>
        <p:spPr>
          <a:xfrm>
            <a:off x="781812" y="3291840"/>
            <a:ext cx="0" cy="475488"/>
          </a:xfrm>
          <a:prstGeom prst="line">
            <a:avLst/>
          </a:prstGeom>
          <a:ln w="19050">
            <a:solidFill>
              <a:srgbClr val="F07178"/>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22376" y="3840480"/>
            <a:ext cx="118872" cy="118872"/>
          </a:xfrm>
          <a:prstGeom prst="ellipse">
            <a:avLst/>
          </a:prstGeom>
          <a:solidFill>
            <a:srgbClr val="F07178"/>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657600"/>
            <a:ext cx="4343400" cy="457200"/>
          </a:xfrm>
          <a:prstGeom prst="rect">
            <a:avLst/>
          </a:prstGeom>
          <a:noFill/>
        </p:spPr>
        <p:txBody>
          <a:bodyPr wrap="square" lIns="18288" rIns="18288" tIns="18288" bIns="18288" anchor="t">
            <a:spAutoFit/>
          </a:bodyPr>
          <a:lstStyle/>
          <a:p>
            <a:pPr algn="l"/>
            <a:r>
              <a:rPr sz="1600" b="0">
                <a:solidFill>
                  <a:srgbClr val="F5F7FA"/>
                </a:solidFill>
                <a:latin typeface="Aptos"/>
              </a:rPr>
              <a:t>Coordinate text edits</a:t>
            </a:r>
          </a:p>
        </p:txBody>
      </p:sp>
      <p:cxnSp>
        <p:nvCxnSpPr>
          <p:cNvPr id="17" name="Connector 16"/>
          <p:cNvCxnSpPr/>
          <p:nvPr/>
        </p:nvCxnSpPr>
        <p:spPr>
          <a:xfrm>
            <a:off x="781812" y="3986784"/>
            <a:ext cx="0" cy="475488"/>
          </a:xfrm>
          <a:prstGeom prst="line">
            <a:avLst/>
          </a:prstGeom>
          <a:ln w="19050">
            <a:solidFill>
              <a:srgbClr val="F0717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722376" y="4535424"/>
            <a:ext cx="118872" cy="118872"/>
          </a:xfrm>
          <a:prstGeom prst="ellipse">
            <a:avLst/>
          </a:prstGeom>
          <a:solidFill>
            <a:srgbClr val="F07178"/>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352544"/>
            <a:ext cx="4343400" cy="457200"/>
          </a:xfrm>
          <a:prstGeom prst="rect">
            <a:avLst/>
          </a:prstGeom>
          <a:noFill/>
        </p:spPr>
        <p:txBody>
          <a:bodyPr wrap="square" lIns="18288" rIns="18288" tIns="18288" bIns="18288" anchor="t">
            <a:spAutoFit/>
          </a:bodyPr>
          <a:lstStyle/>
          <a:p>
            <a:pPr algn="l"/>
            <a:r>
              <a:rPr sz="1600" b="0">
                <a:solidFill>
                  <a:srgbClr val="F5F7FA"/>
                </a:solidFill>
                <a:latin typeface="Aptos"/>
              </a:rPr>
              <a:t>Run broad checks</a:t>
            </a:r>
          </a:p>
        </p:txBody>
      </p:sp>
      <p:cxnSp>
        <p:nvCxnSpPr>
          <p:cNvPr id="20" name="Connector 19"/>
          <p:cNvCxnSpPr/>
          <p:nvPr/>
        </p:nvCxnSpPr>
        <p:spPr>
          <a:xfrm>
            <a:off x="781812" y="4681728"/>
            <a:ext cx="0" cy="475488"/>
          </a:xfrm>
          <a:prstGeom prst="line">
            <a:avLst/>
          </a:prstGeom>
          <a:ln w="19050">
            <a:solidFill>
              <a:srgbClr val="F07178"/>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22376" y="5230368"/>
            <a:ext cx="118872" cy="118872"/>
          </a:xfrm>
          <a:prstGeom prst="ellipse">
            <a:avLst/>
          </a:prstGeom>
          <a:solidFill>
            <a:srgbClr val="F07178"/>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047488"/>
            <a:ext cx="4343400" cy="457200"/>
          </a:xfrm>
          <a:prstGeom prst="rect">
            <a:avLst/>
          </a:prstGeom>
          <a:noFill/>
        </p:spPr>
        <p:txBody>
          <a:bodyPr wrap="square" lIns="18288" rIns="18288" tIns="18288" bIns="18288" anchor="t">
            <a:spAutoFit/>
          </a:bodyPr>
          <a:lstStyle/>
          <a:p>
            <a:pPr algn="l"/>
            <a:r>
              <a:rPr sz="1600" b="1">
                <a:solidFill>
                  <a:srgbClr val="F5F7FA"/>
                </a:solidFill>
                <a:latin typeface="Aptos"/>
              </a:rPr>
              <a:t>Repair surprises</a:t>
            </a:r>
          </a:p>
        </p:txBody>
      </p:sp>
      <p:sp>
        <p:nvSpPr>
          <p:cNvPr id="23" name="Oval 22"/>
          <p:cNvSpPr/>
          <p:nvPr/>
        </p:nvSpPr>
        <p:spPr>
          <a:xfrm>
            <a:off x="6217920" y="2450592"/>
            <a:ext cx="118872" cy="118872"/>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01384" y="2267712"/>
            <a:ext cx="4343400" cy="457200"/>
          </a:xfrm>
          <a:prstGeom prst="rect">
            <a:avLst/>
          </a:prstGeom>
          <a:noFill/>
        </p:spPr>
        <p:txBody>
          <a:bodyPr wrap="square" lIns="18288" rIns="18288" tIns="18288" bIns="18288" anchor="t">
            <a:spAutoFit/>
          </a:bodyPr>
          <a:lstStyle/>
          <a:p>
            <a:pPr algn="l"/>
            <a:r>
              <a:rPr sz="1600" b="1">
                <a:solidFill>
                  <a:srgbClr val="F5F7FA"/>
                </a:solidFill>
                <a:latin typeface="Aptos"/>
              </a:rPr>
              <a:t>Query supported impact</a:t>
            </a:r>
          </a:p>
        </p:txBody>
      </p:sp>
      <p:cxnSp>
        <p:nvCxnSpPr>
          <p:cNvPr id="25" name="Connector 24"/>
          <p:cNvCxnSpPr/>
          <p:nvPr/>
        </p:nvCxnSpPr>
        <p:spPr>
          <a:xfrm>
            <a:off x="6277356" y="2596896"/>
            <a:ext cx="0" cy="475488"/>
          </a:xfrm>
          <a:prstGeom prst="line">
            <a:avLst/>
          </a:prstGeom>
          <a:ln w="19050">
            <a:solidFill>
              <a:srgbClr val="61D095"/>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6217920" y="3145536"/>
            <a:ext cx="118872" cy="118872"/>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01384" y="2962656"/>
            <a:ext cx="4343400" cy="457200"/>
          </a:xfrm>
          <a:prstGeom prst="rect">
            <a:avLst/>
          </a:prstGeom>
          <a:noFill/>
        </p:spPr>
        <p:txBody>
          <a:bodyPr wrap="square" lIns="18288" rIns="18288" tIns="18288" bIns="18288" anchor="t">
            <a:spAutoFit/>
          </a:bodyPr>
          <a:lstStyle/>
          <a:p>
            <a:pPr algn="l"/>
            <a:r>
              <a:rPr sz="1600" b="0">
                <a:solidFill>
                  <a:srgbClr val="F5F7FA"/>
                </a:solidFill>
                <a:latin typeface="Aptos"/>
              </a:rPr>
              <a:t>Inspect authority + policy</a:t>
            </a:r>
          </a:p>
        </p:txBody>
      </p:sp>
      <p:cxnSp>
        <p:nvCxnSpPr>
          <p:cNvPr id="28" name="Connector 27"/>
          <p:cNvCxnSpPr/>
          <p:nvPr/>
        </p:nvCxnSpPr>
        <p:spPr>
          <a:xfrm>
            <a:off x="6277356" y="3291840"/>
            <a:ext cx="0" cy="475488"/>
          </a:xfrm>
          <a:prstGeom prst="line">
            <a:avLst/>
          </a:prstGeom>
          <a:ln w="19050">
            <a:solidFill>
              <a:srgbClr val="61D095"/>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217920" y="3840480"/>
            <a:ext cx="118872" cy="118872"/>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1384" y="3657600"/>
            <a:ext cx="4343400" cy="457200"/>
          </a:xfrm>
          <a:prstGeom prst="rect">
            <a:avLst/>
          </a:prstGeom>
          <a:noFill/>
        </p:spPr>
        <p:txBody>
          <a:bodyPr wrap="square" lIns="18288" rIns="18288" tIns="18288" bIns="18288" anchor="t">
            <a:spAutoFit/>
          </a:bodyPr>
          <a:lstStyle/>
          <a:p>
            <a:pPr algn="l"/>
            <a:r>
              <a:rPr sz="1600" b="0">
                <a:solidFill>
                  <a:srgbClr val="F5F7FA"/>
                </a:solidFill>
                <a:latin typeface="Aptos"/>
              </a:rPr>
              <a:t>Submit whole candidate</a:t>
            </a:r>
          </a:p>
        </p:txBody>
      </p:sp>
      <p:cxnSp>
        <p:nvCxnSpPr>
          <p:cNvPr id="31" name="Connector 30"/>
          <p:cNvCxnSpPr/>
          <p:nvPr/>
        </p:nvCxnSpPr>
        <p:spPr>
          <a:xfrm>
            <a:off x="6277356" y="3986784"/>
            <a:ext cx="0" cy="475488"/>
          </a:xfrm>
          <a:prstGeom prst="line">
            <a:avLst/>
          </a:prstGeom>
          <a:ln w="19050">
            <a:solidFill>
              <a:srgbClr val="61D095"/>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6217920" y="4535424"/>
            <a:ext cx="118872" cy="118872"/>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01384" y="4352544"/>
            <a:ext cx="4343400" cy="457200"/>
          </a:xfrm>
          <a:prstGeom prst="rect">
            <a:avLst/>
          </a:prstGeom>
          <a:noFill/>
        </p:spPr>
        <p:txBody>
          <a:bodyPr wrap="square" lIns="18288" rIns="18288" tIns="18288" bIns="18288" anchor="t">
            <a:spAutoFit/>
          </a:bodyPr>
          <a:lstStyle/>
          <a:p>
            <a:pPr algn="l"/>
            <a:r>
              <a:rPr sz="1600" b="0">
                <a:solidFill>
                  <a:srgbClr val="F5F7FA"/>
                </a:solidFill>
                <a:latin typeface="Aptos"/>
              </a:rPr>
              <a:t>Compiler validates evidence</a:t>
            </a:r>
          </a:p>
        </p:txBody>
      </p:sp>
      <p:cxnSp>
        <p:nvCxnSpPr>
          <p:cNvPr id="34" name="Connector 33"/>
          <p:cNvCxnSpPr/>
          <p:nvPr/>
        </p:nvCxnSpPr>
        <p:spPr>
          <a:xfrm>
            <a:off x="6277356" y="4681728"/>
            <a:ext cx="0" cy="475488"/>
          </a:xfrm>
          <a:prstGeom prst="line">
            <a:avLst/>
          </a:prstGeom>
          <a:ln w="19050">
            <a:solidFill>
              <a:srgbClr val="61D095"/>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6217920" y="5230368"/>
            <a:ext cx="118872" cy="118872"/>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01384" y="5047488"/>
            <a:ext cx="4343400" cy="457200"/>
          </a:xfrm>
          <a:prstGeom prst="rect">
            <a:avLst/>
          </a:prstGeom>
          <a:noFill/>
        </p:spPr>
        <p:txBody>
          <a:bodyPr wrap="square" lIns="18288" rIns="18288" tIns="18288" bIns="18288" anchor="t">
            <a:spAutoFit/>
          </a:bodyPr>
          <a:lstStyle/>
          <a:p>
            <a:pPr algn="l"/>
            <a:r>
              <a:rPr sz="1600" b="1">
                <a:solidFill>
                  <a:srgbClr val="F5F7FA"/>
                </a:solidFill>
                <a:latin typeface="Aptos"/>
              </a:rPr>
              <a:t>Publish or roll back</a:t>
            </a:r>
          </a:p>
        </p:txBody>
      </p:sp>
      <p:cxnSp>
        <p:nvCxnSpPr>
          <p:cNvPr id="37" name="Connector 36"/>
          <p:cNvCxnSpPr/>
          <p:nvPr/>
        </p:nvCxnSpPr>
        <p:spPr>
          <a:xfrm>
            <a:off x="5696712" y="1755648"/>
            <a:ext cx="0" cy="4032504"/>
          </a:xfrm>
          <a:prstGeom prst="line">
            <a:avLst/>
          </a:prstGeom>
          <a:ln w="25400">
            <a:solidFill>
              <a:srgbClr val="17263C"/>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562856" y="5916168"/>
            <a:ext cx="2286000" cy="292608"/>
          </a:xfrm>
          <a:prstGeom prst="rect">
            <a:avLst/>
          </a:prstGeom>
          <a:noFill/>
        </p:spPr>
        <p:txBody>
          <a:bodyPr wrap="square" lIns="18288" rIns="18288" tIns="18288" bIns="18288" anchor="t">
            <a:spAutoFit/>
          </a:bodyPr>
          <a:lstStyle/>
          <a:p>
            <a:pPr algn="ctr"/>
            <a:r>
              <a:rPr sz="1000" b="1">
                <a:solidFill>
                  <a:srgbClr val="4DD9E7"/>
                </a:solidFill>
                <a:latin typeface="Aptos"/>
              </a:rPr>
              <a:t>LESS RECONSTRUCTION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PROOF TODAY</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06</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2700" b="1">
                <a:solidFill>
                  <a:srgbClr val="F5F7FA"/>
                </a:solidFill>
                <a:latin typeface="Aptos"/>
              </a:rPr>
              <a:t>The Rust compiler already validates complete changes</a:t>
            </a:r>
          </a:p>
        </p:txBody>
      </p:sp>
      <p:sp>
        <p:nvSpPr>
          <p:cNvPr id="5" name="TextBox 4"/>
          <p:cNvSpPr txBox="1"/>
          <p:nvPr/>
        </p:nvSpPr>
        <p:spPr>
          <a:xfrm>
            <a:off x="585216" y="1399032"/>
            <a:ext cx="10607040" cy="347472"/>
          </a:xfrm>
          <a:prstGeom prst="rect">
            <a:avLst/>
          </a:prstGeom>
          <a:noFill/>
        </p:spPr>
        <p:txBody>
          <a:bodyPr wrap="square" lIns="18288" rIns="18288" tIns="18288" bIns="18288" anchor="t">
            <a:spAutoFit/>
          </a:bodyPr>
          <a:lstStyle/>
          <a:p>
            <a:pPr algn="l"/>
            <a:r>
              <a:rPr sz="1300" b="0">
                <a:solidFill>
                  <a:srgbClr val="AAB8CC"/>
                </a:solidFill>
                <a:latin typeface="Aptos"/>
              </a:rPr>
              <a:t>Checked-in contracts and deterministic fixtures define the behavior.</a:t>
            </a:r>
          </a:p>
        </p:txBody>
      </p:sp>
      <p:sp>
        <p:nvSpPr>
          <p:cNvPr id="6" name="Rounded Rectangle 5"/>
          <p:cNvSpPr/>
          <p:nvPr/>
        </p:nvSpPr>
        <p:spPr>
          <a:xfrm>
            <a:off x="530352" y="1965960"/>
            <a:ext cx="1920240" cy="1417320"/>
          </a:xfrm>
          <a:prstGeom prst="roundRect">
            <a:avLst>
              <a:gd name="adj" fmla="val 8000"/>
            </a:avLst>
          </a:prstGeom>
          <a:solidFill>
            <a:srgbClr val="111D30"/>
          </a:solidFill>
          <a:ln w="12700">
            <a:solidFill>
              <a:srgbClr val="5E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167128"/>
            <a:ext cx="1645920" cy="256032"/>
          </a:xfrm>
          <a:prstGeom prst="rect">
            <a:avLst/>
          </a:prstGeom>
          <a:noFill/>
        </p:spPr>
        <p:txBody>
          <a:bodyPr wrap="square" lIns="18288" rIns="18288" tIns="18288" bIns="18288" anchor="t">
            <a:spAutoFit/>
          </a:bodyPr>
          <a:lstStyle/>
          <a:p>
            <a:pPr algn="ctr"/>
            <a:r>
              <a:rPr sz="1200" b="1">
                <a:solidFill>
                  <a:srgbClr val="5E8BFF"/>
                </a:solidFill>
                <a:latin typeface="Aptos"/>
              </a:rPr>
              <a:t>SOURCE</a:t>
            </a:r>
          </a:p>
        </p:txBody>
      </p:sp>
      <p:sp>
        <p:nvSpPr>
          <p:cNvPr id="8" name="TextBox 7"/>
          <p:cNvSpPr txBox="1"/>
          <p:nvPr/>
        </p:nvSpPr>
        <p:spPr>
          <a:xfrm>
            <a:off x="667512" y="2606040"/>
            <a:ext cx="1645920" cy="475488"/>
          </a:xfrm>
          <a:prstGeom prst="rect">
            <a:avLst/>
          </a:prstGeom>
          <a:noFill/>
        </p:spPr>
        <p:txBody>
          <a:bodyPr wrap="square" lIns="18288" rIns="18288" tIns="18288" bIns="18288" anchor="t">
            <a:spAutoFit/>
          </a:bodyPr>
          <a:lstStyle/>
          <a:p>
            <a:pPr algn="ctr"/>
            <a:r>
              <a:rPr sz="1100" b="0">
                <a:solidFill>
                  <a:srgbClr val="AAB8CC"/>
                </a:solidFill>
                <a:latin typeface="Aptos"/>
              </a:rPr>
              <a:t>lossless parse
canonical format</a:t>
            </a:r>
          </a:p>
        </p:txBody>
      </p:sp>
      <p:cxnSp>
        <p:nvCxnSpPr>
          <p:cNvPr id="9" name="Connector 8"/>
          <p:cNvCxnSpPr/>
          <p:nvPr/>
        </p:nvCxnSpPr>
        <p:spPr>
          <a:xfrm>
            <a:off x="2478024" y="2679192"/>
            <a:ext cx="274320" cy="0"/>
          </a:xfrm>
          <a:prstGeom prst="line">
            <a:avLst/>
          </a:prstGeom>
          <a:ln w="25400">
            <a:solidFill>
              <a:srgbClr val="5E8BFF"/>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34640" y="1965960"/>
            <a:ext cx="1920240" cy="1417320"/>
          </a:xfrm>
          <a:prstGeom prst="roundRect">
            <a:avLst>
              <a:gd name="adj" fmla="val 8000"/>
            </a:avLst>
          </a:prstGeom>
          <a:solidFill>
            <a:srgbClr val="111D30"/>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1800" y="2167128"/>
            <a:ext cx="1645920" cy="256032"/>
          </a:xfrm>
          <a:prstGeom prst="rect">
            <a:avLst/>
          </a:prstGeom>
          <a:noFill/>
        </p:spPr>
        <p:txBody>
          <a:bodyPr wrap="square" lIns="18288" rIns="18288" tIns="18288" bIns="18288" anchor="t">
            <a:spAutoFit/>
          </a:bodyPr>
          <a:lstStyle/>
          <a:p>
            <a:pPr algn="ctr"/>
            <a:r>
              <a:rPr sz="1200" b="1">
                <a:solidFill>
                  <a:srgbClr val="4DD9E7"/>
                </a:solidFill>
                <a:latin typeface="Aptos"/>
              </a:rPr>
              <a:t>SEMANTICS</a:t>
            </a:r>
          </a:p>
        </p:txBody>
      </p:sp>
      <p:sp>
        <p:nvSpPr>
          <p:cNvPr id="12" name="TextBox 11"/>
          <p:cNvSpPr txBox="1"/>
          <p:nvPr/>
        </p:nvSpPr>
        <p:spPr>
          <a:xfrm>
            <a:off x="2971800" y="2606040"/>
            <a:ext cx="1645920" cy="475488"/>
          </a:xfrm>
          <a:prstGeom prst="rect">
            <a:avLst/>
          </a:prstGeom>
          <a:noFill/>
        </p:spPr>
        <p:txBody>
          <a:bodyPr wrap="square" lIns="18288" rIns="18288" tIns="18288" bIns="18288" anchor="t">
            <a:spAutoFit/>
          </a:bodyPr>
          <a:lstStyle/>
          <a:p>
            <a:pPr algn="ctr"/>
            <a:r>
              <a:rPr sz="1100" b="0">
                <a:solidFill>
                  <a:srgbClr val="AAB8CC"/>
                </a:solidFill>
                <a:latin typeface="Aptos"/>
              </a:rPr>
              <a:t>types • effects
capabilities</a:t>
            </a:r>
          </a:p>
        </p:txBody>
      </p:sp>
      <p:cxnSp>
        <p:nvCxnSpPr>
          <p:cNvPr id="13" name="Connector 12"/>
          <p:cNvCxnSpPr/>
          <p:nvPr/>
        </p:nvCxnSpPr>
        <p:spPr>
          <a:xfrm>
            <a:off x="4782312" y="2679192"/>
            <a:ext cx="274320" cy="0"/>
          </a:xfrm>
          <a:prstGeom prst="line">
            <a:avLst/>
          </a:prstGeom>
          <a:ln w="25400">
            <a:solidFill>
              <a:srgbClr val="4DD9E7"/>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138928" y="1965960"/>
            <a:ext cx="1920240" cy="1417320"/>
          </a:xfrm>
          <a:prstGeom prst="roundRect">
            <a:avLst>
              <a:gd name="adj" fmla="val 8000"/>
            </a:avLst>
          </a:prstGeom>
          <a:solidFill>
            <a:srgbClr val="111D30"/>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76088" y="2167128"/>
            <a:ext cx="1645920" cy="256032"/>
          </a:xfrm>
          <a:prstGeom prst="rect">
            <a:avLst/>
          </a:prstGeom>
          <a:noFill/>
        </p:spPr>
        <p:txBody>
          <a:bodyPr wrap="square" lIns="18288" rIns="18288" tIns="18288" bIns="18288" anchor="t">
            <a:spAutoFit/>
          </a:bodyPr>
          <a:lstStyle/>
          <a:p>
            <a:pPr algn="ctr"/>
            <a:r>
              <a:rPr sz="1200" b="1">
                <a:solidFill>
                  <a:srgbClr val="4DD9E7"/>
                </a:solidFill>
                <a:latin typeface="Aptos"/>
              </a:rPr>
              <a:t>REVISION</a:t>
            </a:r>
          </a:p>
        </p:txBody>
      </p:sp>
      <p:sp>
        <p:nvSpPr>
          <p:cNvPr id="16" name="TextBox 15"/>
          <p:cNvSpPr txBox="1"/>
          <p:nvPr/>
        </p:nvSpPr>
        <p:spPr>
          <a:xfrm>
            <a:off x="5276088" y="2606040"/>
            <a:ext cx="1645920" cy="475488"/>
          </a:xfrm>
          <a:prstGeom prst="rect">
            <a:avLst/>
          </a:prstGeom>
          <a:noFill/>
        </p:spPr>
        <p:txBody>
          <a:bodyPr wrap="square" lIns="18288" rIns="18288" tIns="18288" bIns="18288" anchor="t">
            <a:spAutoFit/>
          </a:bodyPr>
          <a:lstStyle/>
          <a:p>
            <a:pPr algn="ctr"/>
            <a:r>
              <a:rPr sz="1100" b="0">
                <a:solidFill>
                  <a:srgbClr val="AAB8CC"/>
                </a:solidFill>
                <a:latin typeface="Aptos"/>
              </a:rPr>
              <a:t>handles • inspect
validated rename</a:t>
            </a:r>
          </a:p>
        </p:txBody>
      </p:sp>
      <p:cxnSp>
        <p:nvCxnSpPr>
          <p:cNvPr id="17" name="Connector 16"/>
          <p:cNvCxnSpPr/>
          <p:nvPr/>
        </p:nvCxnSpPr>
        <p:spPr>
          <a:xfrm>
            <a:off x="7086600" y="2679192"/>
            <a:ext cx="274320" cy="0"/>
          </a:xfrm>
          <a:prstGeom prst="line">
            <a:avLst/>
          </a:prstGeom>
          <a:ln w="25400">
            <a:solidFill>
              <a:srgbClr val="4DD9E7"/>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443216" y="1965960"/>
            <a:ext cx="1920240" cy="1417320"/>
          </a:xfrm>
          <a:prstGeom prst="roundRect">
            <a:avLst>
              <a:gd name="adj" fmla="val 8000"/>
            </a:avLst>
          </a:prstGeom>
          <a:solidFill>
            <a:srgbClr val="111D30"/>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0376" y="2167128"/>
            <a:ext cx="1645920" cy="256032"/>
          </a:xfrm>
          <a:prstGeom prst="rect">
            <a:avLst/>
          </a:prstGeom>
          <a:noFill/>
        </p:spPr>
        <p:txBody>
          <a:bodyPr wrap="square" lIns="18288" rIns="18288" tIns="18288" bIns="18288" anchor="t">
            <a:spAutoFit/>
          </a:bodyPr>
          <a:lstStyle/>
          <a:p>
            <a:pPr algn="ctr"/>
            <a:r>
              <a:rPr sz="1200" b="1">
                <a:solidFill>
                  <a:srgbClr val="61D095"/>
                </a:solidFill>
                <a:latin typeface="Aptos"/>
              </a:rPr>
              <a:t>CHANGE</a:t>
            </a:r>
          </a:p>
        </p:txBody>
      </p:sp>
      <p:sp>
        <p:nvSpPr>
          <p:cNvPr id="20" name="TextBox 19"/>
          <p:cNvSpPr txBox="1"/>
          <p:nvPr/>
        </p:nvSpPr>
        <p:spPr>
          <a:xfrm>
            <a:off x="7580376" y="2606040"/>
            <a:ext cx="1645920" cy="475488"/>
          </a:xfrm>
          <a:prstGeom prst="rect">
            <a:avLst/>
          </a:prstGeom>
          <a:noFill/>
        </p:spPr>
        <p:txBody>
          <a:bodyPr wrap="square" lIns="18288" rIns="18288" tIns="18288" bIns="18288" anchor="t">
            <a:spAutoFit/>
          </a:bodyPr>
          <a:lstStyle/>
          <a:p>
            <a:pPr algn="ctr"/>
            <a:r>
              <a:rPr sz="1100" b="0">
                <a:solidFill>
                  <a:srgbClr val="AAB8CC"/>
                </a:solidFill>
                <a:latin typeface="Aptos"/>
              </a:rPr>
              <a:t>impact • semantic diff
atomic transaction</a:t>
            </a:r>
          </a:p>
        </p:txBody>
      </p:sp>
      <p:cxnSp>
        <p:nvCxnSpPr>
          <p:cNvPr id="21" name="Connector 20"/>
          <p:cNvCxnSpPr/>
          <p:nvPr/>
        </p:nvCxnSpPr>
        <p:spPr>
          <a:xfrm>
            <a:off x="9390888" y="2679192"/>
            <a:ext cx="274320" cy="0"/>
          </a:xfrm>
          <a:prstGeom prst="line">
            <a:avLst/>
          </a:prstGeom>
          <a:ln w="25400">
            <a:solidFill>
              <a:srgbClr val="61D095"/>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747504" y="1965960"/>
            <a:ext cx="1920240" cy="1417320"/>
          </a:xfrm>
          <a:prstGeom prst="roundRect">
            <a:avLst>
              <a:gd name="adj" fmla="val 8000"/>
            </a:avLst>
          </a:prstGeom>
          <a:solidFill>
            <a:srgbClr val="111D30"/>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84664" y="2167128"/>
            <a:ext cx="1645920" cy="256032"/>
          </a:xfrm>
          <a:prstGeom prst="rect">
            <a:avLst/>
          </a:prstGeom>
          <a:noFill/>
        </p:spPr>
        <p:txBody>
          <a:bodyPr wrap="square" lIns="18288" rIns="18288" tIns="18288" bIns="18288" anchor="t">
            <a:spAutoFit/>
          </a:bodyPr>
          <a:lstStyle/>
          <a:p>
            <a:pPr algn="ctr"/>
            <a:r>
              <a:rPr sz="1200" b="1">
                <a:solidFill>
                  <a:srgbClr val="61D095"/>
                </a:solidFill>
                <a:latin typeface="Aptos"/>
              </a:rPr>
              <a:t>POLICY</a:t>
            </a:r>
          </a:p>
        </p:txBody>
      </p:sp>
      <p:sp>
        <p:nvSpPr>
          <p:cNvPr id="24" name="TextBox 23"/>
          <p:cNvSpPr txBox="1"/>
          <p:nvPr/>
        </p:nvSpPr>
        <p:spPr>
          <a:xfrm>
            <a:off x="9884664" y="2606040"/>
            <a:ext cx="1645920" cy="475488"/>
          </a:xfrm>
          <a:prstGeom prst="rect">
            <a:avLst/>
          </a:prstGeom>
          <a:noFill/>
        </p:spPr>
        <p:txBody>
          <a:bodyPr wrap="square" lIns="18288" rIns="18288" tIns="18288" bIns="18288" anchor="t">
            <a:spAutoFit/>
          </a:bodyPr>
          <a:lstStyle/>
          <a:p>
            <a:pPr algn="ctr"/>
            <a:r>
              <a:rPr sz="1100" b="0">
                <a:solidFill>
                  <a:srgbClr val="AAB8CC"/>
                </a:solidFill>
                <a:latin typeface="Aptos"/>
              </a:rPr>
              <a:t>architecture delta
commit / rollback</a:t>
            </a:r>
          </a:p>
        </p:txBody>
      </p:sp>
      <p:sp>
        <p:nvSpPr>
          <p:cNvPr id="25" name="Rounded Rectangle 24"/>
          <p:cNvSpPr/>
          <p:nvPr/>
        </p:nvSpPr>
        <p:spPr>
          <a:xfrm>
            <a:off x="676656" y="4096512"/>
            <a:ext cx="2487168" cy="118872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7" y="4206240"/>
            <a:ext cx="2157984" cy="512064"/>
          </a:xfrm>
          <a:prstGeom prst="rect">
            <a:avLst/>
          </a:prstGeom>
          <a:noFill/>
        </p:spPr>
        <p:txBody>
          <a:bodyPr wrap="square" lIns="18288" rIns="18288" tIns="18288" bIns="18288" anchor="t">
            <a:spAutoFit/>
          </a:bodyPr>
          <a:lstStyle/>
          <a:p>
            <a:pPr algn="l"/>
            <a:r>
              <a:rPr sz="2800" b="1">
                <a:solidFill>
                  <a:srgbClr val="61D095"/>
                </a:solidFill>
                <a:latin typeface="Aptos"/>
              </a:rPr>
              <a:t>37</a:t>
            </a:r>
          </a:p>
        </p:txBody>
      </p:sp>
      <p:sp>
        <p:nvSpPr>
          <p:cNvPr id="27" name="TextBox 26"/>
          <p:cNvSpPr txBox="1"/>
          <p:nvPr/>
        </p:nvSpPr>
        <p:spPr>
          <a:xfrm>
            <a:off x="841247" y="4782312"/>
            <a:ext cx="2157984" cy="320040"/>
          </a:xfrm>
          <a:prstGeom prst="rect">
            <a:avLst/>
          </a:prstGeom>
          <a:noFill/>
        </p:spPr>
        <p:txBody>
          <a:bodyPr wrap="square" lIns="18288" rIns="18288" tIns="18288" bIns="18288" anchor="t">
            <a:spAutoFit/>
          </a:bodyPr>
          <a:lstStyle/>
          <a:p>
            <a:pPr algn="l"/>
            <a:r>
              <a:rPr sz="1100" b="0">
                <a:solidFill>
                  <a:srgbClr val="AAB8CC"/>
                </a:solidFill>
                <a:latin typeface="Aptos"/>
              </a:rPr>
              <a:t>public behavior fixtures</a:t>
            </a:r>
          </a:p>
        </p:txBody>
      </p:sp>
      <p:sp>
        <p:nvSpPr>
          <p:cNvPr id="28" name="Rounded Rectangle 27"/>
          <p:cNvSpPr/>
          <p:nvPr/>
        </p:nvSpPr>
        <p:spPr>
          <a:xfrm>
            <a:off x="3401568" y="4096512"/>
            <a:ext cx="2487168" cy="118872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66160" y="4206240"/>
            <a:ext cx="2157984" cy="512064"/>
          </a:xfrm>
          <a:prstGeom prst="rect">
            <a:avLst/>
          </a:prstGeom>
          <a:noFill/>
        </p:spPr>
        <p:txBody>
          <a:bodyPr wrap="square" lIns="18288" rIns="18288" tIns="18288" bIns="18288" anchor="t">
            <a:spAutoFit/>
          </a:bodyPr>
          <a:lstStyle/>
          <a:p>
            <a:pPr algn="l"/>
            <a:r>
              <a:rPr sz="2800" b="1">
                <a:solidFill>
                  <a:srgbClr val="4DD9E7"/>
                </a:solidFill>
                <a:latin typeface="Aptos"/>
              </a:rPr>
              <a:t>12</a:t>
            </a:r>
          </a:p>
        </p:txBody>
      </p:sp>
      <p:sp>
        <p:nvSpPr>
          <p:cNvPr id="30" name="TextBox 29"/>
          <p:cNvSpPr txBox="1"/>
          <p:nvPr/>
        </p:nvSpPr>
        <p:spPr>
          <a:xfrm>
            <a:off x="3566160" y="4782312"/>
            <a:ext cx="2157984" cy="320040"/>
          </a:xfrm>
          <a:prstGeom prst="rect">
            <a:avLst/>
          </a:prstGeom>
          <a:noFill/>
        </p:spPr>
        <p:txBody>
          <a:bodyPr wrap="square" lIns="18288" rIns="18288" tIns="18288" bIns="18288" anchor="t">
            <a:spAutoFit/>
          </a:bodyPr>
          <a:lstStyle/>
          <a:p>
            <a:pPr algn="l"/>
            <a:r>
              <a:rPr sz="1100" b="0">
                <a:solidFill>
                  <a:srgbClr val="AAB8CC"/>
                </a:solidFill>
                <a:latin typeface="Aptos"/>
              </a:rPr>
              <a:t>semantic relationship kinds</a:t>
            </a:r>
          </a:p>
        </p:txBody>
      </p:sp>
      <p:sp>
        <p:nvSpPr>
          <p:cNvPr id="31" name="Rounded Rectangle 30"/>
          <p:cNvSpPr/>
          <p:nvPr/>
        </p:nvSpPr>
        <p:spPr>
          <a:xfrm>
            <a:off x="6126480" y="4096512"/>
            <a:ext cx="2487168" cy="118872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91072" y="4206240"/>
            <a:ext cx="2157984" cy="512064"/>
          </a:xfrm>
          <a:prstGeom prst="rect">
            <a:avLst/>
          </a:prstGeom>
          <a:noFill/>
        </p:spPr>
        <p:txBody>
          <a:bodyPr wrap="square" lIns="18288" rIns="18288" tIns="18288" bIns="18288" anchor="t">
            <a:spAutoFit/>
          </a:bodyPr>
          <a:lstStyle/>
          <a:p>
            <a:pPr algn="l"/>
            <a:r>
              <a:rPr sz="2800" b="1">
                <a:solidFill>
                  <a:srgbClr val="4DD9E7"/>
                </a:solidFill>
                <a:latin typeface="Aptos"/>
              </a:rPr>
              <a:t>23</a:t>
            </a:r>
          </a:p>
        </p:txBody>
      </p:sp>
      <p:sp>
        <p:nvSpPr>
          <p:cNvPr id="33" name="TextBox 32"/>
          <p:cNvSpPr txBox="1"/>
          <p:nvPr/>
        </p:nvSpPr>
        <p:spPr>
          <a:xfrm>
            <a:off x="6291072" y="4782312"/>
            <a:ext cx="2157984" cy="320040"/>
          </a:xfrm>
          <a:prstGeom prst="rect">
            <a:avLst/>
          </a:prstGeom>
          <a:noFill/>
        </p:spPr>
        <p:txBody>
          <a:bodyPr wrap="square" lIns="18288" rIns="18288" tIns="18288" bIns="18288" anchor="t">
            <a:spAutoFit/>
          </a:bodyPr>
          <a:lstStyle/>
          <a:p>
            <a:pPr algn="l"/>
            <a:r>
              <a:rPr sz="1100" b="0">
                <a:solidFill>
                  <a:srgbClr val="AAB8CC"/>
                </a:solidFill>
                <a:latin typeface="Aptos"/>
              </a:rPr>
              <a:t>architecture contract scenarios</a:t>
            </a:r>
          </a:p>
        </p:txBody>
      </p:sp>
      <p:sp>
        <p:nvSpPr>
          <p:cNvPr id="34" name="Rounded Rectangle 33"/>
          <p:cNvSpPr/>
          <p:nvPr/>
        </p:nvSpPr>
        <p:spPr>
          <a:xfrm>
            <a:off x="8851392" y="4096512"/>
            <a:ext cx="2487168" cy="118872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15984" y="4206240"/>
            <a:ext cx="2157984" cy="512064"/>
          </a:xfrm>
          <a:prstGeom prst="rect">
            <a:avLst/>
          </a:prstGeom>
          <a:noFill/>
        </p:spPr>
        <p:txBody>
          <a:bodyPr wrap="square" lIns="18288" rIns="18288" tIns="18288" bIns="18288" anchor="t">
            <a:spAutoFit/>
          </a:bodyPr>
          <a:lstStyle/>
          <a:p>
            <a:pPr algn="l"/>
            <a:r>
              <a:rPr sz="2800" b="1">
                <a:solidFill>
                  <a:srgbClr val="5E8BFF"/>
                </a:solidFill>
                <a:latin typeface="Aptos"/>
              </a:rPr>
              <a:t>4</a:t>
            </a:r>
          </a:p>
        </p:txBody>
      </p:sp>
      <p:sp>
        <p:nvSpPr>
          <p:cNvPr id="36" name="TextBox 35"/>
          <p:cNvSpPr txBox="1"/>
          <p:nvPr/>
        </p:nvSpPr>
        <p:spPr>
          <a:xfrm>
            <a:off x="9015984" y="4782312"/>
            <a:ext cx="2157984" cy="320040"/>
          </a:xfrm>
          <a:prstGeom prst="rect">
            <a:avLst/>
          </a:prstGeom>
          <a:noFill/>
        </p:spPr>
        <p:txBody>
          <a:bodyPr wrap="square" lIns="18288" rIns="18288" tIns="18288" bIns="18288" anchor="t">
            <a:spAutoFit/>
          </a:bodyPr>
          <a:lstStyle/>
          <a:p>
            <a:pPr algn="l"/>
            <a:r>
              <a:rPr sz="1100" b="0">
                <a:solidFill>
                  <a:srgbClr val="AAB8CC"/>
                </a:solidFill>
                <a:latin typeface="Aptos"/>
              </a:rPr>
              <a:t>behavior-equivalent references</a:t>
            </a:r>
          </a:p>
        </p:txBody>
      </p:sp>
      <p:sp>
        <p:nvSpPr>
          <p:cNvPr id="37" name="TextBox 36"/>
          <p:cNvSpPr txBox="1"/>
          <p:nvPr/>
        </p:nvSpPr>
        <p:spPr>
          <a:xfrm>
            <a:off x="694944" y="5669280"/>
            <a:ext cx="10607040" cy="411480"/>
          </a:xfrm>
          <a:prstGeom prst="rect">
            <a:avLst/>
          </a:prstGeom>
          <a:noFill/>
        </p:spPr>
        <p:txBody>
          <a:bodyPr wrap="square" lIns="18288" rIns="18288" tIns="18288" bIns="18288" anchor="t">
            <a:spAutoFit/>
          </a:bodyPr>
          <a:lstStyle/>
          <a:p>
            <a:pPr algn="ctr"/>
            <a:r>
              <a:rPr sz="1200" b="1">
                <a:solidFill>
                  <a:srgbClr val="F5B942"/>
                </a:solidFill>
                <a:latin typeface="Aptos"/>
              </a:rPr>
              <a:t>WORKS NOW: deterministic compiler enforcement  •  NOT RUN: AIL-versus-baseline agent comparison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IMPACT PROOF</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07</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2700" b="1">
                <a:solidFill>
                  <a:srgbClr val="F5F7FA"/>
                </a:solidFill>
                <a:latin typeface="Aptos"/>
              </a:rPr>
              <a:t>Before editing, the compiler returns the bounded change surface</a:t>
            </a:r>
          </a:p>
        </p:txBody>
      </p:sp>
      <p:sp>
        <p:nvSpPr>
          <p:cNvPr id="5" name="TextBox 4"/>
          <p:cNvSpPr txBox="1"/>
          <p:nvPr/>
        </p:nvSpPr>
        <p:spPr>
          <a:xfrm>
            <a:off x="585216" y="1399032"/>
            <a:ext cx="10607040" cy="347472"/>
          </a:xfrm>
          <a:prstGeom prst="rect">
            <a:avLst/>
          </a:prstGeom>
          <a:noFill/>
        </p:spPr>
        <p:txBody>
          <a:bodyPr wrap="square" lIns="18288" rIns="18288" tIns="18288" bIns="18288" anchor="t">
            <a:spAutoFit/>
          </a:bodyPr>
          <a:lstStyle/>
          <a:p>
            <a:pPr algn="l"/>
            <a:r>
              <a:rPr sz="1300" b="0">
                <a:solidFill>
                  <a:srgbClr val="AAB8CC"/>
                </a:solidFill>
                <a:latin typeface="Aptos"/>
              </a:rPr>
              <a:t>Supported fixture: add required priority while preserving V1 compatibility.</a:t>
            </a:r>
          </a:p>
        </p:txBody>
      </p:sp>
      <p:sp>
        <p:nvSpPr>
          <p:cNvPr id="6" name="Rounded Rectangle 5"/>
          <p:cNvSpPr/>
          <p:nvPr/>
        </p:nvSpPr>
        <p:spPr>
          <a:xfrm>
            <a:off x="658368" y="1865376"/>
            <a:ext cx="2468880" cy="118872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975104"/>
            <a:ext cx="2139696" cy="512064"/>
          </a:xfrm>
          <a:prstGeom prst="rect">
            <a:avLst/>
          </a:prstGeom>
          <a:noFill/>
        </p:spPr>
        <p:txBody>
          <a:bodyPr wrap="square" lIns="18288" rIns="18288" tIns="18288" bIns="18288" anchor="t">
            <a:spAutoFit/>
          </a:bodyPr>
          <a:lstStyle/>
          <a:p>
            <a:pPr algn="l"/>
            <a:r>
              <a:rPr sz="2800" b="1">
                <a:solidFill>
                  <a:srgbClr val="61D095"/>
                </a:solidFill>
                <a:latin typeface="Aptos"/>
              </a:rPr>
              <a:t>12</a:t>
            </a:r>
          </a:p>
        </p:txBody>
      </p:sp>
      <p:sp>
        <p:nvSpPr>
          <p:cNvPr id="8" name="TextBox 7"/>
          <p:cNvSpPr txBox="1"/>
          <p:nvPr/>
        </p:nvSpPr>
        <p:spPr>
          <a:xfrm>
            <a:off x="822959" y="2551176"/>
            <a:ext cx="2139696" cy="320040"/>
          </a:xfrm>
          <a:prstGeom prst="rect">
            <a:avLst/>
          </a:prstGeom>
          <a:noFill/>
        </p:spPr>
        <p:txBody>
          <a:bodyPr wrap="square" lIns="18288" rIns="18288" tIns="18288" bIns="18288" anchor="t">
            <a:spAutoFit/>
          </a:bodyPr>
          <a:lstStyle/>
          <a:p>
            <a:pPr algn="l"/>
            <a:r>
              <a:rPr sz="1100" b="0">
                <a:solidFill>
                  <a:srgbClr val="AAB8CC"/>
                </a:solidFill>
                <a:latin typeface="Aptos"/>
              </a:rPr>
              <a:t>must change</a:t>
            </a:r>
          </a:p>
        </p:txBody>
      </p:sp>
      <p:sp>
        <p:nvSpPr>
          <p:cNvPr id="9" name="Rounded Rectangle 8"/>
          <p:cNvSpPr/>
          <p:nvPr/>
        </p:nvSpPr>
        <p:spPr>
          <a:xfrm>
            <a:off x="3310128" y="1865376"/>
            <a:ext cx="2468880" cy="118872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1975104"/>
            <a:ext cx="2139696" cy="512064"/>
          </a:xfrm>
          <a:prstGeom prst="rect">
            <a:avLst/>
          </a:prstGeom>
          <a:noFill/>
        </p:spPr>
        <p:txBody>
          <a:bodyPr wrap="square" lIns="18288" rIns="18288" tIns="18288" bIns="18288" anchor="t">
            <a:spAutoFit/>
          </a:bodyPr>
          <a:lstStyle/>
          <a:p>
            <a:pPr algn="l"/>
            <a:r>
              <a:rPr sz="2800" b="1">
                <a:solidFill>
                  <a:srgbClr val="F5B942"/>
                </a:solidFill>
                <a:latin typeface="Aptos"/>
              </a:rPr>
              <a:t>2</a:t>
            </a:r>
          </a:p>
        </p:txBody>
      </p:sp>
      <p:sp>
        <p:nvSpPr>
          <p:cNvPr id="11" name="TextBox 10"/>
          <p:cNvSpPr txBox="1"/>
          <p:nvPr/>
        </p:nvSpPr>
        <p:spPr>
          <a:xfrm>
            <a:off x="3474720" y="2551176"/>
            <a:ext cx="2139696" cy="320040"/>
          </a:xfrm>
          <a:prstGeom prst="rect">
            <a:avLst/>
          </a:prstGeom>
          <a:noFill/>
        </p:spPr>
        <p:txBody>
          <a:bodyPr wrap="square" lIns="18288" rIns="18288" tIns="18288" bIns="18288" anchor="t">
            <a:spAutoFit/>
          </a:bodyPr>
          <a:lstStyle/>
          <a:p>
            <a:pPr algn="l"/>
            <a:r>
              <a:rPr sz="1100" b="0">
                <a:solidFill>
                  <a:srgbClr val="AAB8CC"/>
                </a:solidFill>
                <a:latin typeface="Aptos"/>
              </a:rPr>
              <a:t>review with reason</a:t>
            </a:r>
          </a:p>
        </p:txBody>
      </p:sp>
      <p:sp>
        <p:nvSpPr>
          <p:cNvPr id="12" name="Rounded Rectangle 11"/>
          <p:cNvSpPr/>
          <p:nvPr/>
        </p:nvSpPr>
        <p:spPr>
          <a:xfrm>
            <a:off x="5961888" y="1865376"/>
            <a:ext cx="2468880" cy="118872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79" y="1975104"/>
            <a:ext cx="2139696" cy="512064"/>
          </a:xfrm>
          <a:prstGeom prst="rect">
            <a:avLst/>
          </a:prstGeom>
          <a:noFill/>
        </p:spPr>
        <p:txBody>
          <a:bodyPr wrap="square" lIns="18288" rIns="18288" tIns="18288" bIns="18288" anchor="t">
            <a:spAutoFit/>
          </a:bodyPr>
          <a:lstStyle/>
          <a:p>
            <a:pPr algn="l"/>
            <a:r>
              <a:rPr sz="2800" b="1">
                <a:solidFill>
                  <a:srgbClr val="F07178"/>
                </a:solidFill>
                <a:latin typeface="Aptos"/>
              </a:rPr>
              <a:t>1</a:t>
            </a:r>
          </a:p>
        </p:txBody>
      </p:sp>
      <p:sp>
        <p:nvSpPr>
          <p:cNvPr id="14" name="TextBox 13"/>
          <p:cNvSpPr txBox="1"/>
          <p:nvPr/>
        </p:nvSpPr>
        <p:spPr>
          <a:xfrm>
            <a:off x="6126479" y="2551176"/>
            <a:ext cx="2139696" cy="320040"/>
          </a:xfrm>
          <a:prstGeom prst="rect">
            <a:avLst/>
          </a:prstGeom>
          <a:noFill/>
        </p:spPr>
        <p:txBody>
          <a:bodyPr wrap="square" lIns="18288" rIns="18288" tIns="18288" bIns="18288" anchor="t">
            <a:spAutoFit/>
          </a:bodyPr>
          <a:lstStyle/>
          <a:p>
            <a:pPr algn="l"/>
            <a:r>
              <a:rPr sz="1100" b="0">
                <a:solidFill>
                  <a:srgbClr val="AAB8CC"/>
                </a:solidFill>
                <a:latin typeface="Aptos"/>
              </a:rPr>
              <a:t>unchecked boundary</a:t>
            </a:r>
          </a:p>
        </p:txBody>
      </p:sp>
      <p:sp>
        <p:nvSpPr>
          <p:cNvPr id="15" name="Rounded Rectangle 14"/>
          <p:cNvSpPr/>
          <p:nvPr/>
        </p:nvSpPr>
        <p:spPr>
          <a:xfrm>
            <a:off x="8613648" y="1865376"/>
            <a:ext cx="2697480" cy="118872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23960" y="2029968"/>
            <a:ext cx="2304288" cy="301752"/>
          </a:xfrm>
          <a:prstGeom prst="rect">
            <a:avLst/>
          </a:prstGeom>
          <a:noFill/>
        </p:spPr>
        <p:txBody>
          <a:bodyPr wrap="square" lIns="18288" rIns="18288" tIns="18288" bIns="18288" anchor="t">
            <a:spAutoFit/>
          </a:bodyPr>
          <a:lstStyle/>
          <a:p>
            <a:pPr algn="l"/>
            <a:r>
              <a:rPr sz="1100" b="1">
                <a:solidFill>
                  <a:srgbClr val="4DD9E7"/>
                </a:solidFill>
                <a:latin typeface="Aptos"/>
              </a:rPr>
              <a:t>AUTHORITY</a:t>
            </a:r>
          </a:p>
        </p:txBody>
      </p:sp>
      <p:sp>
        <p:nvSpPr>
          <p:cNvPr id="17" name="TextBox 16"/>
          <p:cNvSpPr txBox="1"/>
          <p:nvPr/>
        </p:nvSpPr>
        <p:spPr>
          <a:xfrm>
            <a:off x="8823960" y="2441448"/>
            <a:ext cx="2304288" cy="292608"/>
          </a:xfrm>
          <a:prstGeom prst="rect">
            <a:avLst/>
          </a:prstGeom>
          <a:noFill/>
        </p:spPr>
        <p:txBody>
          <a:bodyPr wrap="square" lIns="18288" rIns="18288" tIns="18288" bIns="18288" anchor="t">
            <a:spAutoFit/>
          </a:bodyPr>
          <a:lstStyle/>
          <a:p>
            <a:pPr algn="l"/>
            <a:r>
              <a:rPr sz="2000" b="1">
                <a:solidFill>
                  <a:srgbClr val="61D095"/>
                </a:solidFill>
                <a:latin typeface="Aptos"/>
              </a:rPr>
              <a:t>unchanged</a:t>
            </a:r>
          </a:p>
        </p:txBody>
      </p:sp>
      <p:sp>
        <p:nvSpPr>
          <p:cNvPr id="18" name="Rounded Rectangle 17"/>
          <p:cNvSpPr/>
          <p:nvPr/>
        </p:nvSpPr>
        <p:spPr>
          <a:xfrm>
            <a:off x="658368" y="3419856"/>
            <a:ext cx="10652760" cy="2121408"/>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3621024"/>
            <a:ext cx="2834640" cy="310896"/>
          </a:xfrm>
          <a:prstGeom prst="rect">
            <a:avLst/>
          </a:prstGeom>
          <a:noFill/>
        </p:spPr>
        <p:txBody>
          <a:bodyPr wrap="square" lIns="18288" rIns="18288" tIns="18288" bIns="18288" anchor="t">
            <a:spAutoFit/>
          </a:bodyPr>
          <a:lstStyle/>
          <a:p>
            <a:pPr algn="l"/>
            <a:r>
              <a:rPr sz="1100" b="1">
                <a:solidFill>
                  <a:srgbClr val="4DD9E7"/>
                </a:solidFill>
                <a:latin typeface="Aptos"/>
              </a:rPr>
              <a:t>COMPILER-DERIVED ROLES</a:t>
            </a:r>
          </a:p>
        </p:txBody>
      </p:sp>
      <p:sp>
        <p:nvSpPr>
          <p:cNvPr id="20" name="Oval 19"/>
          <p:cNvSpPr/>
          <p:nvPr/>
        </p:nvSpPr>
        <p:spPr>
          <a:xfrm>
            <a:off x="914400" y="4233672"/>
            <a:ext cx="109728" cy="109728"/>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4160520"/>
            <a:ext cx="2240280" cy="310896"/>
          </a:xfrm>
          <a:prstGeom prst="rect">
            <a:avLst/>
          </a:prstGeom>
          <a:noFill/>
        </p:spPr>
        <p:txBody>
          <a:bodyPr wrap="square" lIns="18288" rIns="18288" tIns="18288" bIns="18288" anchor="t">
            <a:spAutoFit/>
          </a:bodyPr>
          <a:lstStyle/>
          <a:p>
            <a:pPr algn="l"/>
            <a:r>
              <a:rPr sz="1100" b="0">
                <a:solidFill>
                  <a:srgbClr val="F5F7FA"/>
                </a:solidFill>
                <a:latin typeface="Aptos"/>
              </a:rPr>
              <a:t>request + stored schemas</a:t>
            </a:r>
          </a:p>
        </p:txBody>
      </p:sp>
      <p:sp>
        <p:nvSpPr>
          <p:cNvPr id="22" name="Oval 21"/>
          <p:cNvSpPr/>
          <p:nvPr/>
        </p:nvSpPr>
        <p:spPr>
          <a:xfrm>
            <a:off x="3520440" y="4233672"/>
            <a:ext cx="109728" cy="109728"/>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39" y="4160520"/>
            <a:ext cx="2240280" cy="310896"/>
          </a:xfrm>
          <a:prstGeom prst="rect">
            <a:avLst/>
          </a:prstGeom>
          <a:noFill/>
        </p:spPr>
        <p:txBody>
          <a:bodyPr wrap="square" lIns="18288" rIns="18288" tIns="18288" bIns="18288" anchor="t">
            <a:spAutoFit/>
          </a:bodyPr>
          <a:lstStyle/>
          <a:p>
            <a:pPr algn="l"/>
            <a:r>
              <a:rPr sz="1100" b="0">
                <a:solidFill>
                  <a:srgbClr val="F5F7FA"/>
                </a:solidFill>
                <a:latin typeface="Aptos"/>
              </a:rPr>
              <a:t>V1 adapters</a:t>
            </a:r>
          </a:p>
        </p:txBody>
      </p:sp>
      <p:sp>
        <p:nvSpPr>
          <p:cNvPr id="24" name="Oval 23"/>
          <p:cNvSpPr/>
          <p:nvPr/>
        </p:nvSpPr>
        <p:spPr>
          <a:xfrm>
            <a:off x="6126480" y="4233672"/>
            <a:ext cx="109728" cy="109728"/>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4160520"/>
            <a:ext cx="2240280" cy="310896"/>
          </a:xfrm>
          <a:prstGeom prst="rect">
            <a:avLst/>
          </a:prstGeom>
          <a:noFill/>
        </p:spPr>
        <p:txBody>
          <a:bodyPr wrap="square" lIns="18288" rIns="18288" tIns="18288" bIns="18288" anchor="t">
            <a:spAutoFit/>
          </a:bodyPr>
          <a:lstStyle/>
          <a:p>
            <a:pPr algn="l"/>
            <a:r>
              <a:rPr sz="1100" b="0">
                <a:solidFill>
                  <a:srgbClr val="F5F7FA"/>
                </a:solidFill>
                <a:latin typeface="Aptos"/>
              </a:rPr>
              <a:t>handler construction</a:t>
            </a:r>
          </a:p>
        </p:txBody>
      </p:sp>
      <p:sp>
        <p:nvSpPr>
          <p:cNvPr id="26" name="Oval 25"/>
          <p:cNvSpPr/>
          <p:nvPr/>
        </p:nvSpPr>
        <p:spPr>
          <a:xfrm>
            <a:off x="8732520" y="4233672"/>
            <a:ext cx="109728" cy="109728"/>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0" y="4160520"/>
            <a:ext cx="2240280" cy="310896"/>
          </a:xfrm>
          <a:prstGeom prst="rect">
            <a:avLst/>
          </a:prstGeom>
          <a:noFill/>
        </p:spPr>
        <p:txBody>
          <a:bodyPr wrap="square" lIns="18288" rIns="18288" tIns="18288" bIns="18288" anchor="t">
            <a:spAutoFit/>
          </a:bodyPr>
          <a:lstStyle/>
          <a:p>
            <a:pPr algn="l"/>
            <a:r>
              <a:rPr sz="1100" b="0">
                <a:solidFill>
                  <a:srgbClr val="F5F7FA"/>
                </a:solidFill>
                <a:latin typeface="Aptos"/>
              </a:rPr>
              <a:t>store capability</a:t>
            </a:r>
          </a:p>
        </p:txBody>
      </p:sp>
      <p:sp>
        <p:nvSpPr>
          <p:cNvPr id="28" name="Oval 27"/>
          <p:cNvSpPr/>
          <p:nvPr/>
        </p:nvSpPr>
        <p:spPr>
          <a:xfrm>
            <a:off x="914400" y="4846320"/>
            <a:ext cx="109728" cy="109728"/>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3000" y="4773168"/>
            <a:ext cx="2240280" cy="310896"/>
          </a:xfrm>
          <a:prstGeom prst="rect">
            <a:avLst/>
          </a:prstGeom>
          <a:noFill/>
        </p:spPr>
        <p:txBody>
          <a:bodyPr wrap="square" lIns="18288" rIns="18288" tIns="18288" bIns="18288" anchor="t">
            <a:spAutoFit/>
          </a:bodyPr>
          <a:lstStyle/>
          <a:p>
            <a:pPr algn="l"/>
            <a:r>
              <a:rPr sz="1100" b="0">
                <a:solidFill>
                  <a:srgbClr val="F5F7FA"/>
                </a:solidFill>
                <a:latin typeface="Aptos"/>
              </a:rPr>
              <a:t>persisted encoder</a:t>
            </a:r>
          </a:p>
        </p:txBody>
      </p:sp>
      <p:sp>
        <p:nvSpPr>
          <p:cNvPr id="30" name="Oval 29"/>
          <p:cNvSpPr/>
          <p:nvPr/>
        </p:nvSpPr>
        <p:spPr>
          <a:xfrm>
            <a:off x="3520440" y="4846320"/>
            <a:ext cx="109728" cy="109728"/>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39" y="4773168"/>
            <a:ext cx="2240280" cy="310896"/>
          </a:xfrm>
          <a:prstGeom prst="rect">
            <a:avLst/>
          </a:prstGeom>
          <a:noFill/>
        </p:spPr>
        <p:txBody>
          <a:bodyPr wrap="square" lIns="18288" rIns="18288" tIns="18288" bIns="18288" anchor="t">
            <a:spAutoFit/>
          </a:bodyPr>
          <a:lstStyle/>
          <a:p>
            <a:pPr algn="l"/>
            <a:r>
              <a:rPr sz="1100" b="0">
                <a:solidFill>
                  <a:srgbClr val="F5F7FA"/>
                </a:solidFill>
                <a:latin typeface="Aptos"/>
              </a:rPr>
              <a:t>V1 / V2 projections</a:t>
            </a:r>
          </a:p>
        </p:txBody>
      </p:sp>
      <p:sp>
        <p:nvSpPr>
          <p:cNvPr id="32" name="Oval 31"/>
          <p:cNvSpPr/>
          <p:nvPr/>
        </p:nvSpPr>
        <p:spPr>
          <a:xfrm>
            <a:off x="6126480" y="4846320"/>
            <a:ext cx="109728" cy="109728"/>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4773168"/>
            <a:ext cx="2240280" cy="310896"/>
          </a:xfrm>
          <a:prstGeom prst="rect">
            <a:avLst/>
          </a:prstGeom>
          <a:noFill/>
        </p:spPr>
        <p:txBody>
          <a:bodyPr wrap="square" lIns="18288" rIns="18288" tIns="18288" bIns="18288" anchor="t">
            <a:spAutoFit/>
          </a:bodyPr>
          <a:lstStyle/>
          <a:p>
            <a:pPr algn="l"/>
            <a:r>
              <a:rPr sz="1100" b="0">
                <a:solidFill>
                  <a:srgbClr val="F5F7FA"/>
                </a:solidFill>
                <a:latin typeface="Aptos"/>
              </a:rPr>
              <a:t>fixture + completion evidence</a:t>
            </a:r>
          </a:p>
        </p:txBody>
      </p:sp>
      <p:sp>
        <p:nvSpPr>
          <p:cNvPr id="34" name="TextBox 33"/>
          <p:cNvSpPr txBox="1"/>
          <p:nvPr/>
        </p:nvSpPr>
        <p:spPr>
          <a:xfrm>
            <a:off x="694944" y="5769864"/>
            <a:ext cx="10607040" cy="310896"/>
          </a:xfrm>
          <a:prstGeom prst="rect">
            <a:avLst/>
          </a:prstGeom>
          <a:noFill/>
        </p:spPr>
        <p:txBody>
          <a:bodyPr wrap="square" lIns="18288" rIns="18288" tIns="18288" bIns="18288" anchor="t">
            <a:spAutoFit/>
          </a:bodyPr>
          <a:lstStyle/>
          <a:p>
            <a:pPr algn="ctr"/>
            <a:r>
              <a:rPr sz="1200" b="0">
                <a:solidFill>
                  <a:srgbClr val="AAB8CC"/>
                </a:solidFill>
                <a:latin typeface="Aptos"/>
              </a:rPr>
              <a:t>Honest coverage: external clients stay visible as unchecked—not silently omitted.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POLICY PROOF</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08</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2700" b="1">
                <a:solidFill>
                  <a:srgbClr val="F5F7FA"/>
                </a:solidFill>
                <a:latin typeface="Aptos"/>
              </a:rPr>
              <a:t>Passing behavior evidence is necessary. It is not sufficient.</a:t>
            </a:r>
          </a:p>
        </p:txBody>
      </p:sp>
      <p:sp>
        <p:nvSpPr>
          <p:cNvPr id="5" name="TextBox 4"/>
          <p:cNvSpPr txBox="1"/>
          <p:nvPr/>
        </p:nvSpPr>
        <p:spPr>
          <a:xfrm>
            <a:off x="585216" y="1399032"/>
            <a:ext cx="10607040" cy="347472"/>
          </a:xfrm>
          <a:prstGeom prst="rect">
            <a:avLst/>
          </a:prstGeom>
          <a:noFill/>
        </p:spPr>
        <p:txBody>
          <a:bodyPr wrap="square" lIns="18288" rIns="18288" tIns="18288" bIns="18288" anchor="t">
            <a:spAutoFit/>
          </a:bodyPr>
          <a:lstStyle/>
          <a:p>
            <a:pPr algn="l"/>
            <a:r>
              <a:rPr sz="1300" b="0">
                <a:solidFill>
                  <a:srgbClr val="AAB8CC"/>
                </a:solidFill>
                <a:latin typeface="Aptos"/>
              </a:rPr>
              <a:t>Three frozen semantic candidate fixtures carry the same accepted 6/6 behavior evidence.</a:t>
            </a:r>
          </a:p>
        </p:txBody>
      </p:sp>
      <p:sp>
        <p:nvSpPr>
          <p:cNvPr id="6" name="Rounded Rectangle 5"/>
          <p:cNvSpPr/>
          <p:nvPr/>
        </p:nvSpPr>
        <p:spPr>
          <a:xfrm>
            <a:off x="640080" y="1993392"/>
            <a:ext cx="3127248" cy="3246120"/>
          </a:xfrm>
          <a:prstGeom prst="roundRect">
            <a:avLst>
              <a:gd name="adj" fmla="val 8000"/>
            </a:avLst>
          </a:prstGeom>
          <a:solidFill>
            <a:srgbClr val="111D30"/>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2221992"/>
            <a:ext cx="1481328" cy="310896"/>
          </a:xfrm>
          <a:prstGeom prst="roundRect">
            <a:avLst>
              <a:gd name="adj" fmla="val 45000"/>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231136"/>
            <a:ext cx="1481328" cy="256032"/>
          </a:xfrm>
          <a:prstGeom prst="rect">
            <a:avLst/>
          </a:prstGeom>
          <a:noFill/>
        </p:spPr>
        <p:txBody>
          <a:bodyPr wrap="square" lIns="18288" rIns="18288" tIns="18288" bIns="18288" anchor="ctr">
            <a:spAutoFit/>
          </a:bodyPr>
          <a:lstStyle/>
          <a:p>
            <a:pPr algn="ctr"/>
            <a:r>
              <a:rPr sz="900" b="1">
                <a:solidFill>
                  <a:srgbClr val="09111F"/>
                </a:solidFill>
                <a:latin typeface="Aptos"/>
              </a:rPr>
              <a:t>DOMAIN-OWNED</a:t>
            </a:r>
          </a:p>
        </p:txBody>
      </p:sp>
      <p:sp>
        <p:nvSpPr>
          <p:cNvPr id="9" name="TextBox 8"/>
          <p:cNvSpPr txBox="1"/>
          <p:nvPr/>
        </p:nvSpPr>
        <p:spPr>
          <a:xfrm>
            <a:off x="877824" y="2907792"/>
            <a:ext cx="2651760" cy="347472"/>
          </a:xfrm>
          <a:prstGeom prst="rect">
            <a:avLst/>
          </a:prstGeom>
          <a:noFill/>
        </p:spPr>
        <p:txBody>
          <a:bodyPr wrap="square" lIns="18288" rIns="18288" tIns="18288" bIns="18288" anchor="t">
            <a:spAutoFit/>
          </a:bodyPr>
          <a:lstStyle/>
          <a:p>
            <a:pPr algn="l"/>
            <a:r>
              <a:rPr sz="1800" b="1">
                <a:solidFill>
                  <a:srgbClr val="F5F7FA"/>
                </a:solidFill>
                <a:latin typeface="Aptos"/>
              </a:rPr>
              <a:t>6 / 6 behavior</a:t>
            </a:r>
          </a:p>
        </p:txBody>
      </p:sp>
      <p:sp>
        <p:nvSpPr>
          <p:cNvPr id="10" name="TextBox 9"/>
          <p:cNvSpPr txBox="1"/>
          <p:nvPr/>
        </p:nvSpPr>
        <p:spPr>
          <a:xfrm>
            <a:off x="877824" y="3429000"/>
            <a:ext cx="2651760" cy="310896"/>
          </a:xfrm>
          <a:prstGeom prst="rect">
            <a:avLst/>
          </a:prstGeom>
          <a:noFill/>
        </p:spPr>
        <p:txBody>
          <a:bodyPr wrap="square" lIns="18288" rIns="18288" tIns="18288" bIns="18288" anchor="t">
            <a:spAutoFit/>
          </a:bodyPr>
          <a:lstStyle/>
          <a:p>
            <a:pPr algn="l"/>
            <a:r>
              <a:rPr sz="1400" b="1">
                <a:solidFill>
                  <a:srgbClr val="61D095"/>
                </a:solidFill>
                <a:latin typeface="Aptos"/>
              </a:rPr>
              <a:t>0 findings</a:t>
            </a:r>
          </a:p>
        </p:txBody>
      </p:sp>
      <p:sp>
        <p:nvSpPr>
          <p:cNvPr id="11" name="TextBox 10"/>
          <p:cNvSpPr txBox="1"/>
          <p:nvPr/>
        </p:nvSpPr>
        <p:spPr>
          <a:xfrm>
            <a:off x="877824" y="3904487"/>
            <a:ext cx="2651760" cy="804672"/>
          </a:xfrm>
          <a:prstGeom prst="rect">
            <a:avLst/>
          </a:prstGeom>
          <a:noFill/>
        </p:spPr>
        <p:txBody>
          <a:bodyPr wrap="square" lIns="18288" rIns="18288" tIns="18288" bIns="18288" anchor="t">
            <a:spAutoFit/>
          </a:bodyPr>
          <a:lstStyle/>
          <a:p>
            <a:pPr algn="l"/>
            <a:r>
              <a:rPr sz="1050" b="0">
                <a:solidFill>
                  <a:srgbClr val="AAB8CC"/>
                </a:solidFill>
                <a:latin typeface="Aptos"/>
              </a:rPr>
              <a:t>authority remains in domain
existing dispatch debt unchanged
complete evidence</a:t>
            </a:r>
          </a:p>
        </p:txBody>
      </p:sp>
      <p:sp>
        <p:nvSpPr>
          <p:cNvPr id="12" name="TextBox 11"/>
          <p:cNvSpPr txBox="1"/>
          <p:nvPr/>
        </p:nvSpPr>
        <p:spPr>
          <a:xfrm>
            <a:off x="877824" y="4828032"/>
            <a:ext cx="2651760" cy="246888"/>
          </a:xfrm>
          <a:prstGeom prst="rect">
            <a:avLst/>
          </a:prstGeom>
          <a:noFill/>
        </p:spPr>
        <p:txBody>
          <a:bodyPr wrap="square" lIns="18288" rIns="18288" tIns="18288" bIns="18288" anchor="t">
            <a:spAutoFit/>
          </a:bodyPr>
          <a:lstStyle/>
          <a:p>
            <a:pPr algn="l"/>
            <a:r>
              <a:rPr sz="1100" b="1">
                <a:solidFill>
                  <a:srgbClr val="61D095"/>
                </a:solidFill>
                <a:latin typeface="Aptos"/>
              </a:rPr>
              <a:t>PUBLISHED</a:t>
            </a:r>
          </a:p>
        </p:txBody>
      </p:sp>
      <p:sp>
        <p:nvSpPr>
          <p:cNvPr id="13" name="Rounded Rectangle 12"/>
          <p:cNvSpPr/>
          <p:nvPr/>
        </p:nvSpPr>
        <p:spPr>
          <a:xfrm>
            <a:off x="4087368" y="1993392"/>
            <a:ext cx="3127248" cy="3246120"/>
          </a:xfrm>
          <a:prstGeom prst="roundRect">
            <a:avLst>
              <a:gd name="adj" fmla="val 8000"/>
            </a:avLst>
          </a:prstGeom>
          <a:solidFill>
            <a:srgbClr val="111D30"/>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06824" y="2221992"/>
            <a:ext cx="1481328" cy="310896"/>
          </a:xfrm>
          <a:prstGeom prst="roundRect">
            <a:avLst>
              <a:gd name="adj" fmla="val 45000"/>
            </a:avLst>
          </a:prstGeom>
          <a:solidFill>
            <a:srgbClr val="F07178"/>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6824" y="2231136"/>
            <a:ext cx="1481328" cy="256032"/>
          </a:xfrm>
          <a:prstGeom prst="rect">
            <a:avLst/>
          </a:prstGeom>
          <a:noFill/>
        </p:spPr>
        <p:txBody>
          <a:bodyPr wrap="square" lIns="18288" rIns="18288" tIns="18288" bIns="18288" anchor="ctr">
            <a:spAutoFit/>
          </a:bodyPr>
          <a:lstStyle/>
          <a:p>
            <a:pPr algn="ctr"/>
            <a:r>
              <a:rPr sz="900" b="1">
                <a:solidFill>
                  <a:srgbClr val="F5F7FA"/>
                </a:solidFill>
                <a:latin typeface="Aptos"/>
              </a:rPr>
              <a:t>CENTRALIZED</a:t>
            </a:r>
          </a:p>
        </p:txBody>
      </p:sp>
      <p:sp>
        <p:nvSpPr>
          <p:cNvPr id="16" name="TextBox 15"/>
          <p:cNvSpPr txBox="1"/>
          <p:nvPr/>
        </p:nvSpPr>
        <p:spPr>
          <a:xfrm>
            <a:off x="4325112" y="2907792"/>
            <a:ext cx="2651760" cy="347472"/>
          </a:xfrm>
          <a:prstGeom prst="rect">
            <a:avLst/>
          </a:prstGeom>
          <a:noFill/>
        </p:spPr>
        <p:txBody>
          <a:bodyPr wrap="square" lIns="18288" rIns="18288" tIns="18288" bIns="18288" anchor="t">
            <a:spAutoFit/>
          </a:bodyPr>
          <a:lstStyle/>
          <a:p>
            <a:pPr algn="l"/>
            <a:r>
              <a:rPr sz="1800" b="1">
                <a:solidFill>
                  <a:srgbClr val="F5F7FA"/>
                </a:solidFill>
                <a:latin typeface="Aptos"/>
              </a:rPr>
              <a:t>6 / 6 behavior</a:t>
            </a:r>
          </a:p>
        </p:txBody>
      </p:sp>
      <p:sp>
        <p:nvSpPr>
          <p:cNvPr id="17" name="TextBox 16"/>
          <p:cNvSpPr txBox="1"/>
          <p:nvPr/>
        </p:nvSpPr>
        <p:spPr>
          <a:xfrm>
            <a:off x="4325112" y="3429000"/>
            <a:ext cx="2651760" cy="310896"/>
          </a:xfrm>
          <a:prstGeom prst="rect">
            <a:avLst/>
          </a:prstGeom>
          <a:noFill/>
        </p:spPr>
        <p:txBody>
          <a:bodyPr wrap="square" lIns="18288" rIns="18288" tIns="18288" bIns="18288" anchor="t">
            <a:spAutoFit/>
          </a:bodyPr>
          <a:lstStyle/>
          <a:p>
            <a:pPr algn="l"/>
            <a:r>
              <a:rPr sz="1400" b="1">
                <a:solidFill>
                  <a:srgbClr val="F07178"/>
                </a:solidFill>
                <a:latin typeface="Aptos"/>
              </a:rPr>
              <a:t>4 findings</a:t>
            </a:r>
          </a:p>
        </p:txBody>
      </p:sp>
      <p:sp>
        <p:nvSpPr>
          <p:cNvPr id="18" name="TextBox 17"/>
          <p:cNvSpPr txBox="1"/>
          <p:nvPr/>
        </p:nvSpPr>
        <p:spPr>
          <a:xfrm>
            <a:off x="4325112" y="3904487"/>
            <a:ext cx="2651760" cy="804672"/>
          </a:xfrm>
          <a:prstGeom prst="rect">
            <a:avLst/>
          </a:prstGeom>
          <a:noFill/>
        </p:spPr>
        <p:txBody>
          <a:bodyPr wrap="square" lIns="18288" rIns="18288" tIns="18288" bIns="18288" anchor="t">
            <a:spAutoFit/>
          </a:bodyPr>
          <a:lstStyle/>
          <a:p>
            <a:pPr algn="l"/>
            <a:r>
              <a:rPr sz="1050" b="0">
                <a:solidFill>
                  <a:srgbClr val="AAB8CC"/>
                </a:solidFill>
                <a:latin typeface="Aptos"/>
              </a:rPr>
              <a:t>dispatch growth
store authority in transport
state + dependency boundary</a:t>
            </a:r>
          </a:p>
        </p:txBody>
      </p:sp>
      <p:sp>
        <p:nvSpPr>
          <p:cNvPr id="19" name="TextBox 18"/>
          <p:cNvSpPr txBox="1"/>
          <p:nvPr/>
        </p:nvSpPr>
        <p:spPr>
          <a:xfrm>
            <a:off x="4325112" y="4828032"/>
            <a:ext cx="2651760" cy="246888"/>
          </a:xfrm>
          <a:prstGeom prst="rect">
            <a:avLst/>
          </a:prstGeom>
          <a:noFill/>
        </p:spPr>
        <p:txBody>
          <a:bodyPr wrap="square" lIns="18288" rIns="18288" tIns="18288" bIns="18288" anchor="t">
            <a:spAutoFit/>
          </a:bodyPr>
          <a:lstStyle/>
          <a:p>
            <a:pPr algn="l"/>
            <a:r>
              <a:rPr sz="1100" b="1">
                <a:solidFill>
                  <a:srgbClr val="F07178"/>
                </a:solidFill>
                <a:latin typeface="Aptos"/>
              </a:rPr>
              <a:t>ROLLED BACK</a:t>
            </a:r>
          </a:p>
        </p:txBody>
      </p:sp>
      <p:sp>
        <p:nvSpPr>
          <p:cNvPr id="20" name="Rounded Rectangle 19"/>
          <p:cNvSpPr/>
          <p:nvPr/>
        </p:nvSpPr>
        <p:spPr>
          <a:xfrm>
            <a:off x="7534656" y="1993392"/>
            <a:ext cx="3127248" cy="3246120"/>
          </a:xfrm>
          <a:prstGeom prst="roundRect">
            <a:avLst>
              <a:gd name="adj" fmla="val 8000"/>
            </a:avLst>
          </a:prstGeom>
          <a:solidFill>
            <a:srgbClr val="111D30"/>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54112" y="2221992"/>
            <a:ext cx="1481328" cy="310896"/>
          </a:xfrm>
          <a:prstGeom prst="roundRect">
            <a:avLst>
              <a:gd name="adj" fmla="val 45000"/>
            </a:avLst>
          </a:prstGeom>
          <a:solidFill>
            <a:srgbClr val="F07178"/>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54112" y="2231136"/>
            <a:ext cx="1481328" cy="256032"/>
          </a:xfrm>
          <a:prstGeom prst="rect">
            <a:avLst/>
          </a:prstGeom>
          <a:noFill/>
        </p:spPr>
        <p:txBody>
          <a:bodyPr wrap="square" lIns="18288" rIns="18288" tIns="18288" bIns="18288" anchor="ctr">
            <a:spAutoFit/>
          </a:bodyPr>
          <a:lstStyle/>
          <a:p>
            <a:pPr algn="ctr"/>
            <a:r>
              <a:rPr sz="900" b="1">
                <a:solidFill>
                  <a:srgbClr val="F5F7FA"/>
                </a:solidFill>
                <a:latin typeface="Aptos"/>
              </a:rPr>
              <a:t>HELPER-SPLIT</a:t>
            </a:r>
          </a:p>
        </p:txBody>
      </p:sp>
      <p:sp>
        <p:nvSpPr>
          <p:cNvPr id="23" name="TextBox 22"/>
          <p:cNvSpPr txBox="1"/>
          <p:nvPr/>
        </p:nvSpPr>
        <p:spPr>
          <a:xfrm>
            <a:off x="7772400" y="2907792"/>
            <a:ext cx="2651760" cy="347472"/>
          </a:xfrm>
          <a:prstGeom prst="rect">
            <a:avLst/>
          </a:prstGeom>
          <a:noFill/>
        </p:spPr>
        <p:txBody>
          <a:bodyPr wrap="square" lIns="18288" rIns="18288" tIns="18288" bIns="18288" anchor="t">
            <a:spAutoFit/>
          </a:bodyPr>
          <a:lstStyle/>
          <a:p>
            <a:pPr algn="l"/>
            <a:r>
              <a:rPr sz="1800" b="1">
                <a:solidFill>
                  <a:srgbClr val="F5F7FA"/>
                </a:solidFill>
                <a:latin typeface="Aptos"/>
              </a:rPr>
              <a:t>6 / 6 behavior</a:t>
            </a:r>
          </a:p>
        </p:txBody>
      </p:sp>
      <p:sp>
        <p:nvSpPr>
          <p:cNvPr id="24" name="TextBox 23"/>
          <p:cNvSpPr txBox="1"/>
          <p:nvPr/>
        </p:nvSpPr>
        <p:spPr>
          <a:xfrm>
            <a:off x="7772400" y="3429000"/>
            <a:ext cx="2651760" cy="310896"/>
          </a:xfrm>
          <a:prstGeom prst="rect">
            <a:avLst/>
          </a:prstGeom>
          <a:noFill/>
        </p:spPr>
        <p:txBody>
          <a:bodyPr wrap="square" lIns="18288" rIns="18288" tIns="18288" bIns="18288" anchor="t">
            <a:spAutoFit/>
          </a:bodyPr>
          <a:lstStyle/>
          <a:p>
            <a:pPr algn="l"/>
            <a:r>
              <a:rPr sz="1400" b="1">
                <a:solidFill>
                  <a:srgbClr val="F07178"/>
                </a:solidFill>
                <a:latin typeface="Aptos"/>
              </a:rPr>
              <a:t>3 findings</a:t>
            </a:r>
          </a:p>
        </p:txBody>
      </p:sp>
      <p:sp>
        <p:nvSpPr>
          <p:cNvPr id="25" name="TextBox 24"/>
          <p:cNvSpPr txBox="1"/>
          <p:nvPr/>
        </p:nvSpPr>
        <p:spPr>
          <a:xfrm>
            <a:off x="7772400" y="3904487"/>
            <a:ext cx="2651760" cy="804672"/>
          </a:xfrm>
          <a:prstGeom prst="rect">
            <a:avLst/>
          </a:prstGeom>
          <a:noFill/>
        </p:spPr>
        <p:txBody>
          <a:bodyPr wrap="square" lIns="18288" rIns="18288" tIns="18288" bIns="18288" anchor="t">
            <a:spAutoFit/>
          </a:bodyPr>
          <a:lstStyle/>
          <a:p>
            <a:pPr algn="l"/>
            <a:r>
              <a:rPr sz="1050" b="0">
                <a:solidFill>
                  <a:srgbClr val="AAB8CC"/>
                </a:solidFill>
                <a:latin typeface="Aptos"/>
              </a:rPr>
              <a:t>small helpers individually
aggregate transport boundary
still violated</a:t>
            </a:r>
          </a:p>
        </p:txBody>
      </p:sp>
      <p:sp>
        <p:nvSpPr>
          <p:cNvPr id="26" name="TextBox 25"/>
          <p:cNvSpPr txBox="1"/>
          <p:nvPr/>
        </p:nvSpPr>
        <p:spPr>
          <a:xfrm>
            <a:off x="7772400" y="4828032"/>
            <a:ext cx="2651760" cy="246888"/>
          </a:xfrm>
          <a:prstGeom prst="rect">
            <a:avLst/>
          </a:prstGeom>
          <a:noFill/>
        </p:spPr>
        <p:txBody>
          <a:bodyPr wrap="square" lIns="18288" rIns="18288" tIns="18288" bIns="18288" anchor="t">
            <a:spAutoFit/>
          </a:bodyPr>
          <a:lstStyle/>
          <a:p>
            <a:pPr algn="l"/>
            <a:r>
              <a:rPr sz="1100" b="1">
                <a:solidFill>
                  <a:srgbClr val="F07178"/>
                </a:solidFill>
                <a:latin typeface="Aptos"/>
              </a:rPr>
              <a:t>ROLLED BACK</a:t>
            </a:r>
          </a:p>
        </p:txBody>
      </p:sp>
      <p:sp>
        <p:nvSpPr>
          <p:cNvPr id="27" name="TextBox 26"/>
          <p:cNvSpPr txBox="1"/>
          <p:nvPr/>
        </p:nvSpPr>
        <p:spPr>
          <a:xfrm>
            <a:off x="694944" y="5641848"/>
            <a:ext cx="10607040" cy="457200"/>
          </a:xfrm>
          <a:prstGeom prst="rect">
            <a:avLst/>
          </a:prstGeom>
          <a:noFill/>
        </p:spPr>
        <p:txBody>
          <a:bodyPr wrap="square" lIns="18288" rIns="18288" tIns="18288" bIns="18288" anchor="t">
            <a:spAutoFit/>
          </a:bodyPr>
          <a:lstStyle/>
          <a:p>
            <a:pPr algn="ctr"/>
            <a:r>
              <a:rPr sz="1200" b="1">
                <a:solidFill>
                  <a:srgbClr val="F5B942"/>
                </a:solidFill>
                <a:latin typeface="Aptos"/>
              </a:rPr>
              <a:t>The compiler evaluates primitive facts and project policy—not a universal “architecture score.”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ATOMIC CONTROL</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09</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3000" b="1">
                <a:solidFill>
                  <a:srgbClr val="F5F7FA"/>
                </a:solidFill>
                <a:latin typeface="Aptos"/>
              </a:rPr>
              <a:t>The candidate revision is the unit of trust</a:t>
            </a:r>
          </a:p>
        </p:txBody>
      </p:sp>
      <p:sp>
        <p:nvSpPr>
          <p:cNvPr id="5" name="TextBox 4"/>
          <p:cNvSpPr txBox="1"/>
          <p:nvPr/>
        </p:nvSpPr>
        <p:spPr>
          <a:xfrm>
            <a:off x="585216" y="1399032"/>
            <a:ext cx="10607040" cy="347472"/>
          </a:xfrm>
          <a:prstGeom prst="rect">
            <a:avLst/>
          </a:prstGeom>
          <a:noFill/>
        </p:spPr>
        <p:txBody>
          <a:bodyPr wrap="square" lIns="18288" rIns="18288" tIns="18288" bIns="18288" anchor="t">
            <a:spAutoFit/>
          </a:bodyPr>
          <a:lstStyle/>
          <a:p>
            <a:pPr algn="l"/>
            <a:r>
              <a:rPr sz="1300" b="0">
                <a:solidFill>
                  <a:srgbClr val="AAB8CC"/>
                </a:solidFill>
                <a:latin typeface="Aptos"/>
              </a:rPr>
              <a:t>Every proof binds to the same immutable revision.</a:t>
            </a:r>
          </a:p>
        </p:txBody>
      </p:sp>
      <p:sp>
        <p:nvSpPr>
          <p:cNvPr id="6" name="Rounded Rectangle 5"/>
          <p:cNvSpPr/>
          <p:nvPr/>
        </p:nvSpPr>
        <p:spPr>
          <a:xfrm>
            <a:off x="640080" y="2423160"/>
            <a:ext cx="1874519" cy="1325880"/>
          </a:xfrm>
          <a:prstGeom prst="roundRect">
            <a:avLst>
              <a:gd name="adj" fmla="val 8000"/>
            </a:avLst>
          </a:prstGeom>
          <a:solidFill>
            <a:srgbClr val="111D30"/>
          </a:solidFill>
          <a:ln w="12700">
            <a:solidFill>
              <a:srgbClr val="5E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679191"/>
            <a:ext cx="1600200" cy="274320"/>
          </a:xfrm>
          <a:prstGeom prst="rect">
            <a:avLst/>
          </a:prstGeom>
          <a:noFill/>
        </p:spPr>
        <p:txBody>
          <a:bodyPr wrap="square" lIns="18288" rIns="18288" tIns="18288" bIns="18288" anchor="t">
            <a:spAutoFit/>
          </a:bodyPr>
          <a:lstStyle/>
          <a:p>
            <a:pPr algn="ctr"/>
            <a:r>
              <a:rPr sz="1400" b="1">
                <a:solidFill>
                  <a:srgbClr val="5E8BFF"/>
                </a:solidFill>
                <a:latin typeface="Aptos"/>
              </a:rPr>
              <a:t>BASE</a:t>
            </a:r>
          </a:p>
        </p:txBody>
      </p:sp>
      <p:sp>
        <p:nvSpPr>
          <p:cNvPr id="8" name="TextBox 7"/>
          <p:cNvSpPr txBox="1"/>
          <p:nvPr/>
        </p:nvSpPr>
        <p:spPr>
          <a:xfrm>
            <a:off x="777240" y="3172968"/>
            <a:ext cx="1600200" cy="256032"/>
          </a:xfrm>
          <a:prstGeom prst="rect">
            <a:avLst/>
          </a:prstGeom>
          <a:noFill/>
        </p:spPr>
        <p:txBody>
          <a:bodyPr wrap="square" lIns="18288" rIns="18288" tIns="18288" bIns="18288" anchor="t">
            <a:spAutoFit/>
          </a:bodyPr>
          <a:lstStyle/>
          <a:p>
            <a:pPr algn="ctr"/>
            <a:r>
              <a:rPr sz="1000" b="0">
                <a:solidFill>
                  <a:srgbClr val="AAB8CC"/>
                </a:solidFill>
                <a:latin typeface="Aptos"/>
              </a:rPr>
              <a:t>immutable revision</a:t>
            </a:r>
          </a:p>
        </p:txBody>
      </p:sp>
      <p:sp>
        <p:nvSpPr>
          <p:cNvPr id="9" name="Rounded Rectangle 8"/>
          <p:cNvSpPr/>
          <p:nvPr/>
        </p:nvSpPr>
        <p:spPr>
          <a:xfrm>
            <a:off x="2880360" y="2423160"/>
            <a:ext cx="1874519" cy="1325880"/>
          </a:xfrm>
          <a:prstGeom prst="roundRect">
            <a:avLst>
              <a:gd name="adj" fmla="val 8000"/>
            </a:avLst>
          </a:prstGeom>
          <a:solidFill>
            <a:srgbClr val="111D30"/>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2679191"/>
            <a:ext cx="1600200" cy="274320"/>
          </a:xfrm>
          <a:prstGeom prst="rect">
            <a:avLst/>
          </a:prstGeom>
          <a:noFill/>
        </p:spPr>
        <p:txBody>
          <a:bodyPr wrap="square" lIns="18288" rIns="18288" tIns="18288" bIns="18288" anchor="t">
            <a:spAutoFit/>
          </a:bodyPr>
          <a:lstStyle/>
          <a:p>
            <a:pPr algn="ctr"/>
            <a:r>
              <a:rPr sz="1400" b="1">
                <a:solidFill>
                  <a:srgbClr val="4DD9E7"/>
                </a:solidFill>
                <a:latin typeface="Aptos"/>
              </a:rPr>
              <a:t>CANDIDATE</a:t>
            </a:r>
          </a:p>
        </p:txBody>
      </p:sp>
      <p:sp>
        <p:nvSpPr>
          <p:cNvPr id="11" name="TextBox 10"/>
          <p:cNvSpPr txBox="1"/>
          <p:nvPr/>
        </p:nvSpPr>
        <p:spPr>
          <a:xfrm>
            <a:off x="3017520" y="3172968"/>
            <a:ext cx="1600200" cy="256032"/>
          </a:xfrm>
          <a:prstGeom prst="rect">
            <a:avLst/>
          </a:prstGeom>
          <a:noFill/>
        </p:spPr>
        <p:txBody>
          <a:bodyPr wrap="square" lIns="18288" rIns="18288" tIns="18288" bIns="18288" anchor="t">
            <a:spAutoFit/>
          </a:bodyPr>
          <a:lstStyle/>
          <a:p>
            <a:pPr algn="ctr"/>
            <a:r>
              <a:rPr sz="1000" b="0">
                <a:solidFill>
                  <a:srgbClr val="AAB8CC"/>
                </a:solidFill>
                <a:latin typeface="Aptos"/>
              </a:rPr>
              <a:t>whole workspace</a:t>
            </a:r>
          </a:p>
        </p:txBody>
      </p:sp>
      <p:sp>
        <p:nvSpPr>
          <p:cNvPr id="12" name="Rounded Rectangle 11"/>
          <p:cNvSpPr/>
          <p:nvPr/>
        </p:nvSpPr>
        <p:spPr>
          <a:xfrm>
            <a:off x="5120640" y="2423160"/>
            <a:ext cx="1874519" cy="1325880"/>
          </a:xfrm>
          <a:prstGeom prst="roundRect">
            <a:avLst>
              <a:gd name="adj" fmla="val 8000"/>
            </a:avLst>
          </a:prstGeom>
          <a:solidFill>
            <a:srgbClr val="111D30"/>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2679191"/>
            <a:ext cx="1600200" cy="274320"/>
          </a:xfrm>
          <a:prstGeom prst="rect">
            <a:avLst/>
          </a:prstGeom>
          <a:noFill/>
        </p:spPr>
        <p:txBody>
          <a:bodyPr wrap="square" lIns="18288" rIns="18288" tIns="18288" bIns="18288" anchor="t">
            <a:spAutoFit/>
          </a:bodyPr>
          <a:lstStyle/>
          <a:p>
            <a:pPr algn="ctr"/>
            <a:r>
              <a:rPr sz="1400" b="1">
                <a:solidFill>
                  <a:srgbClr val="4DD9E7"/>
                </a:solidFill>
                <a:latin typeface="Aptos"/>
              </a:rPr>
              <a:t>VALIDATE</a:t>
            </a:r>
          </a:p>
        </p:txBody>
      </p:sp>
      <p:sp>
        <p:nvSpPr>
          <p:cNvPr id="14" name="TextBox 13"/>
          <p:cNvSpPr txBox="1"/>
          <p:nvPr/>
        </p:nvSpPr>
        <p:spPr>
          <a:xfrm>
            <a:off x="5257800" y="3172968"/>
            <a:ext cx="1600200" cy="256032"/>
          </a:xfrm>
          <a:prstGeom prst="rect">
            <a:avLst/>
          </a:prstGeom>
          <a:noFill/>
        </p:spPr>
        <p:txBody>
          <a:bodyPr wrap="square" lIns="18288" rIns="18288" tIns="18288" bIns="18288" anchor="t">
            <a:spAutoFit/>
          </a:bodyPr>
          <a:lstStyle/>
          <a:p>
            <a:pPr algn="ctr"/>
            <a:r>
              <a:rPr sz="1000" b="0">
                <a:solidFill>
                  <a:srgbClr val="AAB8CC"/>
                </a:solidFill>
                <a:latin typeface="Aptos"/>
              </a:rPr>
              <a:t>static • impact • behavior • policy</a:t>
            </a:r>
          </a:p>
        </p:txBody>
      </p:sp>
      <p:cxnSp>
        <p:nvCxnSpPr>
          <p:cNvPr id="15" name="Connector 14"/>
          <p:cNvCxnSpPr/>
          <p:nvPr/>
        </p:nvCxnSpPr>
        <p:spPr>
          <a:xfrm>
            <a:off x="2542032" y="3090672"/>
            <a:ext cx="246888" cy="0"/>
          </a:xfrm>
          <a:prstGeom prst="line">
            <a:avLst/>
          </a:prstGeom>
          <a:ln w="25400">
            <a:solidFill>
              <a:srgbClr val="5E8B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782312" y="3090672"/>
            <a:ext cx="246888" cy="0"/>
          </a:xfrm>
          <a:prstGeom prst="line">
            <a:avLst/>
          </a:prstGeom>
          <a:ln w="25400">
            <a:solidFill>
              <a:srgbClr val="4DD9E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013448" y="2057400"/>
            <a:ext cx="530352" cy="731520"/>
          </a:xfrm>
          <a:prstGeom prst="line">
            <a:avLst/>
          </a:prstGeom>
          <a:ln w="25400">
            <a:solidFill>
              <a:srgbClr val="61D09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013448" y="3429000"/>
            <a:ext cx="530352" cy="886968"/>
          </a:xfrm>
          <a:prstGeom prst="line">
            <a:avLst/>
          </a:prstGeom>
          <a:ln w="25400">
            <a:solidFill>
              <a:srgbClr val="F07178"/>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699248" y="1508760"/>
            <a:ext cx="3246120" cy="1417320"/>
          </a:xfrm>
          <a:prstGeom prst="roundRect">
            <a:avLst>
              <a:gd name="adj" fmla="val 8000"/>
            </a:avLst>
          </a:prstGeom>
          <a:solidFill>
            <a:srgbClr val="111D30"/>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36992" y="1783080"/>
            <a:ext cx="2743200" cy="320040"/>
          </a:xfrm>
          <a:prstGeom prst="rect">
            <a:avLst/>
          </a:prstGeom>
          <a:noFill/>
        </p:spPr>
        <p:txBody>
          <a:bodyPr wrap="square" lIns="18288" rIns="18288" tIns="18288" bIns="18288" anchor="t">
            <a:spAutoFit/>
          </a:bodyPr>
          <a:lstStyle/>
          <a:p>
            <a:pPr algn="ctr"/>
            <a:r>
              <a:rPr sz="1700" b="1">
                <a:solidFill>
                  <a:srgbClr val="61D095"/>
                </a:solidFill>
                <a:latin typeface="Aptos"/>
              </a:rPr>
              <a:t>PUBLISH CHILD</a:t>
            </a:r>
          </a:p>
        </p:txBody>
      </p:sp>
      <p:sp>
        <p:nvSpPr>
          <p:cNvPr id="21" name="TextBox 20"/>
          <p:cNvSpPr txBox="1"/>
          <p:nvPr/>
        </p:nvSpPr>
        <p:spPr>
          <a:xfrm>
            <a:off x="7936992" y="2267712"/>
            <a:ext cx="2743200" cy="256032"/>
          </a:xfrm>
          <a:prstGeom prst="rect">
            <a:avLst/>
          </a:prstGeom>
          <a:noFill/>
        </p:spPr>
        <p:txBody>
          <a:bodyPr wrap="square" lIns="18288" rIns="18288" tIns="18288" bIns="18288" anchor="t">
            <a:spAutoFit/>
          </a:bodyPr>
          <a:lstStyle/>
          <a:p>
            <a:pPr algn="ctr"/>
            <a:r>
              <a:rPr sz="1000" b="0">
                <a:solidFill>
                  <a:srgbClr val="AAB8CC"/>
                </a:solidFill>
                <a:latin typeface="Aptos"/>
              </a:rPr>
              <a:t>completion evidence attached</a:t>
            </a:r>
          </a:p>
        </p:txBody>
      </p:sp>
      <p:sp>
        <p:nvSpPr>
          <p:cNvPr id="22" name="Rounded Rectangle 21"/>
          <p:cNvSpPr/>
          <p:nvPr/>
        </p:nvSpPr>
        <p:spPr>
          <a:xfrm>
            <a:off x="7699248" y="3822191"/>
            <a:ext cx="3246120" cy="1417320"/>
          </a:xfrm>
          <a:prstGeom prst="roundRect">
            <a:avLst>
              <a:gd name="adj" fmla="val 8000"/>
            </a:avLst>
          </a:prstGeom>
          <a:solidFill>
            <a:srgbClr val="111D30"/>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36992" y="4096512"/>
            <a:ext cx="2743200" cy="320040"/>
          </a:xfrm>
          <a:prstGeom prst="rect">
            <a:avLst/>
          </a:prstGeom>
          <a:noFill/>
        </p:spPr>
        <p:txBody>
          <a:bodyPr wrap="square" lIns="18288" rIns="18288" tIns="18288" bIns="18288" anchor="t">
            <a:spAutoFit/>
          </a:bodyPr>
          <a:lstStyle/>
          <a:p>
            <a:pPr algn="ctr"/>
            <a:r>
              <a:rPr sz="1700" b="1">
                <a:solidFill>
                  <a:srgbClr val="F07178"/>
                </a:solidFill>
                <a:latin typeface="Aptos"/>
              </a:rPr>
              <a:t>ROLL BACK</a:t>
            </a:r>
          </a:p>
        </p:txBody>
      </p:sp>
      <p:sp>
        <p:nvSpPr>
          <p:cNvPr id="24" name="TextBox 23"/>
          <p:cNvSpPr txBox="1"/>
          <p:nvPr/>
        </p:nvSpPr>
        <p:spPr>
          <a:xfrm>
            <a:off x="7936992" y="4581144"/>
            <a:ext cx="2743200" cy="256032"/>
          </a:xfrm>
          <a:prstGeom prst="rect">
            <a:avLst/>
          </a:prstGeom>
          <a:noFill/>
        </p:spPr>
        <p:txBody>
          <a:bodyPr wrap="square" lIns="18288" rIns="18288" tIns="18288" bIns="18288" anchor="t">
            <a:spAutoFit/>
          </a:bodyPr>
          <a:lstStyle/>
          <a:p>
            <a:pPr algn="ctr"/>
            <a:r>
              <a:rPr sz="1000" b="0">
                <a:solidFill>
                  <a:srgbClr val="AAB8CC"/>
                </a:solidFill>
                <a:latin typeface="Aptos"/>
              </a:rPr>
              <a:t>base remains unchanged</a:t>
            </a:r>
          </a:p>
        </p:txBody>
      </p:sp>
      <p:sp>
        <p:nvSpPr>
          <p:cNvPr id="25" name="TextBox 24"/>
          <p:cNvSpPr txBox="1"/>
          <p:nvPr/>
        </p:nvSpPr>
        <p:spPr>
          <a:xfrm>
            <a:off x="713232" y="4754880"/>
            <a:ext cx="5669280" cy="731520"/>
          </a:xfrm>
          <a:prstGeom prst="rect">
            <a:avLst/>
          </a:prstGeom>
          <a:noFill/>
        </p:spPr>
        <p:txBody>
          <a:bodyPr wrap="square" lIns="18288" rIns="18288" tIns="18288" bIns="18288" anchor="t">
            <a:spAutoFit/>
          </a:bodyPr>
          <a:lstStyle/>
          <a:p>
            <a:pPr algn="l"/>
            <a:r>
              <a:rPr sz="1500" b="1">
                <a:solidFill>
                  <a:srgbClr val="F5F7FA"/>
                </a:solidFill>
                <a:latin typeface="Aptos"/>
              </a:rPr>
              <a:t>No partial publication.
No stale completion report.
No “tests passed” detached from the final code.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MODEL INDEPENDENCE</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10</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3000" b="1">
                <a:solidFill>
                  <a:srgbClr val="F5F7FA"/>
                </a:solidFill>
                <a:latin typeface="Aptos"/>
              </a:rPr>
              <a:t>Models improve. The control layer compounds.</a:t>
            </a:r>
          </a:p>
        </p:txBody>
      </p:sp>
      <p:sp>
        <p:nvSpPr>
          <p:cNvPr id="5" name="TextBox 4"/>
          <p:cNvSpPr txBox="1"/>
          <p:nvPr/>
        </p:nvSpPr>
        <p:spPr>
          <a:xfrm>
            <a:off x="585216" y="1399032"/>
            <a:ext cx="10607040" cy="347472"/>
          </a:xfrm>
          <a:prstGeom prst="rect">
            <a:avLst/>
          </a:prstGeom>
          <a:noFill/>
        </p:spPr>
        <p:txBody>
          <a:bodyPr wrap="square" lIns="18288" rIns="18288" tIns="18288" bIns="18288" anchor="t">
            <a:spAutoFit/>
          </a:bodyPr>
          <a:lstStyle/>
          <a:p>
            <a:pPr algn="l"/>
            <a:r>
              <a:rPr sz="1300" b="0">
                <a:solidFill>
                  <a:srgbClr val="AAB8CC"/>
                </a:solidFill>
                <a:latin typeface="Aptos"/>
              </a:rPr>
              <a:t>AIL’s semantic interface is designed to serve any capable coding agent.</a:t>
            </a:r>
          </a:p>
        </p:txBody>
      </p:sp>
      <p:sp>
        <p:nvSpPr>
          <p:cNvPr id="6" name="Rounded Rectangle 5"/>
          <p:cNvSpPr/>
          <p:nvPr/>
        </p:nvSpPr>
        <p:spPr>
          <a:xfrm>
            <a:off x="777240" y="1965960"/>
            <a:ext cx="1965960" cy="822960"/>
          </a:xfrm>
          <a:prstGeom prst="roundRect">
            <a:avLst>
              <a:gd name="adj" fmla="val 8000"/>
            </a:avLst>
          </a:prstGeom>
          <a:solidFill>
            <a:srgbClr val="111D30"/>
          </a:solidFill>
          <a:ln w="12700">
            <a:solidFill>
              <a:srgbClr val="5E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148840"/>
            <a:ext cx="1719072" cy="393192"/>
          </a:xfrm>
          <a:prstGeom prst="rect">
            <a:avLst/>
          </a:prstGeom>
          <a:noFill/>
        </p:spPr>
        <p:txBody>
          <a:bodyPr wrap="square" lIns="18288" rIns="18288" tIns="18288" bIns="18288" anchor="t">
            <a:spAutoFit/>
          </a:bodyPr>
          <a:lstStyle/>
          <a:p>
            <a:pPr algn="ctr"/>
            <a:r>
              <a:rPr sz="1200" b="1">
                <a:solidFill>
                  <a:srgbClr val="5E8BFF"/>
                </a:solidFill>
                <a:latin typeface="Aptos"/>
              </a:rPr>
              <a:t>FRONTIER
MODEL</a:t>
            </a:r>
          </a:p>
        </p:txBody>
      </p:sp>
      <p:cxnSp>
        <p:nvCxnSpPr>
          <p:cNvPr id="8" name="Connector 7"/>
          <p:cNvCxnSpPr/>
          <p:nvPr/>
        </p:nvCxnSpPr>
        <p:spPr>
          <a:xfrm>
            <a:off x="2788920" y="2377440"/>
            <a:ext cx="1234440" cy="1252728"/>
          </a:xfrm>
          <a:prstGeom prst="line">
            <a:avLst/>
          </a:prstGeom>
          <a:ln w="19050">
            <a:solidFill>
              <a:srgbClr val="5E8BF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77240" y="3218688"/>
            <a:ext cx="1965960" cy="822960"/>
          </a:xfrm>
          <a:prstGeom prst="roundRect">
            <a:avLst>
              <a:gd name="adj" fmla="val 8000"/>
            </a:avLst>
          </a:prstGeom>
          <a:solidFill>
            <a:srgbClr val="111D30"/>
          </a:solidFill>
          <a:ln w="12700">
            <a:solidFill>
              <a:srgbClr val="5E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401568"/>
            <a:ext cx="1719072" cy="393192"/>
          </a:xfrm>
          <a:prstGeom prst="rect">
            <a:avLst/>
          </a:prstGeom>
          <a:noFill/>
        </p:spPr>
        <p:txBody>
          <a:bodyPr wrap="square" lIns="18288" rIns="18288" tIns="18288" bIns="18288" anchor="t">
            <a:spAutoFit/>
          </a:bodyPr>
          <a:lstStyle/>
          <a:p>
            <a:pPr algn="ctr"/>
            <a:r>
              <a:rPr sz="1200" b="1">
                <a:solidFill>
                  <a:srgbClr val="5E8BFF"/>
                </a:solidFill>
                <a:latin typeface="Aptos"/>
              </a:rPr>
              <a:t>OPEN
MODEL</a:t>
            </a:r>
          </a:p>
        </p:txBody>
      </p:sp>
      <p:cxnSp>
        <p:nvCxnSpPr>
          <p:cNvPr id="11" name="Connector 10"/>
          <p:cNvCxnSpPr/>
          <p:nvPr/>
        </p:nvCxnSpPr>
        <p:spPr>
          <a:xfrm>
            <a:off x="2788920" y="3630168"/>
            <a:ext cx="1234440" cy="0"/>
          </a:xfrm>
          <a:prstGeom prst="line">
            <a:avLst/>
          </a:prstGeom>
          <a:ln w="19050">
            <a:solidFill>
              <a:srgbClr val="5E8BF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4471416"/>
            <a:ext cx="1965960" cy="822960"/>
          </a:xfrm>
          <a:prstGeom prst="roundRect">
            <a:avLst>
              <a:gd name="adj" fmla="val 8000"/>
            </a:avLst>
          </a:prstGeom>
          <a:solidFill>
            <a:srgbClr val="111D30"/>
          </a:solidFill>
          <a:ln w="12700">
            <a:solidFill>
              <a:srgbClr val="5E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654296"/>
            <a:ext cx="1719072" cy="393192"/>
          </a:xfrm>
          <a:prstGeom prst="rect">
            <a:avLst/>
          </a:prstGeom>
          <a:noFill/>
        </p:spPr>
        <p:txBody>
          <a:bodyPr wrap="square" lIns="18288" rIns="18288" tIns="18288" bIns="18288" anchor="t">
            <a:spAutoFit/>
          </a:bodyPr>
          <a:lstStyle/>
          <a:p>
            <a:pPr algn="ctr"/>
            <a:r>
              <a:rPr sz="1200" b="1">
                <a:solidFill>
                  <a:srgbClr val="5E8BFF"/>
                </a:solidFill>
                <a:latin typeface="Aptos"/>
              </a:rPr>
              <a:t>SPECIALIZED
MODEL</a:t>
            </a:r>
          </a:p>
        </p:txBody>
      </p:sp>
      <p:cxnSp>
        <p:nvCxnSpPr>
          <p:cNvPr id="14" name="Connector 13"/>
          <p:cNvCxnSpPr/>
          <p:nvPr/>
        </p:nvCxnSpPr>
        <p:spPr>
          <a:xfrm flipV="1">
            <a:off x="2788920" y="3630168"/>
            <a:ext cx="1234440" cy="1252728"/>
          </a:xfrm>
          <a:prstGeom prst="line">
            <a:avLst/>
          </a:prstGeom>
          <a:ln w="19050">
            <a:solidFill>
              <a:srgbClr val="5E8BF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133087" y="2212848"/>
            <a:ext cx="3108960" cy="2852928"/>
          </a:xfrm>
          <a:prstGeom prst="roundRect">
            <a:avLst>
              <a:gd name="adj" fmla="val 8000"/>
            </a:avLst>
          </a:prstGeom>
          <a:solidFill>
            <a:srgbClr val="17263C"/>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2578608"/>
            <a:ext cx="2514600" cy="411480"/>
          </a:xfrm>
          <a:prstGeom prst="rect">
            <a:avLst/>
          </a:prstGeom>
          <a:noFill/>
        </p:spPr>
        <p:txBody>
          <a:bodyPr wrap="square" lIns="18288" rIns="18288" tIns="18288" bIns="18288" anchor="t">
            <a:spAutoFit/>
          </a:bodyPr>
          <a:lstStyle/>
          <a:p>
            <a:pPr algn="ctr"/>
            <a:r>
              <a:rPr sz="1900" b="1">
                <a:solidFill>
                  <a:srgbClr val="4DD9E7"/>
                </a:solidFill>
                <a:latin typeface="Aptos"/>
              </a:rPr>
              <a:t>AIL SEMANTIC API</a:t>
            </a:r>
          </a:p>
        </p:txBody>
      </p:sp>
      <p:sp>
        <p:nvSpPr>
          <p:cNvPr id="17" name="TextBox 16"/>
          <p:cNvSpPr txBox="1"/>
          <p:nvPr/>
        </p:nvSpPr>
        <p:spPr>
          <a:xfrm>
            <a:off x="4480560" y="3319272"/>
            <a:ext cx="2423160" cy="1097280"/>
          </a:xfrm>
          <a:prstGeom prst="rect">
            <a:avLst/>
          </a:prstGeom>
          <a:noFill/>
        </p:spPr>
        <p:txBody>
          <a:bodyPr wrap="square" lIns="18288" rIns="18288" tIns="18288" bIns="18288" anchor="t">
            <a:spAutoFit/>
          </a:bodyPr>
          <a:lstStyle/>
          <a:p>
            <a:pPr algn="ctr"/>
            <a:r>
              <a:rPr sz="1300" b="0">
                <a:solidFill>
                  <a:srgbClr val="F5F7FA"/>
                </a:solidFill>
                <a:latin typeface="Aptos"/>
              </a:rPr>
              <a:t>revision-bound facts
deterministic queries
validated operations</a:t>
            </a:r>
          </a:p>
        </p:txBody>
      </p:sp>
      <p:cxnSp>
        <p:nvCxnSpPr>
          <p:cNvPr id="18" name="Connector 17"/>
          <p:cNvCxnSpPr/>
          <p:nvPr/>
        </p:nvCxnSpPr>
        <p:spPr>
          <a:xfrm flipV="1">
            <a:off x="7296912" y="2414016"/>
            <a:ext cx="1161288" cy="1216152"/>
          </a:xfrm>
          <a:prstGeom prst="line">
            <a:avLst/>
          </a:prstGeom>
          <a:ln w="19050">
            <a:solidFill>
              <a:srgbClr val="4DD9E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613648" y="2029968"/>
            <a:ext cx="2240280" cy="768096"/>
          </a:xfrm>
          <a:prstGeom prst="roundRect">
            <a:avLst>
              <a:gd name="adj" fmla="val 8000"/>
            </a:avLst>
          </a:prstGeom>
          <a:solidFill>
            <a:srgbClr val="111D30"/>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23376" y="2249424"/>
            <a:ext cx="2011680" cy="237744"/>
          </a:xfrm>
          <a:prstGeom prst="rect">
            <a:avLst/>
          </a:prstGeom>
          <a:noFill/>
        </p:spPr>
        <p:txBody>
          <a:bodyPr wrap="square" lIns="18288" rIns="18288" tIns="18288" bIns="18288" anchor="t">
            <a:spAutoFit/>
          </a:bodyPr>
          <a:lstStyle/>
          <a:p>
            <a:pPr algn="ctr"/>
            <a:r>
              <a:rPr sz="1100" b="1">
                <a:solidFill>
                  <a:srgbClr val="61D095"/>
                </a:solidFill>
                <a:latin typeface="Aptos"/>
              </a:rPr>
              <a:t>VALIDATED OPERATION</a:t>
            </a:r>
          </a:p>
        </p:txBody>
      </p:sp>
      <p:cxnSp>
        <p:nvCxnSpPr>
          <p:cNvPr id="21" name="Connector 20"/>
          <p:cNvCxnSpPr/>
          <p:nvPr/>
        </p:nvCxnSpPr>
        <p:spPr>
          <a:xfrm>
            <a:off x="7296912" y="3630168"/>
            <a:ext cx="1161288" cy="18288"/>
          </a:xfrm>
          <a:prstGeom prst="line">
            <a:avLst/>
          </a:prstGeom>
          <a:ln w="19050">
            <a:solidFill>
              <a:srgbClr val="4DD9E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613648" y="3264408"/>
            <a:ext cx="2240280" cy="768096"/>
          </a:xfrm>
          <a:prstGeom prst="roundRect">
            <a:avLst>
              <a:gd name="adj" fmla="val 8000"/>
            </a:avLst>
          </a:prstGeom>
          <a:solidFill>
            <a:srgbClr val="111D30"/>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23376" y="3483863"/>
            <a:ext cx="2011680" cy="237744"/>
          </a:xfrm>
          <a:prstGeom prst="rect">
            <a:avLst/>
          </a:prstGeom>
          <a:noFill/>
        </p:spPr>
        <p:txBody>
          <a:bodyPr wrap="square" lIns="18288" rIns="18288" tIns="18288" bIns="18288" anchor="t">
            <a:spAutoFit/>
          </a:bodyPr>
          <a:lstStyle/>
          <a:p>
            <a:pPr algn="ctr"/>
            <a:r>
              <a:rPr sz="1100" b="1">
                <a:solidFill>
                  <a:srgbClr val="61D095"/>
                </a:solidFill>
                <a:latin typeface="Aptos"/>
              </a:rPr>
              <a:t>REVIEW EVIDENCE</a:t>
            </a:r>
          </a:p>
        </p:txBody>
      </p:sp>
      <p:cxnSp>
        <p:nvCxnSpPr>
          <p:cNvPr id="24" name="Connector 23"/>
          <p:cNvCxnSpPr/>
          <p:nvPr/>
        </p:nvCxnSpPr>
        <p:spPr>
          <a:xfrm>
            <a:off x="7296912" y="3630168"/>
            <a:ext cx="1161288" cy="1252728"/>
          </a:xfrm>
          <a:prstGeom prst="line">
            <a:avLst/>
          </a:prstGeom>
          <a:ln w="19050">
            <a:solidFill>
              <a:srgbClr val="4DD9E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613648" y="4498848"/>
            <a:ext cx="2240280" cy="768096"/>
          </a:xfrm>
          <a:prstGeom prst="roundRect">
            <a:avLst>
              <a:gd name="adj" fmla="val 8000"/>
            </a:avLst>
          </a:prstGeom>
          <a:solidFill>
            <a:srgbClr val="111D30"/>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23376" y="4718304"/>
            <a:ext cx="2011680" cy="237744"/>
          </a:xfrm>
          <a:prstGeom prst="rect">
            <a:avLst/>
          </a:prstGeom>
          <a:noFill/>
        </p:spPr>
        <p:txBody>
          <a:bodyPr wrap="square" lIns="18288" rIns="18288" tIns="18288" bIns="18288" anchor="t">
            <a:spAutoFit/>
          </a:bodyPr>
          <a:lstStyle/>
          <a:p>
            <a:pPr algn="ctr"/>
            <a:r>
              <a:rPr sz="1100" b="1">
                <a:solidFill>
                  <a:srgbClr val="61D095"/>
                </a:solidFill>
                <a:latin typeface="Aptos"/>
              </a:rPr>
              <a:t>POLICY RESULT</a:t>
            </a:r>
          </a:p>
        </p:txBody>
      </p:sp>
      <p:sp>
        <p:nvSpPr>
          <p:cNvPr id="27" name="TextBox 26"/>
          <p:cNvSpPr txBox="1"/>
          <p:nvPr/>
        </p:nvSpPr>
        <p:spPr>
          <a:xfrm>
            <a:off x="768096" y="5779008"/>
            <a:ext cx="10241280" cy="310896"/>
          </a:xfrm>
          <a:prstGeom prst="rect">
            <a:avLst/>
          </a:prstGeom>
          <a:noFill/>
        </p:spPr>
        <p:txBody>
          <a:bodyPr wrap="square" lIns="18288" rIns="18288" tIns="18288" bIns="18288" anchor="t">
            <a:spAutoFit/>
          </a:bodyPr>
          <a:lstStyle/>
          <a:p>
            <a:pPr algn="ctr"/>
            <a:r>
              <a:rPr sz="1200" b="0">
                <a:solidFill>
                  <a:srgbClr val="AAB8CC"/>
                </a:solidFill>
                <a:latin typeface="Aptos"/>
              </a:rPr>
              <a:t>Not a prompt format. Not tied to one model vendor. Canonical source stays portable and auditable.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ECONOMIC HYPOTHESIS</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11</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2700" b="1">
                <a:solidFill>
                  <a:srgbClr val="F5F7FA"/>
                </a:solidFill>
                <a:latin typeface="Aptos"/>
              </a:rPr>
              <a:t>The leverage is in the total cost of a correct change</a:t>
            </a:r>
          </a:p>
        </p:txBody>
      </p:sp>
      <p:sp>
        <p:nvSpPr>
          <p:cNvPr id="5" name="TextBox 4"/>
          <p:cNvSpPr txBox="1"/>
          <p:nvPr/>
        </p:nvSpPr>
        <p:spPr>
          <a:xfrm>
            <a:off x="585216" y="1399032"/>
            <a:ext cx="10607040" cy="347472"/>
          </a:xfrm>
          <a:prstGeom prst="rect">
            <a:avLst/>
          </a:prstGeom>
          <a:noFill/>
        </p:spPr>
        <p:txBody>
          <a:bodyPr wrap="square" lIns="18288" rIns="18288" tIns="18288" bIns="18288" anchor="t">
            <a:spAutoFit/>
          </a:bodyPr>
          <a:lstStyle/>
          <a:p>
            <a:pPr algn="l"/>
            <a:r>
              <a:rPr sz="1300" b="0">
                <a:solidFill>
                  <a:srgbClr val="AAB8CC"/>
                </a:solidFill>
                <a:latin typeface="Aptos"/>
              </a:rPr>
              <a:t>Compiler mechanisms execute as specified. Comparative advantage remains to be measured.</a:t>
            </a:r>
          </a:p>
        </p:txBody>
      </p:sp>
      <p:sp>
        <p:nvSpPr>
          <p:cNvPr id="6" name="Rectangle 5"/>
          <p:cNvSpPr/>
          <p:nvPr/>
        </p:nvSpPr>
        <p:spPr>
          <a:xfrm>
            <a:off x="594360" y="3063240"/>
            <a:ext cx="1508760" cy="1737360"/>
          </a:xfrm>
          <a:prstGeom prst="rect">
            <a:avLst/>
          </a:prstGeom>
          <a:solidFill>
            <a:srgbClr val="5E8BFF"/>
          </a:solidFill>
          <a:ln w="12700">
            <a:solidFill>
              <a:srgbClr val="5E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3218688"/>
            <a:ext cx="1362456" cy="292608"/>
          </a:xfrm>
          <a:prstGeom prst="rect">
            <a:avLst/>
          </a:prstGeom>
          <a:noFill/>
        </p:spPr>
        <p:txBody>
          <a:bodyPr wrap="square" lIns="18288" rIns="18288" tIns="18288" bIns="18288" anchor="t">
            <a:spAutoFit/>
          </a:bodyPr>
          <a:lstStyle/>
          <a:p>
            <a:pPr algn="ctr"/>
            <a:r>
              <a:rPr sz="1000" b="1">
                <a:solidFill>
                  <a:srgbClr val="09111F"/>
                </a:solidFill>
                <a:latin typeface="Aptos"/>
              </a:rPr>
              <a:t>GENERATION</a:t>
            </a:r>
          </a:p>
        </p:txBody>
      </p:sp>
      <p:sp>
        <p:nvSpPr>
          <p:cNvPr id="8" name="TextBox 7"/>
          <p:cNvSpPr txBox="1"/>
          <p:nvPr/>
        </p:nvSpPr>
        <p:spPr>
          <a:xfrm>
            <a:off x="713232" y="4197096"/>
            <a:ext cx="1271016" cy="457200"/>
          </a:xfrm>
          <a:prstGeom prst="rect">
            <a:avLst/>
          </a:prstGeom>
          <a:noFill/>
        </p:spPr>
        <p:txBody>
          <a:bodyPr wrap="square" lIns="18288" rIns="18288" tIns="18288" bIns="18288" anchor="t">
            <a:spAutoFit/>
          </a:bodyPr>
          <a:lstStyle/>
          <a:p>
            <a:pPr algn="ctr"/>
            <a:r>
              <a:rPr sz="900" b="1">
                <a:solidFill>
                  <a:srgbClr val="09111F"/>
                </a:solidFill>
                <a:latin typeface="Aptos"/>
              </a:rPr>
              <a:t>already falling</a:t>
            </a:r>
          </a:p>
        </p:txBody>
      </p:sp>
      <p:sp>
        <p:nvSpPr>
          <p:cNvPr id="9" name="Rectangle 8"/>
          <p:cNvSpPr/>
          <p:nvPr/>
        </p:nvSpPr>
        <p:spPr>
          <a:xfrm>
            <a:off x="2496312" y="3063240"/>
            <a:ext cx="1508760" cy="1737360"/>
          </a:xfrm>
          <a:prstGeom prst="rect">
            <a:avLst/>
          </a:prstGeom>
          <a:solidFill>
            <a:srgbClr val="4DD9E7"/>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9464" y="3218688"/>
            <a:ext cx="1362456" cy="292608"/>
          </a:xfrm>
          <a:prstGeom prst="rect">
            <a:avLst/>
          </a:prstGeom>
          <a:noFill/>
        </p:spPr>
        <p:txBody>
          <a:bodyPr wrap="square" lIns="18288" rIns="18288" tIns="18288" bIns="18288" anchor="t">
            <a:spAutoFit/>
          </a:bodyPr>
          <a:lstStyle/>
          <a:p>
            <a:pPr algn="ctr"/>
            <a:r>
              <a:rPr sz="1000" b="1">
                <a:solidFill>
                  <a:srgbClr val="09111F"/>
                </a:solidFill>
                <a:latin typeface="Aptos"/>
              </a:rPr>
              <a:t>CONTEXT</a:t>
            </a:r>
          </a:p>
        </p:txBody>
      </p:sp>
      <p:sp>
        <p:nvSpPr>
          <p:cNvPr id="11" name="TextBox 10"/>
          <p:cNvSpPr txBox="1"/>
          <p:nvPr/>
        </p:nvSpPr>
        <p:spPr>
          <a:xfrm>
            <a:off x="2615184" y="4197096"/>
            <a:ext cx="1271016" cy="457200"/>
          </a:xfrm>
          <a:prstGeom prst="rect">
            <a:avLst/>
          </a:prstGeom>
          <a:noFill/>
        </p:spPr>
        <p:txBody>
          <a:bodyPr wrap="square" lIns="18288" rIns="18288" tIns="18288" bIns="18288" anchor="t">
            <a:spAutoFit/>
          </a:bodyPr>
          <a:lstStyle/>
          <a:p>
            <a:pPr algn="ctr"/>
            <a:r>
              <a:rPr sz="900" b="1">
                <a:solidFill>
                  <a:srgbClr val="09111F"/>
                </a:solidFill>
                <a:latin typeface="Aptos"/>
              </a:rPr>
              <a:t>query, don’t rediscover</a:t>
            </a:r>
          </a:p>
        </p:txBody>
      </p:sp>
      <p:sp>
        <p:nvSpPr>
          <p:cNvPr id="12" name="Rectangle 11"/>
          <p:cNvSpPr/>
          <p:nvPr/>
        </p:nvSpPr>
        <p:spPr>
          <a:xfrm>
            <a:off x="4398264" y="3063240"/>
            <a:ext cx="1508760" cy="1737360"/>
          </a:xfrm>
          <a:prstGeom prst="rect">
            <a:avLst/>
          </a:prstGeom>
          <a:solidFill>
            <a:srgbClr val="4DD9E7"/>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71416" y="3218688"/>
            <a:ext cx="1362456" cy="292608"/>
          </a:xfrm>
          <a:prstGeom prst="rect">
            <a:avLst/>
          </a:prstGeom>
          <a:noFill/>
        </p:spPr>
        <p:txBody>
          <a:bodyPr wrap="square" lIns="18288" rIns="18288" tIns="18288" bIns="18288" anchor="t">
            <a:spAutoFit/>
          </a:bodyPr>
          <a:lstStyle/>
          <a:p>
            <a:pPr algn="ctr"/>
            <a:r>
              <a:rPr sz="1000" b="1">
                <a:solidFill>
                  <a:srgbClr val="09111F"/>
                </a:solidFill>
                <a:latin typeface="Aptos"/>
              </a:rPr>
              <a:t>CONSEQUENCE</a:t>
            </a:r>
          </a:p>
        </p:txBody>
      </p:sp>
      <p:sp>
        <p:nvSpPr>
          <p:cNvPr id="14" name="TextBox 13"/>
          <p:cNvSpPr txBox="1"/>
          <p:nvPr/>
        </p:nvSpPr>
        <p:spPr>
          <a:xfrm>
            <a:off x="4517136" y="4197096"/>
            <a:ext cx="1271016" cy="457200"/>
          </a:xfrm>
          <a:prstGeom prst="rect">
            <a:avLst/>
          </a:prstGeom>
          <a:noFill/>
        </p:spPr>
        <p:txBody>
          <a:bodyPr wrap="square" lIns="18288" rIns="18288" tIns="18288" bIns="18288" anchor="t">
            <a:spAutoFit/>
          </a:bodyPr>
          <a:lstStyle/>
          <a:p>
            <a:pPr algn="ctr"/>
            <a:r>
              <a:rPr sz="900" b="1">
                <a:solidFill>
                  <a:srgbClr val="09111F"/>
                </a:solidFill>
                <a:latin typeface="Aptos"/>
              </a:rPr>
              <a:t>exact impact + authority</a:t>
            </a:r>
          </a:p>
        </p:txBody>
      </p:sp>
      <p:sp>
        <p:nvSpPr>
          <p:cNvPr id="15" name="Rectangle 14"/>
          <p:cNvSpPr/>
          <p:nvPr/>
        </p:nvSpPr>
        <p:spPr>
          <a:xfrm>
            <a:off x="6300216" y="3063240"/>
            <a:ext cx="1508760" cy="1737360"/>
          </a:xfrm>
          <a:prstGeom prst="rect">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8" y="3218688"/>
            <a:ext cx="1362456" cy="292608"/>
          </a:xfrm>
          <a:prstGeom prst="rect">
            <a:avLst/>
          </a:prstGeom>
          <a:noFill/>
        </p:spPr>
        <p:txBody>
          <a:bodyPr wrap="square" lIns="18288" rIns="18288" tIns="18288" bIns="18288" anchor="t">
            <a:spAutoFit/>
          </a:bodyPr>
          <a:lstStyle/>
          <a:p>
            <a:pPr algn="ctr"/>
            <a:r>
              <a:rPr sz="1000" b="1">
                <a:solidFill>
                  <a:srgbClr val="09111F"/>
                </a:solidFill>
                <a:latin typeface="Aptos"/>
              </a:rPr>
              <a:t>REPAIR</a:t>
            </a:r>
          </a:p>
        </p:txBody>
      </p:sp>
      <p:sp>
        <p:nvSpPr>
          <p:cNvPr id="17" name="TextBox 16"/>
          <p:cNvSpPr txBox="1"/>
          <p:nvPr/>
        </p:nvSpPr>
        <p:spPr>
          <a:xfrm>
            <a:off x="6419088" y="4197096"/>
            <a:ext cx="1271016" cy="457200"/>
          </a:xfrm>
          <a:prstGeom prst="rect">
            <a:avLst/>
          </a:prstGeom>
          <a:noFill/>
        </p:spPr>
        <p:txBody>
          <a:bodyPr wrap="square" lIns="18288" rIns="18288" tIns="18288" bIns="18288" anchor="t">
            <a:spAutoFit/>
          </a:bodyPr>
          <a:lstStyle/>
          <a:p>
            <a:pPr algn="ctr"/>
            <a:r>
              <a:rPr sz="900" b="1">
                <a:solidFill>
                  <a:srgbClr val="09111F"/>
                </a:solidFill>
                <a:latin typeface="Aptos"/>
              </a:rPr>
              <a:t>structured causes</a:t>
            </a:r>
          </a:p>
        </p:txBody>
      </p:sp>
      <p:sp>
        <p:nvSpPr>
          <p:cNvPr id="18" name="Rectangle 17"/>
          <p:cNvSpPr/>
          <p:nvPr/>
        </p:nvSpPr>
        <p:spPr>
          <a:xfrm>
            <a:off x="8202168" y="3063240"/>
            <a:ext cx="1508760" cy="1737360"/>
          </a:xfrm>
          <a:prstGeom prst="rect">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3218688"/>
            <a:ext cx="1362456" cy="292608"/>
          </a:xfrm>
          <a:prstGeom prst="rect">
            <a:avLst/>
          </a:prstGeom>
          <a:noFill/>
        </p:spPr>
        <p:txBody>
          <a:bodyPr wrap="square" lIns="18288" rIns="18288" tIns="18288" bIns="18288" anchor="t">
            <a:spAutoFit/>
          </a:bodyPr>
          <a:lstStyle/>
          <a:p>
            <a:pPr algn="ctr"/>
            <a:r>
              <a:rPr sz="1000" b="1">
                <a:solidFill>
                  <a:srgbClr val="09111F"/>
                </a:solidFill>
                <a:latin typeface="Aptos"/>
              </a:rPr>
              <a:t>REGRESSION</a:t>
            </a:r>
          </a:p>
        </p:txBody>
      </p:sp>
      <p:sp>
        <p:nvSpPr>
          <p:cNvPr id="20" name="TextBox 19"/>
          <p:cNvSpPr txBox="1"/>
          <p:nvPr/>
        </p:nvSpPr>
        <p:spPr>
          <a:xfrm>
            <a:off x="8321040" y="4197096"/>
            <a:ext cx="1271016" cy="457200"/>
          </a:xfrm>
          <a:prstGeom prst="rect">
            <a:avLst/>
          </a:prstGeom>
          <a:noFill/>
        </p:spPr>
        <p:txBody>
          <a:bodyPr wrap="square" lIns="18288" rIns="18288" tIns="18288" bIns="18288" anchor="t">
            <a:spAutoFit/>
          </a:bodyPr>
          <a:lstStyle/>
          <a:p>
            <a:pPr algn="ctr"/>
            <a:r>
              <a:rPr sz="900" b="1">
                <a:solidFill>
                  <a:srgbClr val="09111F"/>
                </a:solidFill>
                <a:latin typeface="Aptos"/>
              </a:rPr>
              <a:t>policy before publish</a:t>
            </a:r>
          </a:p>
        </p:txBody>
      </p:sp>
      <p:sp>
        <p:nvSpPr>
          <p:cNvPr id="21" name="Rectangle 20"/>
          <p:cNvSpPr/>
          <p:nvPr/>
        </p:nvSpPr>
        <p:spPr>
          <a:xfrm>
            <a:off x="10104120" y="3063240"/>
            <a:ext cx="1508760" cy="1737360"/>
          </a:xfrm>
          <a:prstGeom prst="rect">
            <a:avLst/>
          </a:prstGeom>
          <a:solidFill>
            <a:srgbClr val="F5B942"/>
          </a:solidFill>
          <a:ln w="12700">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77272" y="3218688"/>
            <a:ext cx="1362456" cy="292608"/>
          </a:xfrm>
          <a:prstGeom prst="rect">
            <a:avLst/>
          </a:prstGeom>
          <a:noFill/>
        </p:spPr>
        <p:txBody>
          <a:bodyPr wrap="square" lIns="18288" rIns="18288" tIns="18288" bIns="18288" anchor="t">
            <a:spAutoFit/>
          </a:bodyPr>
          <a:lstStyle/>
          <a:p>
            <a:pPr algn="ctr"/>
            <a:r>
              <a:rPr sz="1000" b="1">
                <a:solidFill>
                  <a:srgbClr val="09111F"/>
                </a:solidFill>
                <a:latin typeface="Aptos"/>
              </a:rPr>
              <a:t>REVIEW</a:t>
            </a:r>
          </a:p>
        </p:txBody>
      </p:sp>
      <p:sp>
        <p:nvSpPr>
          <p:cNvPr id="23" name="TextBox 22"/>
          <p:cNvSpPr txBox="1"/>
          <p:nvPr/>
        </p:nvSpPr>
        <p:spPr>
          <a:xfrm>
            <a:off x="10222992" y="4197096"/>
            <a:ext cx="1271016" cy="457200"/>
          </a:xfrm>
          <a:prstGeom prst="rect">
            <a:avLst/>
          </a:prstGeom>
          <a:noFill/>
        </p:spPr>
        <p:txBody>
          <a:bodyPr wrap="square" lIns="18288" rIns="18288" tIns="18288" bIns="18288" anchor="t">
            <a:spAutoFit/>
          </a:bodyPr>
          <a:lstStyle/>
          <a:p>
            <a:pPr algn="ctr"/>
            <a:r>
              <a:rPr sz="900" b="1">
                <a:solidFill>
                  <a:srgbClr val="09111F"/>
                </a:solidFill>
                <a:latin typeface="Aptos"/>
              </a:rPr>
              <a:t>bound evidence</a:t>
            </a:r>
          </a:p>
        </p:txBody>
      </p:sp>
      <p:cxnSp>
        <p:nvCxnSpPr>
          <p:cNvPr id="24" name="Connector 23"/>
          <p:cNvCxnSpPr/>
          <p:nvPr/>
        </p:nvCxnSpPr>
        <p:spPr>
          <a:xfrm>
            <a:off x="594360" y="4956048"/>
            <a:ext cx="10469880" cy="0"/>
          </a:xfrm>
          <a:prstGeom prst="line">
            <a:avLst/>
          </a:prstGeom>
          <a:ln w="12700">
            <a:solidFill>
              <a:srgbClr val="AAB8CC"/>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0936" y="5230368"/>
            <a:ext cx="10424160" cy="384048"/>
          </a:xfrm>
          <a:prstGeom prst="rect">
            <a:avLst/>
          </a:prstGeom>
          <a:noFill/>
        </p:spPr>
        <p:txBody>
          <a:bodyPr wrap="square" lIns="18288" rIns="18288" tIns="18288" bIns="18288" anchor="t">
            <a:spAutoFit/>
          </a:bodyPr>
          <a:lstStyle/>
          <a:p>
            <a:pPr algn="ctr"/>
            <a:r>
              <a:rPr sz="1300" b="1">
                <a:solidFill>
                  <a:srgbClr val="F5B942"/>
                </a:solidFill>
                <a:latin typeface="Aptos"/>
              </a:rPr>
              <a:t>HYPOTHESIS: lower tokens + elapsed time + retries + regressions + reviewer effort at equal correctness</a:t>
            </a:r>
          </a:p>
        </p:txBody>
      </p:sp>
      <p:sp>
        <p:nvSpPr>
          <p:cNvPr id="26" name="TextBox 25"/>
          <p:cNvSpPr txBox="1"/>
          <p:nvPr/>
        </p:nvSpPr>
        <p:spPr>
          <a:xfrm>
            <a:off x="630936" y="5760720"/>
            <a:ext cx="10424160" cy="274320"/>
          </a:xfrm>
          <a:prstGeom prst="rect">
            <a:avLst/>
          </a:prstGeom>
          <a:noFill/>
        </p:spPr>
        <p:txBody>
          <a:bodyPr wrap="square" lIns="18288" rIns="18288" tIns="18288" bIns="18288" anchor="t">
            <a:spAutoFit/>
          </a:bodyPr>
          <a:lstStyle/>
          <a:p>
            <a:pPr algn="ctr"/>
            <a:r>
              <a:rPr sz="1100" b="0">
                <a:solidFill>
                  <a:srgbClr val="F07178"/>
                </a:solidFill>
                <a:latin typeface="Aptos"/>
              </a:rPr>
              <a:t>No speedup or ROI number is claimed today.</a:t>
            </a:r>
          </a:p>
        </p:txBody>
      </p:sp>
      <p:sp>
        <p:nvSpPr>
          <p:cNvPr id="27" name="TextBox 26"/>
          <p:cNvSpPr txBox="1"/>
          <p:nvPr/>
        </p:nvSpPr>
        <p:spPr>
          <a:xfrm>
            <a:off x="658368" y="2724912"/>
            <a:ext cx="3657600" cy="219456"/>
          </a:xfrm>
          <a:prstGeom prst="rect">
            <a:avLst/>
          </a:prstGeom>
          <a:noFill/>
        </p:spPr>
        <p:txBody>
          <a:bodyPr wrap="square" lIns="18288" rIns="18288" tIns="18288" bIns="18288" anchor="t">
            <a:spAutoFit/>
          </a:bodyPr>
          <a:lstStyle/>
          <a:p>
            <a:pPr algn="l"/>
            <a:r>
              <a:rPr sz="850" b="1">
                <a:solidFill>
                  <a:srgbClr val="F5B942"/>
                </a:solidFill>
                <a:latin typeface="Aptos"/>
              </a:rPr>
              <a:t>COMPONENTS SHOWN EQUALLY — NOT TO SCALE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BEACHHEAD + DEFENSIBILITY</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12</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2700" b="1">
                <a:solidFill>
                  <a:srgbClr val="F5F7FA"/>
                </a:solidFill>
                <a:latin typeface="Aptos"/>
              </a:rPr>
              <a:t>Start where agent autonomy is already the operating model</a:t>
            </a:r>
          </a:p>
        </p:txBody>
      </p:sp>
      <p:sp>
        <p:nvSpPr>
          <p:cNvPr id="5" name="TextBox 4"/>
          <p:cNvSpPr txBox="1"/>
          <p:nvPr/>
        </p:nvSpPr>
        <p:spPr>
          <a:xfrm>
            <a:off x="585216" y="1399032"/>
            <a:ext cx="10607040" cy="347472"/>
          </a:xfrm>
          <a:prstGeom prst="rect">
            <a:avLst/>
          </a:prstGeom>
          <a:noFill/>
        </p:spPr>
        <p:txBody>
          <a:bodyPr wrap="square" lIns="18288" rIns="18288" tIns="18288" bIns="18288" anchor="t">
            <a:spAutoFit/>
          </a:bodyPr>
          <a:lstStyle/>
          <a:p>
            <a:pPr algn="l"/>
            <a:r>
              <a:rPr sz="1300" b="0">
                <a:solidFill>
                  <a:srgbClr val="AAB8CC"/>
                </a:solidFill>
                <a:latin typeface="Aptos"/>
              </a:rPr>
              <a:t>Buyer and adoption path are hypotheses to validate with design partners.</a:t>
            </a:r>
          </a:p>
        </p:txBody>
      </p:sp>
      <p:sp>
        <p:nvSpPr>
          <p:cNvPr id="6" name="Rounded Rectangle 5"/>
          <p:cNvSpPr/>
          <p:nvPr/>
        </p:nvSpPr>
        <p:spPr>
          <a:xfrm>
            <a:off x="640080" y="1828800"/>
            <a:ext cx="3383280" cy="347472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28800"/>
            <a:ext cx="64008" cy="3474720"/>
          </a:xfrm>
          <a:prstGeom prst="rect">
            <a:avLst/>
          </a:prstGeom>
          <a:solidFill>
            <a:srgbClr val="5E8BFF"/>
          </a:solidFill>
          <a:ln w="12700">
            <a:solidFill>
              <a:srgbClr val="5E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011680"/>
            <a:ext cx="3035808" cy="310896"/>
          </a:xfrm>
          <a:prstGeom prst="rect">
            <a:avLst/>
          </a:prstGeom>
          <a:noFill/>
        </p:spPr>
        <p:txBody>
          <a:bodyPr wrap="square" lIns="18288" rIns="18288" tIns="18288" bIns="18288" anchor="t">
            <a:spAutoFit/>
          </a:bodyPr>
          <a:lstStyle/>
          <a:p>
            <a:pPr algn="l"/>
            <a:r>
              <a:rPr sz="1600" b="1">
                <a:solidFill>
                  <a:srgbClr val="F5F7FA"/>
                </a:solidFill>
                <a:latin typeface="Aptos"/>
              </a:rPr>
              <a:t>BEACHHEAD</a:t>
            </a:r>
          </a:p>
        </p:txBody>
      </p:sp>
      <p:sp>
        <p:nvSpPr>
          <p:cNvPr id="9" name="TextBox 8"/>
          <p:cNvSpPr txBox="1"/>
          <p:nvPr/>
        </p:nvSpPr>
        <p:spPr>
          <a:xfrm>
            <a:off x="841247" y="2468880"/>
            <a:ext cx="3035808" cy="2724912"/>
          </a:xfrm>
          <a:prstGeom prst="rect">
            <a:avLst/>
          </a:prstGeom>
          <a:noFill/>
        </p:spPr>
        <p:txBody>
          <a:bodyPr wrap="square" lIns="18288" rIns="18288" tIns="18288" bIns="18288" anchor="t">
            <a:spAutoFit/>
          </a:bodyPr>
          <a:lstStyle/>
          <a:p>
            <a:pPr algn="l"/>
            <a:r>
              <a:rPr sz="1200" b="0">
                <a:solidFill>
                  <a:srgbClr val="AAB8CC"/>
                </a:solidFill>
                <a:latin typeface="Aptos"/>
              </a:rPr>
              <a:t>Greenfield backend services and workers
Buyer hypothesis:
Engineering leaders running agent-primary delivery
Entry point:
Compiler-guided validation in bounded service pilots</a:t>
            </a:r>
          </a:p>
        </p:txBody>
      </p:sp>
      <p:sp>
        <p:nvSpPr>
          <p:cNvPr id="10" name="Rounded Rectangle 9"/>
          <p:cNvSpPr/>
          <p:nvPr/>
        </p:nvSpPr>
        <p:spPr>
          <a:xfrm>
            <a:off x="4407408" y="1828800"/>
            <a:ext cx="3383280" cy="347472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1828800"/>
            <a:ext cx="64008" cy="3474720"/>
          </a:xfrm>
          <a:prstGeom prst="rect">
            <a:avLst/>
          </a:prstGeom>
          <a:solidFill>
            <a:srgbClr val="4DD9E7"/>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2011680"/>
            <a:ext cx="3035808" cy="310896"/>
          </a:xfrm>
          <a:prstGeom prst="rect">
            <a:avLst/>
          </a:prstGeom>
          <a:noFill/>
        </p:spPr>
        <p:txBody>
          <a:bodyPr wrap="square" lIns="18288" rIns="18288" tIns="18288" bIns="18288" anchor="t">
            <a:spAutoFit/>
          </a:bodyPr>
          <a:lstStyle/>
          <a:p>
            <a:pPr algn="l"/>
            <a:r>
              <a:rPr sz="1600" b="1">
                <a:solidFill>
                  <a:srgbClr val="F5F7FA"/>
                </a:solidFill>
                <a:latin typeface="Aptos"/>
              </a:rPr>
              <a:t>WHY A LANGUAGE</a:t>
            </a:r>
          </a:p>
        </p:txBody>
      </p:sp>
      <p:sp>
        <p:nvSpPr>
          <p:cNvPr id="13" name="TextBox 12"/>
          <p:cNvSpPr txBox="1"/>
          <p:nvPr/>
        </p:nvSpPr>
        <p:spPr>
          <a:xfrm>
            <a:off x="4608576" y="2468880"/>
            <a:ext cx="3035808" cy="2724912"/>
          </a:xfrm>
          <a:prstGeom prst="rect">
            <a:avLst/>
          </a:prstGeom>
          <a:noFill/>
        </p:spPr>
        <p:txBody>
          <a:bodyPr wrap="square" lIns="18288" rIns="18288" tIns="18288" bIns="18288" anchor="t">
            <a:spAutoFit/>
          </a:bodyPr>
          <a:lstStyle/>
          <a:p>
            <a:pPr algn="l"/>
            <a:r>
              <a:rPr sz="1150" b="0">
                <a:solidFill>
                  <a:srgbClr val="AAB8CC"/>
                </a:solidFill>
                <a:latin typeface="Aptos"/>
              </a:rPr>
              <a:t>Existing-language tools can improve retrieval and analysis.
AIL is justified only where canonical semantics, explicit authority, deterministic behavior, and complete supported impact cannot be added reliably through compatibility-bound tooling.</a:t>
            </a:r>
          </a:p>
        </p:txBody>
      </p:sp>
      <p:sp>
        <p:nvSpPr>
          <p:cNvPr id="14" name="Rounded Rectangle 13"/>
          <p:cNvSpPr/>
          <p:nvPr/>
        </p:nvSpPr>
        <p:spPr>
          <a:xfrm>
            <a:off x="8174736" y="1828800"/>
            <a:ext cx="3383280" cy="3474720"/>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74736" y="1828800"/>
            <a:ext cx="64008" cy="3474720"/>
          </a:xfrm>
          <a:prstGeom prst="rect">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75904" y="2011680"/>
            <a:ext cx="3035808" cy="310896"/>
          </a:xfrm>
          <a:prstGeom prst="rect">
            <a:avLst/>
          </a:prstGeom>
          <a:noFill/>
        </p:spPr>
        <p:txBody>
          <a:bodyPr wrap="square" lIns="18288" rIns="18288" tIns="18288" bIns="18288" anchor="t">
            <a:spAutoFit/>
          </a:bodyPr>
          <a:lstStyle/>
          <a:p>
            <a:pPr algn="l"/>
            <a:r>
              <a:rPr sz="1600" b="1">
                <a:solidFill>
                  <a:srgbClr val="F5F7FA"/>
                </a:solidFill>
                <a:latin typeface="Aptos"/>
              </a:rPr>
              <a:t>HOW DEFENSIBILITY CAN COMPOUND</a:t>
            </a:r>
          </a:p>
        </p:txBody>
      </p:sp>
      <p:sp>
        <p:nvSpPr>
          <p:cNvPr id="17" name="TextBox 16"/>
          <p:cNvSpPr txBox="1"/>
          <p:nvPr/>
        </p:nvSpPr>
        <p:spPr>
          <a:xfrm>
            <a:off x="8375904" y="2468880"/>
            <a:ext cx="3035808" cy="2724912"/>
          </a:xfrm>
          <a:prstGeom prst="rect">
            <a:avLst/>
          </a:prstGeom>
          <a:noFill/>
        </p:spPr>
        <p:txBody>
          <a:bodyPr wrap="square" lIns="18288" rIns="18288" tIns="18288" bIns="18288" anchor="t">
            <a:spAutoFit/>
          </a:bodyPr>
          <a:lstStyle/>
          <a:p>
            <a:pPr algn="l"/>
            <a:r>
              <a:rPr sz="1150" b="0">
                <a:solidFill>
                  <a:srgbClr val="AAB8CC"/>
                </a:solidFill>
                <a:latin typeface="Aptos"/>
              </a:rPr>
              <a:t>Built: compiler • contracts • semantic graph • adversarial fixtures
To build: held-out workloads • design-partner policy • integrations • production runtime • adoption</a:t>
            </a:r>
          </a:p>
        </p:txBody>
      </p:sp>
      <p:sp>
        <p:nvSpPr>
          <p:cNvPr id="18" name="TextBox 17"/>
          <p:cNvSpPr txBox="1"/>
          <p:nvPr/>
        </p:nvSpPr>
        <p:spPr>
          <a:xfrm>
            <a:off x="731520" y="5660136"/>
            <a:ext cx="10698480" cy="365760"/>
          </a:xfrm>
          <a:prstGeom prst="rect">
            <a:avLst/>
          </a:prstGeom>
          <a:noFill/>
        </p:spPr>
        <p:txBody>
          <a:bodyPr wrap="square" lIns="18288" rIns="18288" tIns="18288" bIns="18288" anchor="t">
            <a:spAutoFit/>
          </a:bodyPr>
          <a:lstStyle/>
          <a:p>
            <a:pPr algn="ctr"/>
            <a:r>
              <a:rPr sz="1100" b="1">
                <a:solidFill>
                  <a:srgbClr val="F5B942"/>
                </a:solidFill>
                <a:latin typeface="Aptos"/>
              </a:rPr>
              <a:t>No customer adoption, proprietary workload access, or switching-cost claim is made today.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ROADMAP</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13</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2700" b="1">
                <a:solidFill>
                  <a:srgbClr val="F5F7FA"/>
                </a:solidFill>
                <a:latin typeface="Aptos"/>
              </a:rPr>
              <a:t>Mechanism first. Economics next. Production only when justified.</a:t>
            </a:r>
          </a:p>
        </p:txBody>
      </p:sp>
      <p:sp>
        <p:nvSpPr>
          <p:cNvPr id="5" name="Rounded Rectangle 4"/>
          <p:cNvSpPr/>
          <p:nvPr/>
        </p:nvSpPr>
        <p:spPr>
          <a:xfrm>
            <a:off x="640080" y="1828800"/>
            <a:ext cx="1005840" cy="310896"/>
          </a:xfrm>
          <a:prstGeom prst="roundRect">
            <a:avLst>
              <a:gd name="adj" fmla="val 45000"/>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37943"/>
            <a:ext cx="1005840" cy="256032"/>
          </a:xfrm>
          <a:prstGeom prst="rect">
            <a:avLst/>
          </a:prstGeom>
          <a:noFill/>
        </p:spPr>
        <p:txBody>
          <a:bodyPr wrap="square" lIns="18288" rIns="18288" tIns="18288" bIns="18288" anchor="ctr">
            <a:spAutoFit/>
          </a:bodyPr>
          <a:lstStyle/>
          <a:p>
            <a:pPr algn="ctr"/>
            <a:r>
              <a:rPr sz="900" b="1">
                <a:solidFill>
                  <a:srgbClr val="09111F"/>
                </a:solidFill>
                <a:latin typeface="Aptos"/>
              </a:rPr>
              <a:t>DONE</a:t>
            </a:r>
          </a:p>
        </p:txBody>
      </p:sp>
      <p:sp>
        <p:nvSpPr>
          <p:cNvPr id="7" name="Rounded Rectangle 6"/>
          <p:cNvSpPr/>
          <p:nvPr/>
        </p:nvSpPr>
        <p:spPr>
          <a:xfrm>
            <a:off x="640080" y="2359152"/>
            <a:ext cx="2423160" cy="2606040"/>
          </a:xfrm>
          <a:prstGeom prst="roundRect">
            <a:avLst>
              <a:gd name="adj" fmla="val 8000"/>
            </a:avLst>
          </a:prstGeom>
          <a:solidFill>
            <a:srgbClr val="111D30"/>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624328"/>
            <a:ext cx="2057400" cy="502920"/>
          </a:xfrm>
          <a:prstGeom prst="rect">
            <a:avLst/>
          </a:prstGeom>
          <a:noFill/>
        </p:spPr>
        <p:txBody>
          <a:bodyPr wrap="square" lIns="18288" rIns="18288" tIns="18288" bIns="18288" anchor="t">
            <a:spAutoFit/>
          </a:bodyPr>
          <a:lstStyle/>
          <a:p>
            <a:pPr algn="l"/>
            <a:r>
              <a:rPr sz="1700" b="1">
                <a:solidFill>
                  <a:srgbClr val="61D095"/>
                </a:solidFill>
                <a:latin typeface="Aptos"/>
              </a:rPr>
              <a:t>Working compiler</a:t>
            </a:r>
          </a:p>
        </p:txBody>
      </p:sp>
      <p:sp>
        <p:nvSpPr>
          <p:cNvPr id="9" name="TextBox 8"/>
          <p:cNvSpPr txBox="1"/>
          <p:nvPr/>
        </p:nvSpPr>
        <p:spPr>
          <a:xfrm>
            <a:off x="822959" y="3383280"/>
            <a:ext cx="2057400" cy="1051560"/>
          </a:xfrm>
          <a:prstGeom prst="rect">
            <a:avLst/>
          </a:prstGeom>
          <a:noFill/>
        </p:spPr>
        <p:txBody>
          <a:bodyPr wrap="square" lIns="18288" rIns="18288" tIns="18288" bIns="18288" anchor="t">
            <a:spAutoFit/>
          </a:bodyPr>
          <a:lstStyle/>
          <a:p>
            <a:pPr algn="l"/>
            <a:r>
              <a:rPr sz="1200" b="0">
                <a:solidFill>
                  <a:srgbClr val="AAB8CC"/>
                </a:solidFill>
                <a:latin typeface="Aptos"/>
              </a:rPr>
              <a:t>semantic inspection
change transactions
M28 calls + modules</a:t>
            </a:r>
          </a:p>
        </p:txBody>
      </p:sp>
      <p:cxnSp>
        <p:nvCxnSpPr>
          <p:cNvPr id="10" name="Connector 9"/>
          <p:cNvCxnSpPr/>
          <p:nvPr/>
        </p:nvCxnSpPr>
        <p:spPr>
          <a:xfrm>
            <a:off x="3090672" y="3657600"/>
            <a:ext cx="292608" cy="0"/>
          </a:xfrm>
          <a:prstGeom prst="line">
            <a:avLst/>
          </a:prstGeom>
          <a:ln w="25400">
            <a:solidFill>
              <a:srgbClr val="61D09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74720" y="1828800"/>
            <a:ext cx="1005840" cy="310896"/>
          </a:xfrm>
          <a:prstGeom prst="roundRect">
            <a:avLst>
              <a:gd name="adj" fmla="val 45000"/>
            </a:avLst>
          </a:prstGeom>
          <a:solidFill>
            <a:srgbClr val="4DD9E7"/>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1837943"/>
            <a:ext cx="1005840" cy="256032"/>
          </a:xfrm>
          <a:prstGeom prst="rect">
            <a:avLst/>
          </a:prstGeom>
          <a:noFill/>
        </p:spPr>
        <p:txBody>
          <a:bodyPr wrap="square" lIns="18288" rIns="18288" tIns="18288" bIns="18288" anchor="ctr">
            <a:spAutoFit/>
          </a:bodyPr>
          <a:lstStyle/>
          <a:p>
            <a:pPr algn="ctr"/>
            <a:r>
              <a:rPr sz="900" b="1">
                <a:solidFill>
                  <a:srgbClr val="09111F"/>
                </a:solidFill>
                <a:latin typeface="Aptos"/>
              </a:rPr>
              <a:t>TEST</a:t>
            </a:r>
          </a:p>
        </p:txBody>
      </p:sp>
      <p:sp>
        <p:nvSpPr>
          <p:cNvPr id="13" name="Rounded Rectangle 12"/>
          <p:cNvSpPr/>
          <p:nvPr/>
        </p:nvSpPr>
        <p:spPr>
          <a:xfrm>
            <a:off x="3474720" y="2359152"/>
            <a:ext cx="2423160" cy="2606040"/>
          </a:xfrm>
          <a:prstGeom prst="roundRect">
            <a:avLst>
              <a:gd name="adj" fmla="val 8000"/>
            </a:avLst>
          </a:prstGeom>
          <a:solidFill>
            <a:srgbClr val="111D30"/>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624328"/>
            <a:ext cx="2057400" cy="502920"/>
          </a:xfrm>
          <a:prstGeom prst="rect">
            <a:avLst/>
          </a:prstGeom>
          <a:noFill/>
        </p:spPr>
        <p:txBody>
          <a:bodyPr wrap="square" lIns="18288" rIns="18288" tIns="18288" bIns="18288" anchor="t">
            <a:spAutoFit/>
          </a:bodyPr>
          <a:lstStyle/>
          <a:p>
            <a:pPr algn="l"/>
            <a:r>
              <a:rPr sz="1700" b="1">
                <a:solidFill>
                  <a:srgbClr val="4DD9E7"/>
                </a:solidFill>
                <a:latin typeface="Aptos"/>
              </a:rPr>
              <a:t>Comparative validation</a:t>
            </a:r>
          </a:p>
        </p:txBody>
      </p:sp>
      <p:sp>
        <p:nvSpPr>
          <p:cNvPr id="15" name="TextBox 14"/>
          <p:cNvSpPr txBox="1"/>
          <p:nvPr/>
        </p:nvSpPr>
        <p:spPr>
          <a:xfrm>
            <a:off x="3657600" y="3383280"/>
            <a:ext cx="2057400" cy="1051560"/>
          </a:xfrm>
          <a:prstGeom prst="rect">
            <a:avLst/>
          </a:prstGeom>
          <a:noFill/>
        </p:spPr>
        <p:txBody>
          <a:bodyPr wrap="square" lIns="18288" rIns="18288" tIns="18288" bIns="18288" anchor="t">
            <a:spAutoFit/>
          </a:bodyPr>
          <a:lstStyle/>
          <a:p>
            <a:pPr algn="l"/>
            <a:r>
              <a:rPr sz="1200" b="0">
                <a:solidFill>
                  <a:srgbClr val="AAB8CC"/>
                </a:solidFill>
                <a:latin typeface="Aptos"/>
              </a:rPr>
              <a:t>fresh held-out tasks
required AIL capability
strong baseline trials</a:t>
            </a:r>
          </a:p>
        </p:txBody>
      </p:sp>
      <p:cxnSp>
        <p:nvCxnSpPr>
          <p:cNvPr id="16" name="Connector 15"/>
          <p:cNvCxnSpPr/>
          <p:nvPr/>
        </p:nvCxnSpPr>
        <p:spPr>
          <a:xfrm>
            <a:off x="5925312" y="3657600"/>
            <a:ext cx="292608" cy="0"/>
          </a:xfrm>
          <a:prstGeom prst="line">
            <a:avLst/>
          </a:prstGeom>
          <a:ln w="25400">
            <a:solidFill>
              <a:srgbClr val="4DD9E7"/>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309360" y="1828800"/>
            <a:ext cx="1005840" cy="310896"/>
          </a:xfrm>
          <a:prstGeom prst="roundRect">
            <a:avLst>
              <a:gd name="adj" fmla="val 45000"/>
            </a:avLst>
          </a:prstGeom>
          <a:solidFill>
            <a:srgbClr val="5E8BFF"/>
          </a:solidFill>
          <a:ln w="12700">
            <a:solidFill>
              <a:srgbClr val="5E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1837943"/>
            <a:ext cx="1005840" cy="256032"/>
          </a:xfrm>
          <a:prstGeom prst="rect">
            <a:avLst/>
          </a:prstGeom>
          <a:noFill/>
        </p:spPr>
        <p:txBody>
          <a:bodyPr wrap="square" lIns="18288" rIns="18288" tIns="18288" bIns="18288" anchor="ctr">
            <a:spAutoFit/>
          </a:bodyPr>
          <a:lstStyle/>
          <a:p>
            <a:pPr algn="ctr"/>
            <a:r>
              <a:rPr sz="900" b="1">
                <a:solidFill>
                  <a:srgbClr val="09111F"/>
                </a:solidFill>
                <a:latin typeface="Aptos"/>
              </a:rPr>
              <a:t>DECIDE</a:t>
            </a:r>
          </a:p>
        </p:txBody>
      </p:sp>
      <p:sp>
        <p:nvSpPr>
          <p:cNvPr id="19" name="Rounded Rectangle 18"/>
          <p:cNvSpPr/>
          <p:nvPr/>
        </p:nvSpPr>
        <p:spPr>
          <a:xfrm>
            <a:off x="6309360" y="2359152"/>
            <a:ext cx="2423160" cy="2606040"/>
          </a:xfrm>
          <a:prstGeom prst="roundRect">
            <a:avLst>
              <a:gd name="adj" fmla="val 8000"/>
            </a:avLst>
          </a:prstGeom>
          <a:solidFill>
            <a:srgbClr val="111D30"/>
          </a:solidFill>
          <a:ln w="12700">
            <a:solidFill>
              <a:srgbClr val="5E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624328"/>
            <a:ext cx="2057400" cy="502920"/>
          </a:xfrm>
          <a:prstGeom prst="rect">
            <a:avLst/>
          </a:prstGeom>
          <a:noFill/>
        </p:spPr>
        <p:txBody>
          <a:bodyPr wrap="square" lIns="18288" rIns="18288" tIns="18288" bIns="18288" anchor="t">
            <a:spAutoFit/>
          </a:bodyPr>
          <a:lstStyle/>
          <a:p>
            <a:pPr algn="l"/>
            <a:r>
              <a:rPr sz="1700" b="1">
                <a:solidFill>
                  <a:srgbClr val="5E8BFF"/>
                </a:solidFill>
                <a:latin typeface="Aptos"/>
              </a:rPr>
              <a:t>Use the results</a:t>
            </a:r>
          </a:p>
        </p:txBody>
      </p:sp>
      <p:sp>
        <p:nvSpPr>
          <p:cNvPr id="21" name="TextBox 20"/>
          <p:cNvSpPr txBox="1"/>
          <p:nvPr/>
        </p:nvSpPr>
        <p:spPr>
          <a:xfrm>
            <a:off x="6492240" y="3383280"/>
            <a:ext cx="2057400" cy="1051560"/>
          </a:xfrm>
          <a:prstGeom prst="rect">
            <a:avLst/>
          </a:prstGeom>
          <a:noFill/>
        </p:spPr>
        <p:txBody>
          <a:bodyPr wrap="square" lIns="18288" rIns="18288" tIns="18288" bIns="18288" anchor="t">
            <a:spAutoFit/>
          </a:bodyPr>
          <a:lstStyle/>
          <a:p>
            <a:pPr algn="l"/>
            <a:r>
              <a:rPr sz="1200" b="0">
                <a:solidFill>
                  <a:srgbClr val="AAB8CC"/>
                </a:solidFill>
                <a:latin typeface="Aptos"/>
              </a:rPr>
              <a:t>correctness first
total change cost
generalization</a:t>
            </a:r>
          </a:p>
        </p:txBody>
      </p:sp>
      <p:cxnSp>
        <p:nvCxnSpPr>
          <p:cNvPr id="22" name="Connector 21"/>
          <p:cNvCxnSpPr/>
          <p:nvPr/>
        </p:nvCxnSpPr>
        <p:spPr>
          <a:xfrm>
            <a:off x="8759952" y="3657600"/>
            <a:ext cx="292608" cy="0"/>
          </a:xfrm>
          <a:prstGeom prst="line">
            <a:avLst/>
          </a:prstGeom>
          <a:ln w="25400">
            <a:solidFill>
              <a:srgbClr val="5E8BFF"/>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144000" y="1828800"/>
            <a:ext cx="1005840" cy="310896"/>
          </a:xfrm>
          <a:prstGeom prst="roundRect">
            <a:avLst>
              <a:gd name="adj" fmla="val 45000"/>
            </a:avLst>
          </a:prstGeom>
          <a:solidFill>
            <a:srgbClr val="F5B942"/>
          </a:solidFill>
          <a:ln w="12700">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0" y="1837943"/>
            <a:ext cx="1005840" cy="256032"/>
          </a:xfrm>
          <a:prstGeom prst="rect">
            <a:avLst/>
          </a:prstGeom>
          <a:noFill/>
        </p:spPr>
        <p:txBody>
          <a:bodyPr wrap="square" lIns="18288" rIns="18288" tIns="18288" bIns="18288" anchor="ctr">
            <a:spAutoFit/>
          </a:bodyPr>
          <a:lstStyle/>
          <a:p>
            <a:pPr algn="ctr"/>
            <a:r>
              <a:rPr sz="900" b="1">
                <a:solidFill>
                  <a:srgbClr val="09111F"/>
                </a:solidFill>
                <a:latin typeface="Aptos"/>
              </a:rPr>
              <a:t>IF NEEDED</a:t>
            </a:r>
          </a:p>
        </p:txBody>
      </p:sp>
      <p:sp>
        <p:nvSpPr>
          <p:cNvPr id="25" name="Rounded Rectangle 24"/>
          <p:cNvSpPr/>
          <p:nvPr/>
        </p:nvSpPr>
        <p:spPr>
          <a:xfrm>
            <a:off x="9144000" y="2359152"/>
            <a:ext cx="2423160" cy="2606040"/>
          </a:xfrm>
          <a:prstGeom prst="roundRect">
            <a:avLst>
              <a:gd name="adj" fmla="val 8000"/>
            </a:avLst>
          </a:prstGeom>
          <a:solidFill>
            <a:srgbClr val="111D30"/>
          </a:solidFill>
          <a:ln w="12700">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2624328"/>
            <a:ext cx="2057400" cy="502920"/>
          </a:xfrm>
          <a:prstGeom prst="rect">
            <a:avLst/>
          </a:prstGeom>
          <a:noFill/>
        </p:spPr>
        <p:txBody>
          <a:bodyPr wrap="square" lIns="18288" rIns="18288" tIns="18288" bIns="18288" anchor="t">
            <a:spAutoFit/>
          </a:bodyPr>
          <a:lstStyle/>
          <a:p>
            <a:pPr algn="l"/>
            <a:r>
              <a:rPr sz="1700" b="1">
                <a:solidFill>
                  <a:srgbClr val="F5B942"/>
                </a:solidFill>
                <a:latin typeface="Aptos"/>
              </a:rPr>
              <a:t>Broader capability</a:t>
            </a:r>
          </a:p>
        </p:txBody>
      </p:sp>
      <p:sp>
        <p:nvSpPr>
          <p:cNvPr id="27" name="TextBox 26"/>
          <p:cNvSpPr txBox="1"/>
          <p:nvPr/>
        </p:nvSpPr>
        <p:spPr>
          <a:xfrm>
            <a:off x="9326880" y="3383280"/>
            <a:ext cx="2057400" cy="1051560"/>
          </a:xfrm>
          <a:prstGeom prst="rect">
            <a:avLst/>
          </a:prstGeom>
          <a:noFill/>
        </p:spPr>
        <p:txBody>
          <a:bodyPr wrap="square" lIns="18288" rIns="18288" tIns="18288" bIns="18288" anchor="t">
            <a:spAutoFit/>
          </a:bodyPr>
          <a:lstStyle/>
          <a:p>
            <a:pPr algn="l"/>
            <a:r>
              <a:rPr sz="1200" b="0">
                <a:solidFill>
                  <a:srgbClr val="AAB8CC"/>
                </a:solidFill>
                <a:latin typeface="Aptos"/>
              </a:rPr>
              <a:t>language, runtime,
lowering, or ecosystem
work evidence requires</a:t>
            </a:r>
          </a:p>
        </p:txBody>
      </p:sp>
      <p:sp>
        <p:nvSpPr>
          <p:cNvPr id="28" name="TextBox 27"/>
          <p:cNvSpPr txBox="1"/>
          <p:nvPr/>
        </p:nvSpPr>
        <p:spPr>
          <a:xfrm>
            <a:off x="685800" y="5431536"/>
            <a:ext cx="10607040" cy="548640"/>
          </a:xfrm>
          <a:prstGeom prst="rect">
            <a:avLst/>
          </a:prstGeom>
          <a:noFill/>
        </p:spPr>
        <p:txBody>
          <a:bodyPr wrap="square" lIns="18288" rIns="18288" tIns="18288" bIns="18288" anchor="t">
            <a:spAutoFit/>
          </a:bodyPr>
          <a:lstStyle/>
          <a:p>
            <a:pPr algn="ctr"/>
            <a:r>
              <a:rPr sz="1250" b="1">
                <a:solidFill>
                  <a:srgbClr val="F5F7FA"/>
                </a:solidFill>
                <a:latin typeface="Aptos"/>
              </a:rPr>
              <a:t>M28 is complete. No successor is active; this comparison is one possible next investment.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CURRENT LIMITS</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14</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2700" b="1">
                <a:solidFill>
                  <a:srgbClr val="F5F7FA"/>
                </a:solidFill>
                <a:latin typeface="Aptos"/>
              </a:rPr>
              <a:t>What works—and what remains to build or measure</a:t>
            </a:r>
          </a:p>
        </p:txBody>
      </p:sp>
      <p:sp>
        <p:nvSpPr>
          <p:cNvPr id="5" name="Rounded Rectangle 4"/>
          <p:cNvSpPr/>
          <p:nvPr/>
        </p:nvSpPr>
        <p:spPr>
          <a:xfrm>
            <a:off x="640080" y="1783080"/>
            <a:ext cx="5230368" cy="4160520"/>
          </a:xfrm>
          <a:prstGeom prst="roundRect">
            <a:avLst>
              <a:gd name="adj" fmla="val 8000"/>
            </a:avLst>
          </a:prstGeom>
          <a:solidFill>
            <a:srgbClr val="111D30"/>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112" y="2039112"/>
            <a:ext cx="1325880" cy="310896"/>
          </a:xfrm>
          <a:prstGeom prst="roundRect">
            <a:avLst>
              <a:gd name="adj" fmla="val 45000"/>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048255"/>
            <a:ext cx="1325880" cy="256032"/>
          </a:xfrm>
          <a:prstGeom prst="rect">
            <a:avLst/>
          </a:prstGeom>
          <a:noFill/>
        </p:spPr>
        <p:txBody>
          <a:bodyPr wrap="square" lIns="18288" rIns="18288" tIns="18288" bIns="18288" anchor="ctr">
            <a:spAutoFit/>
          </a:bodyPr>
          <a:lstStyle/>
          <a:p>
            <a:pPr algn="ctr"/>
            <a:r>
              <a:rPr sz="900" b="1">
                <a:solidFill>
                  <a:srgbClr val="09111F"/>
                </a:solidFill>
                <a:latin typeface="Aptos"/>
              </a:rPr>
              <a:t>PROVEN TODAY</a:t>
            </a:r>
          </a:p>
        </p:txBody>
      </p:sp>
      <p:sp>
        <p:nvSpPr>
          <p:cNvPr id="8" name="Oval 7"/>
          <p:cNvSpPr/>
          <p:nvPr/>
        </p:nvSpPr>
        <p:spPr>
          <a:xfrm>
            <a:off x="932688" y="2761488"/>
            <a:ext cx="100584" cy="100584"/>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2679192"/>
            <a:ext cx="4297680" cy="320040"/>
          </a:xfrm>
          <a:prstGeom prst="rect">
            <a:avLst/>
          </a:prstGeom>
          <a:noFill/>
        </p:spPr>
        <p:txBody>
          <a:bodyPr wrap="square" lIns="18288" rIns="18288" tIns="18288" bIns="18288" anchor="t">
            <a:spAutoFit/>
          </a:bodyPr>
          <a:lstStyle/>
          <a:p>
            <a:pPr algn="l"/>
            <a:r>
              <a:rPr sz="1150" b="0">
                <a:solidFill>
                  <a:srgbClr val="F5F7FA"/>
                </a:solidFill>
                <a:latin typeface="Aptos"/>
              </a:rPr>
              <a:t>Executable Rust compiler, not a UI mock</a:t>
            </a:r>
          </a:p>
        </p:txBody>
      </p:sp>
      <p:sp>
        <p:nvSpPr>
          <p:cNvPr id="10" name="Oval 9"/>
          <p:cNvSpPr/>
          <p:nvPr/>
        </p:nvSpPr>
        <p:spPr>
          <a:xfrm>
            <a:off x="932688" y="3218688"/>
            <a:ext cx="100584" cy="100584"/>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0432" y="3136392"/>
            <a:ext cx="4297680" cy="320040"/>
          </a:xfrm>
          <a:prstGeom prst="rect">
            <a:avLst/>
          </a:prstGeom>
          <a:noFill/>
        </p:spPr>
        <p:txBody>
          <a:bodyPr wrap="square" lIns="18288" rIns="18288" tIns="18288" bIns="18288" anchor="t">
            <a:spAutoFit/>
          </a:bodyPr>
          <a:lstStyle/>
          <a:p>
            <a:pPr algn="l"/>
            <a:r>
              <a:rPr sz="1150" b="0">
                <a:solidFill>
                  <a:srgbClr val="F5F7FA"/>
                </a:solidFill>
                <a:latin typeface="Aptos"/>
              </a:rPr>
              <a:t>Deterministic parse, check, execute, and revisions</a:t>
            </a:r>
          </a:p>
        </p:txBody>
      </p:sp>
      <p:sp>
        <p:nvSpPr>
          <p:cNvPr id="12" name="Oval 11"/>
          <p:cNvSpPr/>
          <p:nvPr/>
        </p:nvSpPr>
        <p:spPr>
          <a:xfrm>
            <a:off x="932688" y="3675887"/>
            <a:ext cx="100584" cy="100584"/>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0432" y="3593592"/>
            <a:ext cx="4297680" cy="320040"/>
          </a:xfrm>
          <a:prstGeom prst="rect">
            <a:avLst/>
          </a:prstGeom>
          <a:noFill/>
        </p:spPr>
        <p:txBody>
          <a:bodyPr wrap="square" lIns="18288" rIns="18288" tIns="18288" bIns="18288" anchor="t">
            <a:spAutoFit/>
          </a:bodyPr>
          <a:lstStyle/>
          <a:p>
            <a:pPr algn="l"/>
            <a:r>
              <a:rPr sz="1150" b="0">
                <a:solidFill>
                  <a:srgbClr val="F5F7FA"/>
                </a:solidFill>
                <a:latin typeface="Aptos"/>
              </a:rPr>
              <a:t>Exact schema-impact report for the M19 contract</a:t>
            </a:r>
          </a:p>
        </p:txBody>
      </p:sp>
      <p:sp>
        <p:nvSpPr>
          <p:cNvPr id="14" name="Oval 13"/>
          <p:cNvSpPr/>
          <p:nvPr/>
        </p:nvSpPr>
        <p:spPr>
          <a:xfrm>
            <a:off x="932688" y="4133087"/>
            <a:ext cx="100584" cy="100584"/>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 y="4050791"/>
            <a:ext cx="4297680" cy="320040"/>
          </a:xfrm>
          <a:prstGeom prst="rect">
            <a:avLst/>
          </a:prstGeom>
          <a:noFill/>
        </p:spPr>
        <p:txBody>
          <a:bodyPr wrap="square" lIns="18288" rIns="18288" tIns="18288" bIns="18288" anchor="t">
            <a:spAutoFit/>
          </a:bodyPr>
          <a:lstStyle/>
          <a:p>
            <a:pPr algn="l"/>
            <a:r>
              <a:rPr sz="1150" b="0">
                <a:solidFill>
                  <a:srgbClr val="F5F7FA"/>
                </a:solidFill>
                <a:latin typeface="Aptos"/>
              </a:rPr>
              <a:t>Atomic whole-candidate validation</a:t>
            </a:r>
          </a:p>
        </p:txBody>
      </p:sp>
      <p:sp>
        <p:nvSpPr>
          <p:cNvPr id="16" name="Oval 15"/>
          <p:cNvSpPr/>
          <p:nvPr/>
        </p:nvSpPr>
        <p:spPr>
          <a:xfrm>
            <a:off x="932688" y="4590288"/>
            <a:ext cx="100584" cy="100584"/>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70432" y="4507992"/>
            <a:ext cx="4297680" cy="320040"/>
          </a:xfrm>
          <a:prstGeom prst="rect">
            <a:avLst/>
          </a:prstGeom>
          <a:noFill/>
        </p:spPr>
        <p:txBody>
          <a:bodyPr wrap="square" lIns="18288" rIns="18288" tIns="18288" bIns="18288" anchor="t">
            <a:spAutoFit/>
          </a:bodyPr>
          <a:lstStyle/>
          <a:p>
            <a:pPr algn="l"/>
            <a:r>
              <a:rPr sz="1150" b="0">
                <a:solidFill>
                  <a:srgbClr val="F5F7FA"/>
                </a:solidFill>
                <a:latin typeface="Aptos"/>
              </a:rPr>
              <a:t>Architecture policy blocks behavior-passing regressions</a:t>
            </a:r>
          </a:p>
        </p:txBody>
      </p:sp>
      <p:sp>
        <p:nvSpPr>
          <p:cNvPr id="18" name="Oval 17"/>
          <p:cNvSpPr/>
          <p:nvPr/>
        </p:nvSpPr>
        <p:spPr>
          <a:xfrm>
            <a:off x="932688" y="5047488"/>
            <a:ext cx="100584" cy="100584"/>
          </a:xfrm>
          <a:prstGeom prst="ellipse">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70432" y="4965192"/>
            <a:ext cx="4297680" cy="320040"/>
          </a:xfrm>
          <a:prstGeom prst="rect">
            <a:avLst/>
          </a:prstGeom>
          <a:noFill/>
        </p:spPr>
        <p:txBody>
          <a:bodyPr wrap="square" lIns="18288" rIns="18288" tIns="18288" bIns="18288" anchor="t">
            <a:spAutoFit/>
          </a:bodyPr>
          <a:lstStyle/>
          <a:p>
            <a:pPr algn="l"/>
            <a:r>
              <a:rPr sz="1150" b="0">
                <a:solidFill>
                  <a:srgbClr val="F5F7FA"/>
                </a:solidFill>
                <a:latin typeface="Aptos"/>
              </a:rPr>
              <a:t>37-case public AIL behavior corpus passes</a:t>
            </a:r>
          </a:p>
        </p:txBody>
      </p:sp>
      <p:sp>
        <p:nvSpPr>
          <p:cNvPr id="20" name="Rounded Rectangle 19"/>
          <p:cNvSpPr/>
          <p:nvPr/>
        </p:nvSpPr>
        <p:spPr>
          <a:xfrm>
            <a:off x="6291072" y="1783080"/>
            <a:ext cx="5230368" cy="4160520"/>
          </a:xfrm>
          <a:prstGeom prst="roundRect">
            <a:avLst>
              <a:gd name="adj" fmla="val 8000"/>
            </a:avLst>
          </a:prstGeom>
          <a:solidFill>
            <a:srgbClr val="111D30"/>
          </a:solidFill>
          <a:ln w="12700">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47104" y="2039112"/>
            <a:ext cx="1572768" cy="310896"/>
          </a:xfrm>
          <a:prstGeom prst="roundRect">
            <a:avLst>
              <a:gd name="adj" fmla="val 45000"/>
            </a:avLst>
          </a:prstGeom>
          <a:solidFill>
            <a:srgbClr val="F5B942"/>
          </a:solidFill>
          <a:ln w="12700">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47104" y="2048255"/>
            <a:ext cx="1572768" cy="256032"/>
          </a:xfrm>
          <a:prstGeom prst="rect">
            <a:avLst/>
          </a:prstGeom>
          <a:noFill/>
        </p:spPr>
        <p:txBody>
          <a:bodyPr wrap="square" lIns="18288" rIns="18288" tIns="18288" bIns="18288" anchor="ctr">
            <a:spAutoFit/>
          </a:bodyPr>
          <a:lstStyle/>
          <a:p>
            <a:pPr algn="ctr"/>
            <a:r>
              <a:rPr sz="900" b="1">
                <a:solidFill>
                  <a:srgbClr val="09111F"/>
                </a:solidFill>
                <a:latin typeface="Aptos"/>
              </a:rPr>
              <a:t>TO PROVE NEXT</a:t>
            </a:r>
          </a:p>
        </p:txBody>
      </p:sp>
      <p:sp>
        <p:nvSpPr>
          <p:cNvPr id="23" name="Oval 22"/>
          <p:cNvSpPr/>
          <p:nvPr/>
        </p:nvSpPr>
        <p:spPr>
          <a:xfrm>
            <a:off x="6583680" y="2761488"/>
            <a:ext cx="100584" cy="100584"/>
          </a:xfrm>
          <a:prstGeom prst="ellipse">
            <a:avLst/>
          </a:prstGeom>
          <a:solidFill>
            <a:srgbClr val="F5B942"/>
          </a:solidFill>
          <a:ln w="12700">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21424" y="2679192"/>
            <a:ext cx="4297680" cy="320040"/>
          </a:xfrm>
          <a:prstGeom prst="rect">
            <a:avLst/>
          </a:prstGeom>
          <a:noFill/>
        </p:spPr>
        <p:txBody>
          <a:bodyPr wrap="square" lIns="18288" rIns="18288" tIns="18288" bIns="18288" anchor="t">
            <a:spAutoFit/>
          </a:bodyPr>
          <a:lstStyle/>
          <a:p>
            <a:pPr algn="l"/>
            <a:r>
              <a:rPr sz="1150" b="0">
                <a:solidFill>
                  <a:srgbClr val="F5F7FA"/>
                </a:solidFill>
                <a:latin typeface="Aptos"/>
              </a:rPr>
              <a:t>Lower total agent-change cost vs strong baselines</a:t>
            </a:r>
          </a:p>
        </p:txBody>
      </p:sp>
      <p:sp>
        <p:nvSpPr>
          <p:cNvPr id="25" name="Oval 24"/>
          <p:cNvSpPr/>
          <p:nvPr/>
        </p:nvSpPr>
        <p:spPr>
          <a:xfrm>
            <a:off x="6583680" y="3218688"/>
            <a:ext cx="100584" cy="100584"/>
          </a:xfrm>
          <a:prstGeom prst="ellipse">
            <a:avLst/>
          </a:prstGeom>
          <a:solidFill>
            <a:srgbClr val="F5B942"/>
          </a:solidFill>
          <a:ln w="12700">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21424" y="3136392"/>
            <a:ext cx="4297680" cy="320040"/>
          </a:xfrm>
          <a:prstGeom prst="rect">
            <a:avLst/>
          </a:prstGeom>
          <a:noFill/>
        </p:spPr>
        <p:txBody>
          <a:bodyPr wrap="square" lIns="18288" rIns="18288" tIns="18288" bIns="18288" anchor="t">
            <a:spAutoFit/>
          </a:bodyPr>
          <a:lstStyle/>
          <a:p>
            <a:pPr algn="l"/>
            <a:r>
              <a:rPr sz="1150" b="0">
                <a:solidFill>
                  <a:srgbClr val="F5F7FA"/>
                </a:solidFill>
                <a:latin typeface="Aptos"/>
              </a:rPr>
              <a:t>Repeatability across models and representative tasks</a:t>
            </a:r>
          </a:p>
        </p:txBody>
      </p:sp>
      <p:sp>
        <p:nvSpPr>
          <p:cNvPr id="27" name="Oval 26"/>
          <p:cNvSpPr/>
          <p:nvPr/>
        </p:nvSpPr>
        <p:spPr>
          <a:xfrm>
            <a:off x="6583680" y="3675887"/>
            <a:ext cx="100584" cy="100584"/>
          </a:xfrm>
          <a:prstGeom prst="ellipse">
            <a:avLst/>
          </a:prstGeom>
          <a:solidFill>
            <a:srgbClr val="F5B942"/>
          </a:solidFill>
          <a:ln w="12700">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1424" y="3593592"/>
            <a:ext cx="4297680" cy="320040"/>
          </a:xfrm>
          <a:prstGeom prst="rect">
            <a:avLst/>
          </a:prstGeom>
          <a:noFill/>
        </p:spPr>
        <p:txBody>
          <a:bodyPr wrap="square" lIns="18288" rIns="18288" tIns="18288" bIns="18288" anchor="t">
            <a:spAutoFit/>
          </a:bodyPr>
          <a:lstStyle/>
          <a:p>
            <a:pPr algn="l"/>
            <a:r>
              <a:rPr sz="1150" b="0">
                <a:solidFill>
                  <a:srgbClr val="F5F7FA"/>
                </a:solidFill>
                <a:latin typeface="Aptos"/>
              </a:rPr>
              <a:t>Lower regression and repair rates</a:t>
            </a:r>
          </a:p>
        </p:txBody>
      </p:sp>
      <p:sp>
        <p:nvSpPr>
          <p:cNvPr id="29" name="Oval 28"/>
          <p:cNvSpPr/>
          <p:nvPr/>
        </p:nvSpPr>
        <p:spPr>
          <a:xfrm>
            <a:off x="6583680" y="4133087"/>
            <a:ext cx="100584" cy="100584"/>
          </a:xfrm>
          <a:prstGeom prst="ellipse">
            <a:avLst/>
          </a:prstGeom>
          <a:solidFill>
            <a:srgbClr val="F5B942"/>
          </a:solidFill>
          <a:ln w="12700">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1424" y="4050791"/>
            <a:ext cx="4297680" cy="320040"/>
          </a:xfrm>
          <a:prstGeom prst="rect">
            <a:avLst/>
          </a:prstGeom>
          <a:noFill/>
        </p:spPr>
        <p:txBody>
          <a:bodyPr wrap="square" lIns="18288" rIns="18288" tIns="18288" bIns="18288" anchor="t">
            <a:spAutoFit/>
          </a:bodyPr>
          <a:lstStyle/>
          <a:p>
            <a:pPr algn="l"/>
            <a:r>
              <a:rPr sz="1150" b="0">
                <a:solidFill>
                  <a:srgbClr val="F5F7FA"/>
                </a:solidFill>
                <a:latin typeface="Aptos"/>
              </a:rPr>
              <a:t>Lower human reviewer effort</a:t>
            </a:r>
          </a:p>
        </p:txBody>
      </p:sp>
      <p:sp>
        <p:nvSpPr>
          <p:cNvPr id="31" name="Oval 30"/>
          <p:cNvSpPr/>
          <p:nvPr/>
        </p:nvSpPr>
        <p:spPr>
          <a:xfrm>
            <a:off x="6583680" y="4590288"/>
            <a:ext cx="100584" cy="100584"/>
          </a:xfrm>
          <a:prstGeom prst="ellipse">
            <a:avLst/>
          </a:prstGeom>
          <a:solidFill>
            <a:srgbClr val="F5B942"/>
          </a:solidFill>
          <a:ln w="12700">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1424" y="4507992"/>
            <a:ext cx="4297680" cy="320040"/>
          </a:xfrm>
          <a:prstGeom prst="rect">
            <a:avLst/>
          </a:prstGeom>
          <a:noFill/>
        </p:spPr>
        <p:txBody>
          <a:bodyPr wrap="square" lIns="18288" rIns="18288" tIns="18288" bIns="18288" anchor="t">
            <a:spAutoFit/>
          </a:bodyPr>
          <a:lstStyle/>
          <a:p>
            <a:pPr algn="l"/>
            <a:r>
              <a:rPr sz="1150" b="0">
                <a:solidFill>
                  <a:srgbClr val="F5F7FA"/>
                </a:solidFill>
                <a:latin typeface="Aptos"/>
              </a:rPr>
              <a:t>Production runtime and native lowering</a:t>
            </a:r>
          </a:p>
        </p:txBody>
      </p:sp>
      <p:sp>
        <p:nvSpPr>
          <p:cNvPr id="33" name="Oval 32"/>
          <p:cNvSpPr/>
          <p:nvPr/>
        </p:nvSpPr>
        <p:spPr>
          <a:xfrm>
            <a:off x="6583680" y="5047488"/>
            <a:ext cx="100584" cy="100584"/>
          </a:xfrm>
          <a:prstGeom prst="ellipse">
            <a:avLst/>
          </a:prstGeom>
          <a:solidFill>
            <a:srgbClr val="F5B942"/>
          </a:solidFill>
          <a:ln w="12700">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21424" y="4965192"/>
            <a:ext cx="4297680" cy="320040"/>
          </a:xfrm>
          <a:prstGeom prst="rect">
            <a:avLst/>
          </a:prstGeom>
          <a:noFill/>
        </p:spPr>
        <p:txBody>
          <a:bodyPr wrap="square" lIns="18288" rIns="18288" tIns="18288" bIns="18288" anchor="t">
            <a:spAutoFit/>
          </a:bodyPr>
          <a:lstStyle/>
          <a:p>
            <a:pPr algn="l"/>
            <a:r>
              <a:rPr sz="1150" b="0">
                <a:solidFill>
                  <a:srgbClr val="F5F7FA"/>
                </a:solidFill>
                <a:latin typeface="Aptos"/>
              </a:rPr>
              <a:t>Broad language and ecosystem coverage</a:t>
            </a:r>
          </a:p>
        </p:txBody>
      </p:sp>
      <p:sp>
        <p:nvSpPr>
          <p:cNvPr id="35" name="TextBox 34"/>
          <p:cNvSpPr txBox="1"/>
          <p:nvPr/>
        </p:nvSpPr>
        <p:spPr>
          <a:xfrm>
            <a:off x="6812280" y="5513832"/>
            <a:ext cx="4297680" cy="219456"/>
          </a:xfrm>
          <a:prstGeom prst="rect">
            <a:avLst/>
          </a:prstGeom>
          <a:noFill/>
        </p:spPr>
        <p:txBody>
          <a:bodyPr wrap="square" lIns="18288" rIns="18288" tIns="18288" bIns="18288" anchor="t">
            <a:spAutoFit/>
          </a:bodyPr>
          <a:lstStyle/>
          <a:p>
            <a:pPr algn="l"/>
            <a:r>
              <a:rPr sz="1000" b="1">
                <a:solidFill>
                  <a:srgbClr val="F07178"/>
                </a:solidFill>
                <a:latin typeface="Aptos"/>
              </a:rPr>
              <a:t>AIL-VS-BASELINE AGENT TRIALS: 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NEXT EXPERIMENT</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15</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3000" b="1">
                <a:solidFill>
                  <a:srgbClr val="F5F7FA"/>
                </a:solidFill>
                <a:latin typeface="Aptos"/>
              </a:rPr>
              <a:t>Run the comparison that can falsify the thesis</a:t>
            </a:r>
          </a:p>
        </p:txBody>
      </p:sp>
      <p:sp>
        <p:nvSpPr>
          <p:cNvPr id="5" name="TextBox 4"/>
          <p:cNvSpPr txBox="1"/>
          <p:nvPr/>
        </p:nvSpPr>
        <p:spPr>
          <a:xfrm>
            <a:off x="585216" y="1399032"/>
            <a:ext cx="10607040" cy="347472"/>
          </a:xfrm>
          <a:prstGeom prst="rect">
            <a:avLst/>
          </a:prstGeom>
          <a:noFill/>
        </p:spPr>
        <p:txBody>
          <a:bodyPr wrap="square" lIns="18288" rIns="18288" tIns="18288" bIns="18288" anchor="t">
            <a:spAutoFit/>
          </a:bodyPr>
          <a:lstStyle/>
          <a:p>
            <a:pPr algn="l"/>
            <a:r>
              <a:rPr sz="1300" b="0">
                <a:solidFill>
                  <a:srgbClr val="AAB8CC"/>
                </a:solidFill>
                <a:latin typeface="Aptos"/>
              </a:rPr>
              <a:t>Measure the result instead of assuming a speedup.</a:t>
            </a:r>
          </a:p>
        </p:txBody>
      </p:sp>
      <p:sp>
        <p:nvSpPr>
          <p:cNvPr id="6" name="Rounded Rectangle 5"/>
          <p:cNvSpPr/>
          <p:nvPr/>
        </p:nvSpPr>
        <p:spPr>
          <a:xfrm>
            <a:off x="640080" y="1901952"/>
            <a:ext cx="3127248" cy="3200400"/>
          </a:xfrm>
          <a:prstGeom prst="roundRect">
            <a:avLst>
              <a:gd name="adj" fmla="val 8000"/>
            </a:avLst>
          </a:prstGeom>
          <a:solidFill>
            <a:srgbClr val="111D30"/>
          </a:solidFill>
          <a:ln w="12700">
            <a:solidFill>
              <a:srgbClr val="5E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39696"/>
            <a:ext cx="502920" cy="502920"/>
          </a:xfrm>
          <a:prstGeom prst="rect">
            <a:avLst/>
          </a:prstGeom>
          <a:noFill/>
        </p:spPr>
        <p:txBody>
          <a:bodyPr wrap="square" lIns="18288" rIns="18288" tIns="18288" bIns="18288" anchor="t">
            <a:spAutoFit/>
          </a:bodyPr>
          <a:lstStyle/>
          <a:p>
            <a:pPr algn="l"/>
            <a:r>
              <a:rPr sz="2900" b="1">
                <a:solidFill>
                  <a:srgbClr val="5E8BFF"/>
                </a:solidFill>
                <a:latin typeface="Aptos"/>
              </a:rPr>
              <a:t>1</a:t>
            </a:r>
          </a:p>
        </p:txBody>
      </p:sp>
      <p:sp>
        <p:nvSpPr>
          <p:cNvPr id="8" name="TextBox 7"/>
          <p:cNvSpPr txBox="1"/>
          <p:nvPr/>
        </p:nvSpPr>
        <p:spPr>
          <a:xfrm>
            <a:off x="1444752" y="2249424"/>
            <a:ext cx="2011680" cy="292608"/>
          </a:xfrm>
          <a:prstGeom prst="rect">
            <a:avLst/>
          </a:prstGeom>
          <a:noFill/>
        </p:spPr>
        <p:txBody>
          <a:bodyPr wrap="square" lIns="18288" rIns="18288" tIns="18288" bIns="18288" anchor="t">
            <a:spAutoFit/>
          </a:bodyPr>
          <a:lstStyle/>
          <a:p>
            <a:pPr algn="l"/>
            <a:r>
              <a:rPr sz="1500" b="1">
                <a:solidFill>
                  <a:srgbClr val="5E8BFF"/>
                </a:solidFill>
                <a:latin typeface="Aptos"/>
              </a:rPr>
              <a:t>LOCK</a:t>
            </a:r>
          </a:p>
        </p:txBody>
      </p:sp>
      <p:sp>
        <p:nvSpPr>
          <p:cNvPr id="9" name="TextBox 8"/>
          <p:cNvSpPr txBox="1"/>
          <p:nvPr/>
        </p:nvSpPr>
        <p:spPr>
          <a:xfrm>
            <a:off x="868680" y="2944368"/>
            <a:ext cx="2651760" cy="1600200"/>
          </a:xfrm>
          <a:prstGeom prst="rect">
            <a:avLst/>
          </a:prstGeom>
          <a:noFill/>
        </p:spPr>
        <p:txBody>
          <a:bodyPr wrap="square" lIns="18288" rIns="18288" tIns="18288" bIns="18288" anchor="t">
            <a:spAutoFit/>
          </a:bodyPr>
          <a:lstStyle/>
          <a:p>
            <a:pPr algn="l"/>
            <a:r>
              <a:rPr sz="1150" b="0">
                <a:solidFill>
                  <a:srgbClr val="AAB8CC"/>
                </a:solidFill>
                <a:latin typeface="Aptos"/>
              </a:rPr>
              <a:t>Fresh held-out design-partner tasks
Equivalent Rust / Go / Python / TS starts
Fixed max attempts, tools, oracles, review rubric</a:t>
            </a:r>
          </a:p>
        </p:txBody>
      </p:sp>
      <p:sp>
        <p:nvSpPr>
          <p:cNvPr id="10" name="Rounded Rectangle 9"/>
          <p:cNvSpPr/>
          <p:nvPr/>
        </p:nvSpPr>
        <p:spPr>
          <a:xfrm>
            <a:off x="4087368" y="1901952"/>
            <a:ext cx="3127248" cy="3200400"/>
          </a:xfrm>
          <a:prstGeom prst="roundRect">
            <a:avLst>
              <a:gd name="adj" fmla="val 8000"/>
            </a:avLst>
          </a:prstGeom>
          <a:solidFill>
            <a:srgbClr val="111D30"/>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15968" y="2139696"/>
            <a:ext cx="502920" cy="502920"/>
          </a:xfrm>
          <a:prstGeom prst="rect">
            <a:avLst/>
          </a:prstGeom>
          <a:noFill/>
        </p:spPr>
        <p:txBody>
          <a:bodyPr wrap="square" lIns="18288" rIns="18288" tIns="18288" bIns="18288" anchor="t">
            <a:spAutoFit/>
          </a:bodyPr>
          <a:lstStyle/>
          <a:p>
            <a:pPr algn="l"/>
            <a:r>
              <a:rPr sz="2900" b="1">
                <a:solidFill>
                  <a:srgbClr val="4DD9E7"/>
                </a:solidFill>
                <a:latin typeface="Aptos"/>
              </a:rPr>
              <a:t>2</a:t>
            </a:r>
          </a:p>
        </p:txBody>
      </p:sp>
      <p:sp>
        <p:nvSpPr>
          <p:cNvPr id="12" name="TextBox 11"/>
          <p:cNvSpPr txBox="1"/>
          <p:nvPr/>
        </p:nvSpPr>
        <p:spPr>
          <a:xfrm>
            <a:off x="4892040" y="2249424"/>
            <a:ext cx="2011680" cy="292608"/>
          </a:xfrm>
          <a:prstGeom prst="rect">
            <a:avLst/>
          </a:prstGeom>
          <a:noFill/>
        </p:spPr>
        <p:txBody>
          <a:bodyPr wrap="square" lIns="18288" rIns="18288" tIns="18288" bIns="18288" anchor="t">
            <a:spAutoFit/>
          </a:bodyPr>
          <a:lstStyle/>
          <a:p>
            <a:pPr algn="l"/>
            <a:r>
              <a:rPr sz="1500" b="1">
                <a:solidFill>
                  <a:srgbClr val="4DD9E7"/>
                </a:solidFill>
                <a:latin typeface="Aptos"/>
              </a:rPr>
              <a:t>RUN</a:t>
            </a:r>
          </a:p>
        </p:txBody>
      </p:sp>
      <p:sp>
        <p:nvSpPr>
          <p:cNvPr id="13" name="TextBox 12"/>
          <p:cNvSpPr txBox="1"/>
          <p:nvPr/>
        </p:nvSpPr>
        <p:spPr>
          <a:xfrm>
            <a:off x="4315968" y="2944368"/>
            <a:ext cx="2651760" cy="1600200"/>
          </a:xfrm>
          <a:prstGeom prst="rect">
            <a:avLst/>
          </a:prstGeom>
          <a:noFill/>
        </p:spPr>
        <p:txBody>
          <a:bodyPr wrap="square" lIns="18288" rIns="18288" tIns="18288" bIns="18288" anchor="t">
            <a:spAutoFit/>
          </a:bodyPr>
          <a:lstStyle/>
          <a:p>
            <a:pPr algn="l"/>
            <a:r>
              <a:rPr sz="1150" b="0">
                <a:solidFill>
                  <a:srgbClr val="AAB8CC"/>
                </a:solidFill>
                <a:latin typeface="Aptos"/>
              </a:rPr>
              <a:t>Mechanism fixtures calibrate the pipeline
Baseline targets lock before AIL trials
Completion, tokens, time, repairs, regressions</a:t>
            </a:r>
          </a:p>
        </p:txBody>
      </p:sp>
      <p:sp>
        <p:nvSpPr>
          <p:cNvPr id="14" name="Rounded Rectangle 13"/>
          <p:cNvSpPr/>
          <p:nvPr/>
        </p:nvSpPr>
        <p:spPr>
          <a:xfrm>
            <a:off x="7534656" y="1901952"/>
            <a:ext cx="3127248" cy="3200400"/>
          </a:xfrm>
          <a:prstGeom prst="roundRect">
            <a:avLst>
              <a:gd name="adj" fmla="val 8000"/>
            </a:avLst>
          </a:prstGeom>
          <a:solidFill>
            <a:srgbClr val="111D30"/>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3256" y="2139696"/>
            <a:ext cx="502920" cy="502920"/>
          </a:xfrm>
          <a:prstGeom prst="rect">
            <a:avLst/>
          </a:prstGeom>
          <a:noFill/>
        </p:spPr>
        <p:txBody>
          <a:bodyPr wrap="square" lIns="18288" rIns="18288" tIns="18288" bIns="18288" anchor="t">
            <a:spAutoFit/>
          </a:bodyPr>
          <a:lstStyle/>
          <a:p>
            <a:pPr algn="l"/>
            <a:r>
              <a:rPr sz="2900" b="1">
                <a:solidFill>
                  <a:srgbClr val="61D095"/>
                </a:solidFill>
                <a:latin typeface="Aptos"/>
              </a:rPr>
              <a:t>3</a:t>
            </a:r>
          </a:p>
        </p:txBody>
      </p:sp>
      <p:sp>
        <p:nvSpPr>
          <p:cNvPr id="16" name="TextBox 15"/>
          <p:cNvSpPr txBox="1"/>
          <p:nvPr/>
        </p:nvSpPr>
        <p:spPr>
          <a:xfrm>
            <a:off x="8339328" y="2249424"/>
            <a:ext cx="2011680" cy="292608"/>
          </a:xfrm>
          <a:prstGeom prst="rect">
            <a:avLst/>
          </a:prstGeom>
          <a:noFill/>
        </p:spPr>
        <p:txBody>
          <a:bodyPr wrap="square" lIns="18288" rIns="18288" tIns="18288" bIns="18288" anchor="t">
            <a:spAutoFit/>
          </a:bodyPr>
          <a:lstStyle/>
          <a:p>
            <a:pPr algn="l"/>
            <a:r>
              <a:rPr sz="1500" b="1">
                <a:solidFill>
                  <a:srgbClr val="61D095"/>
                </a:solidFill>
                <a:latin typeface="Aptos"/>
              </a:rPr>
              <a:t>DECIDE</a:t>
            </a:r>
          </a:p>
        </p:txBody>
      </p:sp>
      <p:sp>
        <p:nvSpPr>
          <p:cNvPr id="17" name="TextBox 16"/>
          <p:cNvSpPr txBox="1"/>
          <p:nvPr/>
        </p:nvSpPr>
        <p:spPr>
          <a:xfrm>
            <a:off x="7763256" y="2944368"/>
            <a:ext cx="2651760" cy="1600200"/>
          </a:xfrm>
          <a:prstGeom prst="rect">
            <a:avLst/>
          </a:prstGeom>
          <a:noFill/>
        </p:spPr>
        <p:txBody>
          <a:bodyPr wrap="square" lIns="18288" rIns="18288" tIns="18288" bIns="18288" anchor="t">
            <a:spAutoFit/>
          </a:bodyPr>
          <a:lstStyle/>
          <a:p>
            <a:pPr algn="l"/>
            <a:r>
              <a:rPr sz="1150" b="0">
                <a:solidFill>
                  <a:srgbClr val="AAB8CC"/>
                </a:solidFill>
                <a:latin typeface="Aptos"/>
              </a:rPr>
              <a:t>Independent randomized review
Uncertainty + failure distributions
Choose the next build from results
Production decision</a:t>
            </a:r>
          </a:p>
        </p:txBody>
      </p:sp>
      <p:sp>
        <p:nvSpPr>
          <p:cNvPr id="18" name="TextBox 17"/>
          <p:cNvSpPr txBox="1"/>
          <p:nvPr/>
        </p:nvSpPr>
        <p:spPr>
          <a:xfrm>
            <a:off x="713232" y="5440680"/>
            <a:ext cx="10561320" cy="530352"/>
          </a:xfrm>
          <a:prstGeom prst="rect">
            <a:avLst/>
          </a:prstGeom>
          <a:noFill/>
        </p:spPr>
        <p:txBody>
          <a:bodyPr wrap="square" lIns="18288" rIns="18288" tIns="18288" bIns="18288" anchor="t">
            <a:spAutoFit/>
          </a:bodyPr>
          <a:lstStyle/>
          <a:p>
            <a:pPr algn="ctr"/>
            <a:r>
              <a:rPr sz="1300" b="1">
                <a:solidFill>
                  <a:srgbClr val="F5F7FA"/>
                </a:solidFill>
                <a:latin typeface="Aptos"/>
              </a:rPr>
              <a:t>Fund: compiler/runtime engineering  •  agent-evaluation infrastructure  •  design-partner workload access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APPENDIX: LIVE DEMO</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16</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3000" b="1">
                <a:solidFill>
                  <a:srgbClr val="F5F7FA"/>
                </a:solidFill>
                <a:latin typeface="Aptos"/>
              </a:rPr>
              <a:t>Retained M27 pilot: an operator changes course</a:t>
            </a:r>
          </a:p>
        </p:txBody>
      </p:sp>
      <p:sp>
        <p:nvSpPr>
          <p:cNvPr id="5" name="TextBox 4"/>
          <p:cNvSpPr txBox="1"/>
          <p:nvPr/>
        </p:nvSpPr>
        <p:spPr>
          <a:xfrm>
            <a:off x="585216" y="1399032"/>
            <a:ext cx="10607040" cy="347472"/>
          </a:xfrm>
          <a:prstGeom prst="rect">
            <a:avLst/>
          </a:prstGeom>
          <a:noFill/>
        </p:spPr>
        <p:txBody>
          <a:bodyPr wrap="square" lIns="18288" rIns="18288" tIns="18288" bIns="18288" anchor="t">
            <a:spAutoFit/>
          </a:bodyPr>
          <a:lstStyle/>
          <a:p>
            <a:pPr algn="l"/>
            <a:r>
              <a:rPr sz="1300" b="0">
                <a:solidFill>
                  <a:srgbClr val="AAB8CC"/>
                </a:solidFill>
                <a:latin typeface="Aptos"/>
              </a:rPr>
              <a:t>The seeded bad candidate was supplied; the recorded run demonstrates one repair, not comparative advantage.</a:t>
            </a:r>
          </a:p>
        </p:txBody>
      </p:sp>
      <p:sp>
        <p:nvSpPr>
          <p:cNvPr id="6" name="Rounded Rectangle 5"/>
          <p:cNvSpPr/>
          <p:nvPr/>
        </p:nvSpPr>
        <p:spPr>
          <a:xfrm>
            <a:off x="548640" y="2057400"/>
            <a:ext cx="1600200" cy="1298448"/>
          </a:xfrm>
          <a:prstGeom prst="roundRect">
            <a:avLst>
              <a:gd name="adj" fmla="val 8000"/>
            </a:avLst>
          </a:prstGeom>
          <a:solidFill>
            <a:srgbClr val="111D30"/>
          </a:solidFill>
          <a:ln w="12700">
            <a:solidFill>
              <a:srgbClr val="5E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258568"/>
            <a:ext cx="1371600" cy="246888"/>
          </a:xfrm>
          <a:prstGeom prst="rect">
            <a:avLst/>
          </a:prstGeom>
          <a:noFill/>
        </p:spPr>
        <p:txBody>
          <a:bodyPr wrap="square" lIns="18288" rIns="18288" tIns="18288" bIns="18288" anchor="t">
            <a:spAutoFit/>
          </a:bodyPr>
          <a:lstStyle/>
          <a:p>
            <a:pPr algn="ctr"/>
            <a:r>
              <a:rPr sz="1000" b="1">
                <a:solidFill>
                  <a:srgbClr val="5E8BFF"/>
                </a:solidFill>
                <a:latin typeface="Aptos"/>
              </a:rPr>
              <a:t>INPUT</a:t>
            </a:r>
          </a:p>
        </p:txBody>
      </p:sp>
      <p:sp>
        <p:nvSpPr>
          <p:cNvPr id="8" name="TextBox 7"/>
          <p:cNvSpPr txBox="1"/>
          <p:nvPr/>
        </p:nvSpPr>
        <p:spPr>
          <a:xfrm>
            <a:off x="658368" y="2651760"/>
            <a:ext cx="1371600" cy="420624"/>
          </a:xfrm>
          <a:prstGeom prst="rect">
            <a:avLst/>
          </a:prstGeom>
          <a:noFill/>
        </p:spPr>
        <p:txBody>
          <a:bodyPr wrap="square" lIns="18288" rIns="18288" tIns="18288" bIns="18288" anchor="t">
            <a:spAutoFit/>
          </a:bodyPr>
          <a:lstStyle/>
          <a:p>
            <a:pPr algn="ctr"/>
            <a:r>
              <a:rPr sz="1000" b="0">
                <a:solidFill>
                  <a:srgbClr val="AAB8CC"/>
                </a:solidFill>
                <a:latin typeface="Aptos"/>
              </a:rPr>
              <a:t>seeded centralized
candidate</a:t>
            </a:r>
          </a:p>
        </p:txBody>
      </p:sp>
      <p:cxnSp>
        <p:nvCxnSpPr>
          <p:cNvPr id="9" name="Connector 8"/>
          <p:cNvCxnSpPr/>
          <p:nvPr/>
        </p:nvCxnSpPr>
        <p:spPr>
          <a:xfrm>
            <a:off x="2176272" y="2706624"/>
            <a:ext cx="201168" cy="0"/>
          </a:xfrm>
          <a:prstGeom prst="line">
            <a:avLst/>
          </a:prstGeom>
          <a:ln w="22860">
            <a:solidFill>
              <a:srgbClr val="5E8BFF"/>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441448" y="2057400"/>
            <a:ext cx="1600200" cy="1298448"/>
          </a:xfrm>
          <a:prstGeom prst="roundRect">
            <a:avLst>
              <a:gd name="adj" fmla="val 8000"/>
            </a:avLst>
          </a:prstGeom>
          <a:solidFill>
            <a:srgbClr val="111D30"/>
          </a:solidFill>
          <a:ln w="12700">
            <a:solidFill>
              <a:srgbClr val="F071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51176" y="2258568"/>
            <a:ext cx="1371600" cy="246888"/>
          </a:xfrm>
          <a:prstGeom prst="rect">
            <a:avLst/>
          </a:prstGeom>
          <a:noFill/>
        </p:spPr>
        <p:txBody>
          <a:bodyPr wrap="square" lIns="18288" rIns="18288" tIns="18288" bIns="18288" anchor="t">
            <a:spAutoFit/>
          </a:bodyPr>
          <a:lstStyle/>
          <a:p>
            <a:pPr algn="ctr"/>
            <a:r>
              <a:rPr sz="1000" b="1">
                <a:solidFill>
                  <a:srgbClr val="F07178"/>
                </a:solidFill>
                <a:latin typeface="Aptos"/>
              </a:rPr>
              <a:t>REJECTION</a:t>
            </a:r>
          </a:p>
        </p:txBody>
      </p:sp>
      <p:sp>
        <p:nvSpPr>
          <p:cNvPr id="12" name="TextBox 11"/>
          <p:cNvSpPr txBox="1"/>
          <p:nvPr/>
        </p:nvSpPr>
        <p:spPr>
          <a:xfrm>
            <a:off x="2551176" y="2651760"/>
            <a:ext cx="1371600" cy="420624"/>
          </a:xfrm>
          <a:prstGeom prst="rect">
            <a:avLst/>
          </a:prstGeom>
          <a:noFill/>
        </p:spPr>
        <p:txBody>
          <a:bodyPr wrap="square" lIns="18288" rIns="18288" tIns="18288" bIns="18288" anchor="t">
            <a:spAutoFit/>
          </a:bodyPr>
          <a:lstStyle/>
          <a:p>
            <a:pPr algn="ctr"/>
            <a:r>
              <a:rPr sz="1000" b="0">
                <a:solidFill>
                  <a:srgbClr val="AAB8CC"/>
                </a:solidFill>
                <a:latin typeface="Aptos"/>
              </a:rPr>
              <a:t>6/6 behavior
publication denied</a:t>
            </a:r>
          </a:p>
        </p:txBody>
      </p:sp>
      <p:cxnSp>
        <p:nvCxnSpPr>
          <p:cNvPr id="13" name="Connector 12"/>
          <p:cNvCxnSpPr/>
          <p:nvPr/>
        </p:nvCxnSpPr>
        <p:spPr>
          <a:xfrm>
            <a:off x="4069080" y="2706624"/>
            <a:ext cx="201168" cy="0"/>
          </a:xfrm>
          <a:prstGeom prst="line">
            <a:avLst/>
          </a:prstGeom>
          <a:ln w="22860">
            <a:solidFill>
              <a:srgbClr val="F0717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34256" y="2057400"/>
            <a:ext cx="1600200" cy="1298448"/>
          </a:xfrm>
          <a:prstGeom prst="roundRect">
            <a:avLst>
              <a:gd name="adj" fmla="val 8000"/>
            </a:avLst>
          </a:prstGeom>
          <a:solidFill>
            <a:srgbClr val="111D30"/>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3984" y="2258568"/>
            <a:ext cx="1371600" cy="246888"/>
          </a:xfrm>
          <a:prstGeom prst="rect">
            <a:avLst/>
          </a:prstGeom>
          <a:noFill/>
        </p:spPr>
        <p:txBody>
          <a:bodyPr wrap="square" lIns="18288" rIns="18288" tIns="18288" bIns="18288" anchor="t">
            <a:spAutoFit/>
          </a:bodyPr>
          <a:lstStyle/>
          <a:p>
            <a:pPr algn="ctr"/>
            <a:r>
              <a:rPr sz="1000" b="1">
                <a:solidFill>
                  <a:srgbClr val="4DD9E7"/>
                </a:solidFill>
                <a:latin typeface="Aptos"/>
              </a:rPr>
              <a:t>DRILL-DOWN</a:t>
            </a:r>
          </a:p>
        </p:txBody>
      </p:sp>
      <p:sp>
        <p:nvSpPr>
          <p:cNvPr id="16" name="TextBox 15"/>
          <p:cNvSpPr txBox="1"/>
          <p:nvPr/>
        </p:nvSpPr>
        <p:spPr>
          <a:xfrm>
            <a:off x="4443984" y="2651760"/>
            <a:ext cx="1371600" cy="420624"/>
          </a:xfrm>
          <a:prstGeom prst="rect">
            <a:avLst/>
          </a:prstGeom>
          <a:noFill/>
        </p:spPr>
        <p:txBody>
          <a:bodyPr wrap="square" lIns="18288" rIns="18288" tIns="18288" bIns="18288" anchor="t">
            <a:spAutoFit/>
          </a:bodyPr>
          <a:lstStyle/>
          <a:p>
            <a:pPr algn="ctr"/>
            <a:r>
              <a:rPr sz="1000" b="0">
                <a:solidFill>
                  <a:srgbClr val="AAB8CC"/>
                </a:solidFill>
                <a:latin typeface="Aptos"/>
              </a:rPr>
              <a:t>exact policy
contributors</a:t>
            </a:r>
          </a:p>
        </p:txBody>
      </p:sp>
      <p:cxnSp>
        <p:nvCxnSpPr>
          <p:cNvPr id="17" name="Connector 16"/>
          <p:cNvCxnSpPr/>
          <p:nvPr/>
        </p:nvCxnSpPr>
        <p:spPr>
          <a:xfrm>
            <a:off x="5961888" y="2706624"/>
            <a:ext cx="201168" cy="0"/>
          </a:xfrm>
          <a:prstGeom prst="line">
            <a:avLst/>
          </a:prstGeom>
          <a:ln w="22860">
            <a:solidFill>
              <a:srgbClr val="4DD9E7"/>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27064" y="2057400"/>
            <a:ext cx="1600200" cy="1298448"/>
          </a:xfrm>
          <a:prstGeom prst="roundRect">
            <a:avLst>
              <a:gd name="adj" fmla="val 8000"/>
            </a:avLst>
          </a:prstGeom>
          <a:solidFill>
            <a:srgbClr val="111D30"/>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6792" y="2258568"/>
            <a:ext cx="1371600" cy="246888"/>
          </a:xfrm>
          <a:prstGeom prst="rect">
            <a:avLst/>
          </a:prstGeom>
          <a:noFill/>
        </p:spPr>
        <p:txBody>
          <a:bodyPr wrap="square" lIns="18288" rIns="18288" tIns="18288" bIns="18288" anchor="t">
            <a:spAutoFit/>
          </a:bodyPr>
          <a:lstStyle/>
          <a:p>
            <a:pPr algn="ctr"/>
            <a:r>
              <a:rPr sz="1000" b="1">
                <a:solidFill>
                  <a:srgbClr val="4DD9E7"/>
                </a:solidFill>
                <a:latin typeface="Aptos"/>
              </a:rPr>
              <a:t>REPAIR</a:t>
            </a:r>
          </a:p>
        </p:txBody>
      </p:sp>
      <p:sp>
        <p:nvSpPr>
          <p:cNvPr id="20" name="TextBox 19"/>
          <p:cNvSpPr txBox="1"/>
          <p:nvPr/>
        </p:nvSpPr>
        <p:spPr>
          <a:xfrm>
            <a:off x="6336792" y="2651760"/>
            <a:ext cx="1371600" cy="420624"/>
          </a:xfrm>
          <a:prstGeom prst="rect">
            <a:avLst/>
          </a:prstGeom>
          <a:noFill/>
        </p:spPr>
        <p:txBody>
          <a:bodyPr wrap="square" lIns="18288" rIns="18288" tIns="18288" bIns="18288" anchor="t">
            <a:spAutoFit/>
          </a:bodyPr>
          <a:lstStyle/>
          <a:p>
            <a:pPr algn="ctr"/>
            <a:r>
              <a:rPr sz="1000" b="0">
                <a:solidFill>
                  <a:srgbClr val="AAB8CC"/>
                </a:solidFill>
                <a:latin typeface="Aptos"/>
              </a:rPr>
              <a:t>move authority
to domain</a:t>
            </a:r>
          </a:p>
        </p:txBody>
      </p:sp>
      <p:cxnSp>
        <p:nvCxnSpPr>
          <p:cNvPr id="21" name="Connector 20"/>
          <p:cNvCxnSpPr/>
          <p:nvPr/>
        </p:nvCxnSpPr>
        <p:spPr>
          <a:xfrm>
            <a:off x="7854696" y="2706624"/>
            <a:ext cx="201167" cy="0"/>
          </a:xfrm>
          <a:prstGeom prst="line">
            <a:avLst/>
          </a:prstGeom>
          <a:ln w="22860">
            <a:solidFill>
              <a:srgbClr val="4DD9E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19872" y="2057400"/>
            <a:ext cx="1600200" cy="1298448"/>
          </a:xfrm>
          <a:prstGeom prst="roundRect">
            <a:avLst>
              <a:gd name="adj" fmla="val 8000"/>
            </a:avLst>
          </a:prstGeom>
          <a:solidFill>
            <a:srgbClr val="111D30"/>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2258568"/>
            <a:ext cx="1371600" cy="246888"/>
          </a:xfrm>
          <a:prstGeom prst="rect">
            <a:avLst/>
          </a:prstGeom>
          <a:noFill/>
        </p:spPr>
        <p:txBody>
          <a:bodyPr wrap="square" lIns="18288" rIns="18288" tIns="18288" bIns="18288" anchor="t">
            <a:spAutoFit/>
          </a:bodyPr>
          <a:lstStyle/>
          <a:p>
            <a:pPr algn="ctr"/>
            <a:r>
              <a:rPr sz="1000" b="1">
                <a:solidFill>
                  <a:srgbClr val="61D095"/>
                </a:solidFill>
                <a:latin typeface="Aptos"/>
              </a:rPr>
              <a:t>VALIDATE</a:t>
            </a:r>
          </a:p>
        </p:txBody>
      </p:sp>
      <p:sp>
        <p:nvSpPr>
          <p:cNvPr id="24" name="TextBox 23"/>
          <p:cNvSpPr txBox="1"/>
          <p:nvPr/>
        </p:nvSpPr>
        <p:spPr>
          <a:xfrm>
            <a:off x="8229600" y="2651760"/>
            <a:ext cx="1371600" cy="420624"/>
          </a:xfrm>
          <a:prstGeom prst="rect">
            <a:avLst/>
          </a:prstGeom>
          <a:noFill/>
        </p:spPr>
        <p:txBody>
          <a:bodyPr wrap="square" lIns="18288" rIns="18288" tIns="18288" bIns="18288" anchor="t">
            <a:spAutoFit/>
          </a:bodyPr>
          <a:lstStyle/>
          <a:p>
            <a:pPr algn="ctr"/>
            <a:r>
              <a:rPr sz="1000" b="0">
                <a:solidFill>
                  <a:srgbClr val="AAB8CC"/>
                </a:solidFill>
                <a:latin typeface="Aptos"/>
              </a:rPr>
              <a:t>6/6 behavior
0 findings</a:t>
            </a:r>
          </a:p>
        </p:txBody>
      </p:sp>
      <p:cxnSp>
        <p:nvCxnSpPr>
          <p:cNvPr id="25" name="Connector 24"/>
          <p:cNvCxnSpPr/>
          <p:nvPr/>
        </p:nvCxnSpPr>
        <p:spPr>
          <a:xfrm>
            <a:off x="9747504" y="2706624"/>
            <a:ext cx="201168" cy="0"/>
          </a:xfrm>
          <a:prstGeom prst="line">
            <a:avLst/>
          </a:prstGeom>
          <a:ln w="22860">
            <a:solidFill>
              <a:srgbClr val="61D095"/>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0012680" y="2057400"/>
            <a:ext cx="1600200" cy="1298448"/>
          </a:xfrm>
          <a:prstGeom prst="roundRect">
            <a:avLst>
              <a:gd name="adj" fmla="val 8000"/>
            </a:avLst>
          </a:prstGeom>
          <a:solidFill>
            <a:srgbClr val="111D30"/>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22407" y="2258568"/>
            <a:ext cx="1371600" cy="246888"/>
          </a:xfrm>
          <a:prstGeom prst="rect">
            <a:avLst/>
          </a:prstGeom>
          <a:noFill/>
        </p:spPr>
        <p:txBody>
          <a:bodyPr wrap="square" lIns="18288" rIns="18288" tIns="18288" bIns="18288" anchor="t">
            <a:spAutoFit/>
          </a:bodyPr>
          <a:lstStyle/>
          <a:p>
            <a:pPr algn="ctr"/>
            <a:r>
              <a:rPr sz="1000" b="1">
                <a:solidFill>
                  <a:srgbClr val="61D095"/>
                </a:solidFill>
                <a:latin typeface="Aptos"/>
              </a:rPr>
              <a:t>EVIDENCE</a:t>
            </a:r>
          </a:p>
        </p:txBody>
      </p:sp>
      <p:sp>
        <p:nvSpPr>
          <p:cNvPr id="28" name="TextBox 27"/>
          <p:cNvSpPr txBox="1"/>
          <p:nvPr/>
        </p:nvSpPr>
        <p:spPr>
          <a:xfrm>
            <a:off x="10122407" y="2651760"/>
            <a:ext cx="1371600" cy="420624"/>
          </a:xfrm>
          <a:prstGeom prst="rect">
            <a:avLst/>
          </a:prstGeom>
          <a:noFill/>
        </p:spPr>
        <p:txBody>
          <a:bodyPr wrap="square" lIns="18288" rIns="18288" tIns="18288" bIns="18288" anchor="t">
            <a:spAutoFit/>
          </a:bodyPr>
          <a:lstStyle/>
          <a:p>
            <a:pPr algn="ctr"/>
            <a:r>
              <a:rPr sz="1000" b="0">
                <a:solidFill>
                  <a:srgbClr val="AAB8CC"/>
                </a:solidFill>
                <a:latin typeface="Aptos"/>
              </a:rPr>
              <a:t>publish child
review bundle</a:t>
            </a:r>
          </a:p>
        </p:txBody>
      </p:sp>
      <p:sp>
        <p:nvSpPr>
          <p:cNvPr id="29" name="Rounded Rectangle 28"/>
          <p:cNvSpPr/>
          <p:nvPr/>
        </p:nvSpPr>
        <p:spPr>
          <a:xfrm>
            <a:off x="713232" y="3977639"/>
            <a:ext cx="5230368" cy="1572768"/>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3232" y="3977639"/>
            <a:ext cx="64008" cy="1572768"/>
          </a:xfrm>
          <a:prstGeom prst="rect">
            <a:avLst/>
          </a:prstGeom>
          <a:solidFill>
            <a:srgbClr val="4DD9E7"/>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160520"/>
            <a:ext cx="4882896" cy="310896"/>
          </a:xfrm>
          <a:prstGeom prst="rect">
            <a:avLst/>
          </a:prstGeom>
          <a:noFill/>
        </p:spPr>
        <p:txBody>
          <a:bodyPr wrap="square" lIns="18288" rIns="18288" tIns="18288" bIns="18288" anchor="t">
            <a:spAutoFit/>
          </a:bodyPr>
          <a:lstStyle/>
          <a:p>
            <a:pPr algn="l"/>
            <a:r>
              <a:rPr sz="1600" b="1">
                <a:solidFill>
                  <a:srgbClr val="F5F7FA"/>
                </a:solidFill>
                <a:latin typeface="Aptos"/>
              </a:rPr>
              <a:t>AGENT TELEMETRY</a:t>
            </a:r>
          </a:p>
        </p:txBody>
      </p:sp>
      <p:sp>
        <p:nvSpPr>
          <p:cNvPr id="32" name="TextBox 31"/>
          <p:cNvSpPr txBox="1"/>
          <p:nvPr/>
        </p:nvSpPr>
        <p:spPr>
          <a:xfrm>
            <a:off x="914400" y="4617720"/>
            <a:ext cx="4882896" cy="822960"/>
          </a:xfrm>
          <a:prstGeom prst="rect">
            <a:avLst/>
          </a:prstGeom>
          <a:noFill/>
        </p:spPr>
        <p:txBody>
          <a:bodyPr wrap="square" lIns="18288" rIns="18288" tIns="18288" bIns="18288" anchor="t">
            <a:spAutoFit/>
          </a:bodyPr>
          <a:lstStyle/>
          <a:p>
            <a:pPr algn="l"/>
            <a:r>
              <a:rPr sz="1100" b="0">
                <a:solidFill>
                  <a:srgbClr val="AAB8CC"/>
                </a:solidFill>
                <a:latin typeface="Aptos"/>
              </a:rPr>
              <a:t>• Timer + cumulative model input tokens
• Source reads + semantic queries
• Validation attempts + repair cycles</a:t>
            </a:r>
          </a:p>
        </p:txBody>
      </p:sp>
      <p:sp>
        <p:nvSpPr>
          <p:cNvPr id="33" name="Rounded Rectangle 32"/>
          <p:cNvSpPr/>
          <p:nvPr/>
        </p:nvSpPr>
        <p:spPr>
          <a:xfrm>
            <a:off x="6236208" y="3977639"/>
            <a:ext cx="5230368" cy="1572768"/>
          </a:xfrm>
          <a:prstGeom prst="roundRect">
            <a:avLst>
              <a:gd name="adj" fmla="val 8000"/>
            </a:avLst>
          </a:prstGeom>
          <a:solidFill>
            <a:srgbClr val="111D30"/>
          </a:solidFill>
          <a:ln w="12700">
            <a:solidFill>
              <a:srgbClr val="1726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36208" y="3977639"/>
            <a:ext cx="64008" cy="1572768"/>
          </a:xfrm>
          <a:prstGeom prst="rect">
            <a:avLst/>
          </a:prstGeom>
          <a:solidFill>
            <a:srgbClr val="61D095"/>
          </a:solidFill>
          <a:ln w="12700">
            <a:solidFill>
              <a:srgbClr val="61D0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37376" y="4160520"/>
            <a:ext cx="4882896" cy="310896"/>
          </a:xfrm>
          <a:prstGeom prst="rect">
            <a:avLst/>
          </a:prstGeom>
          <a:noFill/>
        </p:spPr>
        <p:txBody>
          <a:bodyPr wrap="square" lIns="18288" rIns="18288" tIns="18288" bIns="18288" anchor="t">
            <a:spAutoFit/>
          </a:bodyPr>
          <a:lstStyle/>
          <a:p>
            <a:pPr algn="l"/>
            <a:r>
              <a:rPr sz="1600" b="1">
                <a:solidFill>
                  <a:srgbClr val="F5F7FA"/>
                </a:solidFill>
                <a:latin typeface="Aptos"/>
              </a:rPr>
              <a:t>OUTCOME + REVIEW</a:t>
            </a:r>
          </a:p>
        </p:txBody>
      </p:sp>
      <p:sp>
        <p:nvSpPr>
          <p:cNvPr id="36" name="TextBox 35"/>
          <p:cNvSpPr txBox="1"/>
          <p:nvPr/>
        </p:nvSpPr>
        <p:spPr>
          <a:xfrm>
            <a:off x="6437376" y="4617720"/>
            <a:ext cx="4882896" cy="822960"/>
          </a:xfrm>
          <a:prstGeom prst="rect">
            <a:avLst/>
          </a:prstGeom>
          <a:noFill/>
        </p:spPr>
        <p:txBody>
          <a:bodyPr wrap="square" lIns="18288" rIns="18288" tIns="18288" bIns="18288" anchor="t">
            <a:spAutoFit/>
          </a:bodyPr>
          <a:lstStyle/>
          <a:p>
            <a:pPr algn="l"/>
            <a:r>
              <a:rPr sz="1100" b="0">
                <a:solidFill>
                  <a:srgbClr val="AAB8CC"/>
                </a:solidFill>
                <a:latin typeface="Aptos"/>
              </a:rPr>
              <a:t>• Public + hidden regressions
• Final revision + compiler evidence
• Blind reviewer time, questions, defects</a:t>
            </a:r>
          </a:p>
        </p:txBody>
      </p:sp>
      <p:sp>
        <p:nvSpPr>
          <p:cNvPr id="37" name="TextBox 36"/>
          <p:cNvSpPr txBox="1"/>
          <p:nvPr/>
        </p:nvSpPr>
        <p:spPr>
          <a:xfrm>
            <a:off x="731520" y="5788152"/>
            <a:ext cx="10515600" cy="292608"/>
          </a:xfrm>
          <a:prstGeom prst="rect">
            <a:avLst/>
          </a:prstGeom>
          <a:noFill/>
        </p:spPr>
        <p:txBody>
          <a:bodyPr wrap="square" lIns="18288" rIns="18288" tIns="18288" bIns="18288" anchor="t">
            <a:spAutoFit/>
          </a:bodyPr>
          <a:lstStyle/>
          <a:p>
            <a:pPr algn="ctr"/>
            <a:r>
              <a:rPr sz="1100" b="1">
                <a:solidFill>
                  <a:srgbClr val="F5B942"/>
                </a:solidFill>
                <a:latin typeface="Aptos"/>
              </a:rPr>
              <a:t>Do not compare a strong AIL workflow with a deliberately crippled baseline.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9111F"/>
        </a:solidFill>
        <a:effectLst/>
      </p:bgPr>
    </p:bg>
    <p:spTree>
      <p:nvGrpSpPr>
        <p:cNvPr id="1" name=""/>
        <p:cNvGrpSpPr/>
        <p:nvPr/>
      </p:nvGrpSpPr>
      <p:grpSpPr/>
      <p:sp>
        <p:nvSpPr>
          <p:cNvPr id="2" name="TextBox 1"/>
          <p:cNvSpPr txBox="1"/>
          <p:nvPr/>
        </p:nvSpPr>
        <p:spPr>
          <a:xfrm>
            <a:off x="502920" y="228600"/>
            <a:ext cx="2377440" cy="228600"/>
          </a:xfrm>
          <a:prstGeom prst="rect">
            <a:avLst/>
          </a:prstGeom>
          <a:noFill/>
        </p:spPr>
        <p:txBody>
          <a:bodyPr wrap="square" lIns="18288" rIns="18288" tIns="18288" bIns="18288" anchor="t">
            <a:spAutoFit/>
          </a:bodyPr>
          <a:lstStyle/>
          <a:p>
            <a:pPr algn="l"/>
            <a:r>
              <a:rPr sz="900" b="1">
                <a:solidFill>
                  <a:srgbClr val="AAB8CC"/>
                </a:solidFill>
                <a:latin typeface="Aptos"/>
              </a:rPr>
              <a:t>AIL  /  APPENDIX: MEASUREMENT</a:t>
            </a:r>
          </a:p>
        </p:txBody>
      </p:sp>
      <p:sp>
        <p:nvSpPr>
          <p:cNvPr id="3" name="TextBox 2"/>
          <p:cNvSpPr txBox="1"/>
          <p:nvPr/>
        </p:nvSpPr>
        <p:spPr>
          <a:xfrm>
            <a:off x="11201400" y="6473952"/>
            <a:ext cx="457200" cy="182880"/>
          </a:xfrm>
          <a:prstGeom prst="rect">
            <a:avLst/>
          </a:prstGeom>
          <a:noFill/>
        </p:spPr>
        <p:txBody>
          <a:bodyPr wrap="square" lIns="18288" rIns="18288" tIns="18288" bIns="18288" anchor="t">
            <a:spAutoFit/>
          </a:bodyPr>
          <a:lstStyle/>
          <a:p>
            <a:pPr algn="r"/>
            <a:r>
              <a:rPr sz="900" b="0">
                <a:solidFill>
                  <a:srgbClr val="AAB8CC"/>
                </a:solidFill>
                <a:latin typeface="Aptos"/>
              </a:rPr>
              <a:t>17</a:t>
            </a:r>
          </a:p>
        </p:txBody>
      </p:sp>
      <p:sp>
        <p:nvSpPr>
          <p:cNvPr id="4" name="TextBox 3"/>
          <p:cNvSpPr txBox="1"/>
          <p:nvPr/>
        </p:nvSpPr>
        <p:spPr>
          <a:xfrm>
            <a:off x="566928" y="566928"/>
            <a:ext cx="10972800" cy="804672"/>
          </a:xfrm>
          <a:prstGeom prst="rect">
            <a:avLst/>
          </a:prstGeom>
          <a:noFill/>
        </p:spPr>
        <p:txBody>
          <a:bodyPr wrap="square" lIns="18288" rIns="18288" tIns="18288" bIns="18288" anchor="t">
            <a:spAutoFit/>
          </a:bodyPr>
          <a:lstStyle/>
          <a:p>
            <a:pPr algn="l"/>
            <a:r>
              <a:rPr sz="2700" b="1">
                <a:solidFill>
                  <a:srgbClr val="F5F7FA"/>
                </a:solidFill>
                <a:latin typeface="Aptos"/>
              </a:rPr>
              <a:t>Baseline vs AIL: one task contract, two strong toolchains</a:t>
            </a:r>
          </a:p>
        </p:txBody>
      </p:sp>
      <p:sp>
        <p:nvSpPr>
          <p:cNvPr id="5" name="TextBox 4"/>
          <p:cNvSpPr txBox="1"/>
          <p:nvPr/>
        </p:nvSpPr>
        <p:spPr>
          <a:xfrm>
            <a:off x="585216" y="1399032"/>
            <a:ext cx="10607040" cy="347472"/>
          </a:xfrm>
          <a:prstGeom prst="rect">
            <a:avLst/>
          </a:prstGeom>
          <a:noFill/>
        </p:spPr>
        <p:txBody>
          <a:bodyPr wrap="square" lIns="18288" rIns="18288" tIns="18288" bIns="18288" anchor="t">
            <a:spAutoFit/>
          </a:bodyPr>
          <a:lstStyle/>
          <a:p>
            <a:pPr algn="l"/>
            <a:r>
              <a:rPr sz="1300" b="0">
                <a:solidFill>
                  <a:srgbClr val="AAB8CC"/>
                </a:solidFill>
                <a:latin typeface="Aptos"/>
              </a:rPr>
              <a:t>Completion and terminal failures are primary; successful-run efficiency is conditional.</a:t>
            </a:r>
          </a:p>
        </p:txBody>
      </p:sp>
      <p:sp>
        <p:nvSpPr>
          <p:cNvPr id="6" name="Rounded Rectangle 5"/>
          <p:cNvSpPr/>
          <p:nvPr/>
        </p:nvSpPr>
        <p:spPr>
          <a:xfrm>
            <a:off x="640080" y="1783080"/>
            <a:ext cx="5230368" cy="1417320"/>
          </a:xfrm>
          <a:prstGeom prst="roundRect">
            <a:avLst>
              <a:gd name="adj" fmla="val 8000"/>
            </a:avLst>
          </a:prstGeom>
          <a:solidFill>
            <a:srgbClr val="111D30"/>
          </a:solidFill>
          <a:ln w="12700">
            <a:solidFill>
              <a:srgbClr val="5E8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2039112"/>
            <a:ext cx="4754880" cy="274320"/>
          </a:xfrm>
          <a:prstGeom prst="rect">
            <a:avLst/>
          </a:prstGeom>
          <a:noFill/>
        </p:spPr>
        <p:txBody>
          <a:bodyPr wrap="square" lIns="18288" rIns="18288" tIns="18288" bIns="18288" anchor="t">
            <a:spAutoFit/>
          </a:bodyPr>
          <a:lstStyle/>
          <a:p>
            <a:pPr algn="l"/>
            <a:r>
              <a:rPr sz="1300" b="1">
                <a:solidFill>
                  <a:srgbClr val="5E8BFF"/>
                </a:solidFill>
                <a:latin typeface="Aptos"/>
              </a:rPr>
              <a:t>MAINSTREAM BASELINE</a:t>
            </a:r>
          </a:p>
        </p:txBody>
      </p:sp>
      <p:sp>
        <p:nvSpPr>
          <p:cNvPr id="8" name="TextBox 7"/>
          <p:cNvSpPr txBox="1"/>
          <p:nvPr/>
        </p:nvSpPr>
        <p:spPr>
          <a:xfrm>
            <a:off x="877824" y="2487168"/>
            <a:ext cx="4754880" cy="411480"/>
          </a:xfrm>
          <a:prstGeom prst="rect">
            <a:avLst/>
          </a:prstGeom>
          <a:noFill/>
        </p:spPr>
        <p:txBody>
          <a:bodyPr wrap="square" lIns="18288" rIns="18288" tIns="18288" bIns="18288" anchor="t">
            <a:spAutoFit/>
          </a:bodyPr>
          <a:lstStyle/>
          <a:p>
            <a:pPr algn="l"/>
            <a:r>
              <a:rPr sz="1100" b="0">
                <a:solidFill>
                  <a:srgbClr val="AAB8CC"/>
                </a:solidFill>
                <a:latin typeface="Aptos"/>
              </a:rPr>
              <a:t>Rust / Go / Python / TypeScript
compiler + LSP + search + formatter + tests</a:t>
            </a:r>
          </a:p>
        </p:txBody>
      </p:sp>
      <p:sp>
        <p:nvSpPr>
          <p:cNvPr id="9" name="Rounded Rectangle 8"/>
          <p:cNvSpPr/>
          <p:nvPr/>
        </p:nvSpPr>
        <p:spPr>
          <a:xfrm>
            <a:off x="6281928" y="1783080"/>
            <a:ext cx="5230368" cy="1417320"/>
          </a:xfrm>
          <a:prstGeom prst="roundRect">
            <a:avLst>
              <a:gd name="adj" fmla="val 8000"/>
            </a:avLst>
          </a:prstGeom>
          <a:solidFill>
            <a:srgbClr val="111D30"/>
          </a:solidFill>
          <a:ln w="12700">
            <a:solidFill>
              <a:srgbClr val="4DD9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2039112"/>
            <a:ext cx="4754880" cy="274320"/>
          </a:xfrm>
          <a:prstGeom prst="rect">
            <a:avLst/>
          </a:prstGeom>
          <a:noFill/>
        </p:spPr>
        <p:txBody>
          <a:bodyPr wrap="square" lIns="18288" rIns="18288" tIns="18288" bIns="18288" anchor="t">
            <a:spAutoFit/>
          </a:bodyPr>
          <a:lstStyle/>
          <a:p>
            <a:pPr algn="l"/>
            <a:r>
              <a:rPr sz="1300" b="1">
                <a:solidFill>
                  <a:srgbClr val="4DD9E7"/>
                </a:solidFill>
                <a:latin typeface="Aptos"/>
              </a:rPr>
              <a:t>AIL TREATMENT</a:t>
            </a:r>
          </a:p>
        </p:txBody>
      </p:sp>
      <p:sp>
        <p:nvSpPr>
          <p:cNvPr id="11" name="TextBox 10"/>
          <p:cNvSpPr txBox="1"/>
          <p:nvPr/>
        </p:nvSpPr>
        <p:spPr>
          <a:xfrm>
            <a:off x="6519672" y="2487168"/>
            <a:ext cx="4754880" cy="411480"/>
          </a:xfrm>
          <a:prstGeom prst="rect">
            <a:avLst/>
          </a:prstGeom>
          <a:noFill/>
        </p:spPr>
        <p:txBody>
          <a:bodyPr wrap="square" lIns="18288" rIns="18288" tIns="18288" bIns="18288" anchor="t">
            <a:spAutoFit/>
          </a:bodyPr>
          <a:lstStyle/>
          <a:p>
            <a:pPr algn="l"/>
            <a:r>
              <a:rPr sz="1100" b="0">
                <a:solidFill>
                  <a:srgbClr val="AAB8CC"/>
                </a:solidFill>
                <a:latin typeface="Aptos"/>
              </a:rPr>
              <a:t>same model + agent policy
AIL compiler semantic queries + validated operations</a:t>
            </a:r>
          </a:p>
        </p:txBody>
      </p:sp>
      <p:cxnSp>
        <p:nvCxnSpPr>
          <p:cNvPr id="12" name="Connector 11"/>
          <p:cNvCxnSpPr/>
          <p:nvPr/>
        </p:nvCxnSpPr>
        <p:spPr>
          <a:xfrm>
            <a:off x="6071616" y="1810512"/>
            <a:ext cx="0" cy="3968496"/>
          </a:xfrm>
          <a:prstGeom prst="line">
            <a:avLst/>
          </a:prstGeom>
          <a:ln w="25400">
            <a:solidFill>
              <a:srgbClr val="17263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41248" y="3511296"/>
            <a:ext cx="1234440" cy="256032"/>
          </a:xfrm>
          <a:prstGeom prst="rect">
            <a:avLst/>
          </a:prstGeom>
          <a:noFill/>
        </p:spPr>
        <p:txBody>
          <a:bodyPr wrap="square" lIns="18288" rIns="18288" tIns="18288" bIns="18288" anchor="t">
            <a:spAutoFit/>
          </a:bodyPr>
          <a:lstStyle/>
          <a:p>
            <a:pPr algn="l"/>
            <a:r>
              <a:rPr sz="1000" b="1">
                <a:solidFill>
                  <a:srgbClr val="4DD9E7"/>
                </a:solidFill>
                <a:latin typeface="Aptos"/>
              </a:rPr>
              <a:t>WORK</a:t>
            </a:r>
          </a:p>
        </p:txBody>
      </p:sp>
      <p:sp>
        <p:nvSpPr>
          <p:cNvPr id="14" name="TextBox 13"/>
          <p:cNvSpPr txBox="1"/>
          <p:nvPr/>
        </p:nvSpPr>
        <p:spPr>
          <a:xfrm>
            <a:off x="2057400" y="3511296"/>
            <a:ext cx="8961120" cy="256032"/>
          </a:xfrm>
          <a:prstGeom prst="rect">
            <a:avLst/>
          </a:prstGeom>
          <a:noFill/>
        </p:spPr>
        <p:txBody>
          <a:bodyPr wrap="square" lIns="18288" rIns="18288" tIns="18288" bIns="18288" anchor="t">
            <a:spAutoFit/>
          </a:bodyPr>
          <a:lstStyle/>
          <a:p>
            <a:pPr algn="l"/>
            <a:r>
              <a:rPr sz="1050" b="0">
                <a:solidFill>
                  <a:srgbClr val="F5F7FA"/>
                </a:solidFill>
                <a:latin typeface="Aptos"/>
              </a:rPr>
              <a:t>elapsed agent time • tool calls • source reads</a:t>
            </a:r>
          </a:p>
        </p:txBody>
      </p:sp>
      <p:sp>
        <p:nvSpPr>
          <p:cNvPr id="15" name="TextBox 14"/>
          <p:cNvSpPr txBox="1"/>
          <p:nvPr/>
        </p:nvSpPr>
        <p:spPr>
          <a:xfrm>
            <a:off x="841248" y="3986783"/>
            <a:ext cx="1234440" cy="256032"/>
          </a:xfrm>
          <a:prstGeom prst="rect">
            <a:avLst/>
          </a:prstGeom>
          <a:noFill/>
        </p:spPr>
        <p:txBody>
          <a:bodyPr wrap="square" lIns="18288" rIns="18288" tIns="18288" bIns="18288" anchor="t">
            <a:spAutoFit/>
          </a:bodyPr>
          <a:lstStyle/>
          <a:p>
            <a:pPr algn="l"/>
            <a:r>
              <a:rPr sz="1000" b="1">
                <a:solidFill>
                  <a:srgbClr val="4DD9E7"/>
                </a:solidFill>
                <a:latin typeface="Aptos"/>
              </a:rPr>
              <a:t>TOKENS</a:t>
            </a:r>
          </a:p>
        </p:txBody>
      </p:sp>
      <p:sp>
        <p:nvSpPr>
          <p:cNvPr id="16" name="TextBox 15"/>
          <p:cNvSpPr txBox="1"/>
          <p:nvPr/>
        </p:nvSpPr>
        <p:spPr>
          <a:xfrm>
            <a:off x="2057400" y="3986783"/>
            <a:ext cx="8961120" cy="256032"/>
          </a:xfrm>
          <a:prstGeom prst="rect">
            <a:avLst/>
          </a:prstGeom>
          <a:noFill/>
        </p:spPr>
        <p:txBody>
          <a:bodyPr wrap="square" lIns="18288" rIns="18288" tIns="18288" bIns="18288" anchor="t">
            <a:spAutoFit/>
          </a:bodyPr>
          <a:lstStyle/>
          <a:p>
            <a:pPr algn="l"/>
            <a:r>
              <a:rPr sz="1050" b="0">
                <a:solidFill>
                  <a:srgbClr val="F5F7FA"/>
                </a:solidFill>
                <a:latin typeface="Aptos"/>
              </a:rPr>
              <a:t>provider-counted input by category • repeated context</a:t>
            </a:r>
          </a:p>
        </p:txBody>
      </p:sp>
      <p:sp>
        <p:nvSpPr>
          <p:cNvPr id="17" name="TextBox 16"/>
          <p:cNvSpPr txBox="1"/>
          <p:nvPr/>
        </p:nvSpPr>
        <p:spPr>
          <a:xfrm>
            <a:off x="841248" y="4462272"/>
            <a:ext cx="1234440" cy="256032"/>
          </a:xfrm>
          <a:prstGeom prst="rect">
            <a:avLst/>
          </a:prstGeom>
          <a:noFill/>
        </p:spPr>
        <p:txBody>
          <a:bodyPr wrap="square" lIns="18288" rIns="18288" tIns="18288" bIns="18288" anchor="t">
            <a:spAutoFit/>
          </a:bodyPr>
          <a:lstStyle/>
          <a:p>
            <a:pPr algn="l"/>
            <a:r>
              <a:rPr sz="1000" b="1">
                <a:solidFill>
                  <a:srgbClr val="4DD9E7"/>
                </a:solidFill>
                <a:latin typeface="Aptos"/>
              </a:rPr>
              <a:t>REPAIR</a:t>
            </a:r>
          </a:p>
        </p:txBody>
      </p:sp>
      <p:sp>
        <p:nvSpPr>
          <p:cNvPr id="18" name="TextBox 17"/>
          <p:cNvSpPr txBox="1"/>
          <p:nvPr/>
        </p:nvSpPr>
        <p:spPr>
          <a:xfrm>
            <a:off x="2057400" y="4462272"/>
            <a:ext cx="8961120" cy="256032"/>
          </a:xfrm>
          <a:prstGeom prst="rect">
            <a:avLst/>
          </a:prstGeom>
          <a:noFill/>
        </p:spPr>
        <p:txBody>
          <a:bodyPr wrap="square" lIns="18288" rIns="18288" tIns="18288" bIns="18288" anchor="t">
            <a:spAutoFit/>
          </a:bodyPr>
          <a:lstStyle/>
          <a:p>
            <a:pPr algn="l"/>
            <a:r>
              <a:rPr sz="1050" b="0">
                <a:solidFill>
                  <a:srgbClr val="F5F7FA"/>
                </a:solidFill>
                <a:latin typeface="Aptos"/>
              </a:rPr>
              <a:t>validation attempts • repair cycles • terminal failures</a:t>
            </a:r>
          </a:p>
        </p:txBody>
      </p:sp>
      <p:sp>
        <p:nvSpPr>
          <p:cNvPr id="19" name="TextBox 18"/>
          <p:cNvSpPr txBox="1"/>
          <p:nvPr/>
        </p:nvSpPr>
        <p:spPr>
          <a:xfrm>
            <a:off x="841248" y="4937760"/>
            <a:ext cx="1234440" cy="256032"/>
          </a:xfrm>
          <a:prstGeom prst="rect">
            <a:avLst/>
          </a:prstGeom>
          <a:noFill/>
        </p:spPr>
        <p:txBody>
          <a:bodyPr wrap="square" lIns="18288" rIns="18288" tIns="18288" bIns="18288" anchor="t">
            <a:spAutoFit/>
          </a:bodyPr>
          <a:lstStyle/>
          <a:p>
            <a:pPr algn="l"/>
            <a:r>
              <a:rPr sz="1000" b="1">
                <a:solidFill>
                  <a:srgbClr val="4DD9E7"/>
                </a:solidFill>
                <a:latin typeface="Aptos"/>
              </a:rPr>
              <a:t>QUALITY</a:t>
            </a:r>
          </a:p>
        </p:txBody>
      </p:sp>
      <p:sp>
        <p:nvSpPr>
          <p:cNvPr id="20" name="TextBox 19"/>
          <p:cNvSpPr txBox="1"/>
          <p:nvPr/>
        </p:nvSpPr>
        <p:spPr>
          <a:xfrm>
            <a:off x="2057400" y="4937760"/>
            <a:ext cx="8961120" cy="256032"/>
          </a:xfrm>
          <a:prstGeom prst="rect">
            <a:avLst/>
          </a:prstGeom>
          <a:noFill/>
        </p:spPr>
        <p:txBody>
          <a:bodyPr wrap="square" lIns="18288" rIns="18288" tIns="18288" bIns="18288" anchor="t">
            <a:spAutoFit/>
          </a:bodyPr>
          <a:lstStyle/>
          <a:p>
            <a:pPr algn="l"/>
            <a:r>
              <a:rPr sz="1050" b="0">
                <a:solidFill>
                  <a:srgbClr val="F5F7FA"/>
                </a:solidFill>
                <a:latin typeface="Aptos"/>
              </a:rPr>
              <a:t>public/private checks • seeded misses • new authority</a:t>
            </a:r>
          </a:p>
        </p:txBody>
      </p:sp>
      <p:sp>
        <p:nvSpPr>
          <p:cNvPr id="21" name="TextBox 20"/>
          <p:cNvSpPr txBox="1"/>
          <p:nvPr/>
        </p:nvSpPr>
        <p:spPr>
          <a:xfrm>
            <a:off x="841248" y="5413248"/>
            <a:ext cx="1234440" cy="256032"/>
          </a:xfrm>
          <a:prstGeom prst="rect">
            <a:avLst/>
          </a:prstGeom>
          <a:noFill/>
        </p:spPr>
        <p:txBody>
          <a:bodyPr wrap="square" lIns="18288" rIns="18288" tIns="18288" bIns="18288" anchor="t">
            <a:spAutoFit/>
          </a:bodyPr>
          <a:lstStyle/>
          <a:p>
            <a:pPr algn="l"/>
            <a:r>
              <a:rPr sz="1000" b="1">
                <a:solidFill>
                  <a:srgbClr val="4DD9E7"/>
                </a:solidFill>
                <a:latin typeface="Aptos"/>
              </a:rPr>
              <a:t>REVIEW</a:t>
            </a:r>
          </a:p>
        </p:txBody>
      </p:sp>
      <p:sp>
        <p:nvSpPr>
          <p:cNvPr id="22" name="TextBox 21"/>
          <p:cNvSpPr txBox="1"/>
          <p:nvPr/>
        </p:nvSpPr>
        <p:spPr>
          <a:xfrm>
            <a:off x="2057400" y="5413248"/>
            <a:ext cx="8961120" cy="256032"/>
          </a:xfrm>
          <a:prstGeom prst="rect">
            <a:avLst/>
          </a:prstGeom>
          <a:noFill/>
        </p:spPr>
        <p:txBody>
          <a:bodyPr wrap="square" lIns="18288" rIns="18288" tIns="18288" bIns="18288" anchor="t">
            <a:spAutoFit/>
          </a:bodyPr>
          <a:lstStyle/>
          <a:p>
            <a:pPr algn="l"/>
            <a:r>
              <a:rPr sz="1050" b="0">
                <a:solidFill>
                  <a:srgbClr val="F5F7FA"/>
                </a:solidFill>
                <a:latin typeface="Aptos"/>
              </a:rPr>
              <a:t>independent reviewer time • questions • defects • confidence</a:t>
            </a:r>
          </a:p>
        </p:txBody>
      </p:sp>
      <p:sp>
        <p:nvSpPr>
          <p:cNvPr id="23" name="TextBox 22"/>
          <p:cNvSpPr txBox="1"/>
          <p:nvPr/>
        </p:nvSpPr>
        <p:spPr>
          <a:xfrm>
            <a:off x="694944" y="5961888"/>
            <a:ext cx="10698480" cy="256032"/>
          </a:xfrm>
          <a:prstGeom prst="rect">
            <a:avLst/>
          </a:prstGeom>
          <a:noFill/>
        </p:spPr>
        <p:txBody>
          <a:bodyPr wrap="square" lIns="18288" rIns="18288" tIns="18288" bIns="18288" anchor="t">
            <a:spAutoFit/>
          </a:bodyPr>
          <a:lstStyle/>
          <a:p>
            <a:pPr algn="ctr"/>
            <a:r>
              <a:rPr sz="1050" b="1">
                <a:solidFill>
                  <a:srgbClr val="F5B942"/>
                </a:solidFill>
                <a:latin typeface="Aptos"/>
              </a:rPr>
              <a:t>Fixed max attempts • pre-registered summaries + uncertainty • targets locked before AIL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AIL — A programming language for software built by agents</dc:title>
  <dc:subject>Investor presentation and current engineering status</dc:subject>
  <dc:creator>AIL</dc:creator>
  <cp:keywords>AIL, agents, compiler, investor, programming language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